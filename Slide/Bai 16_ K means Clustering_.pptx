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934868-3A23-4227-97B5-AEA94376B2C7}">
  <a:tblStyle styleId="{CE934868-3A23-4227-97B5-AEA94376B2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f0854743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9f0854743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90" name="Google Shape;90;g9f0854743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76fb5afeb_0_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76fb5afeb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776fb5afeb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f0854743d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9f0854743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105" name="Google Shape;105;g9f0854743d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f0854743d_0_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9f0854743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114" name="Google Shape;114;g9f0854743d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f0854743d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9f0854743d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124" name="Google Shape;124;g9f0854743d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bd79bbe7e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bd79bbe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9bd79bbe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e60f2c406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e60f2c40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22e60f2c40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e60f2c406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e60f2c40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22e60f2c40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2e60f2c406_0_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2e60f2c40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2e60f2c40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e60f2c406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e60f2c40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2e60f2c40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275e29047a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275e29047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275e29047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493776" y="1239123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15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6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196" y="2185416"/>
            <a:ext cx="3375279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057650" y="2185416"/>
            <a:ext cx="3374136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25196" y="2185416"/>
            <a:ext cx="385419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25197" y="2593340"/>
            <a:ext cx="3855386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29150" y="2185416"/>
            <a:ext cx="3854196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29150" y="2590800"/>
            <a:ext cx="385419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>
            <p:ph idx="2" type="pic"/>
          </p:nvPr>
        </p:nvSpPr>
        <p:spPr>
          <a:xfrm>
            <a:off x="3823924" y="927100"/>
            <a:ext cx="5320076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/>
          <p:nvPr>
            <p:ph idx="2" type="pic"/>
          </p:nvPr>
        </p:nvSpPr>
        <p:spPr>
          <a:xfrm>
            <a:off x="3835974" y="934720"/>
            <a:ext cx="5308027" cy="306467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/>
          <p:nvPr>
            <p:ph idx="3" type="pic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8"/>
          <p:cNvSpPr/>
          <p:nvPr>
            <p:ph idx="4" type="pic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0" y="927100"/>
            <a:ext cx="9144000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chart"/>
          </p:nvPr>
        </p:nvSpPr>
        <p:spPr>
          <a:xfrm>
            <a:off x="3871451" y="1976285"/>
            <a:ext cx="4743864" cy="39673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196" y="2185417"/>
            <a:ext cx="78867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94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414" cy="5958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9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tech.nitoyon.com/ja/blog/2013/11/07/k-means/" TargetMode="External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510473" y="1804112"/>
            <a:ext cx="5620003" cy="20204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TRÍ TUỆ NHÂN TẠO</a:t>
            </a:r>
            <a:endParaRPr/>
          </a:p>
        </p:txBody>
      </p:sp>
      <p:sp>
        <p:nvSpPr>
          <p:cNvPr id="71" name="Google Shape;71;p12"/>
          <p:cNvSpPr txBox="1"/>
          <p:nvPr/>
        </p:nvSpPr>
        <p:spPr>
          <a:xfrm>
            <a:off x="1309143" y="4828745"/>
            <a:ext cx="4944078" cy="61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437871" y="4735071"/>
            <a:ext cx="797773" cy="79777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TRÍ TUỆ NHÂN TẠO</a:t>
            </a:r>
            <a:endParaRPr/>
          </a:p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4025" y="3745975"/>
            <a:ext cx="40587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K Means Clustering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25196" y="1499616"/>
            <a:ext cx="52136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Giới thiệu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K Means</a:t>
            </a:r>
            <a:r>
              <a:rPr lang="en-US" sz="2400"/>
              <a:t> Clustering 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Demo</a:t>
            </a:r>
            <a:endParaRPr sz="2400"/>
          </a:p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425202" y="1001025"/>
            <a:ext cx="8019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701025" y="2185425"/>
            <a:ext cx="73341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941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Học có giám sát</a:t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Học không giám sát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Giảm chiều dữ liệu 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Phân cụm dữ liệu: K means clustering</a:t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Ý tưởng của phân cụm dữ liệu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Nhóm các dữ liệu tương tự vào các cụm khác nhau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Xem mức độ tương tự dữ liệu là khoảng cách giữa chúng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013" y="2245950"/>
            <a:ext cx="7129877" cy="410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25202" y="1001025"/>
            <a:ext cx="8019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701025" y="2185425"/>
            <a:ext cx="61878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941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Bài toán:</a:t>
            </a:r>
            <a:endParaRPr/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Dữ liệu:  </a:t>
            </a:r>
            <a:endParaRPr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Nhiệm vụ:</a:t>
            </a:r>
            <a:endParaRPr/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Phân tập dữ liệu ra k cụm, với </a:t>
            </a:r>
            <a:endParaRPr/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1&quot;,&quot;font&quot;:{&quot;size&quot;:18.000000482706174,&quot;family&quot;:&quot;Arial&quot;,&quot;color&quot;:&quot;#666666&quot;},&quot;type&quot;:&quot;$&quot;,&quot;code&quot;:&quot;$X\\in\\,R^{n\\times d\\,}$&quot;,&quot;ts&quot;:1603939998324,&quot;cs&quot;:&quot;zav+WbghsPhDrB5DtjtPmg==&quot;,&quot;size&quot;:{&quot;width&quot;:134.00005634938637,&quot;height&quot;:26.000010933463027}}"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200" y="3221825"/>
            <a:ext cx="1701801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font&quot;:{&quot;color&quot;:&quot;#666666&quot;,&quot;family&quot;:&quot;Arial&quot;,&quot;size&quot;:18.000000482706202},&quot;code&quot;:&quot;$k\\leqslant n$&quot;,&quot;id&quot;:&quot;2&quot;,&quot;ts&quot;:1603940152043,&quot;cs&quot;:&quot;NWFKBsYGwR/xvPU2bDRagQ==&quot;,&quot;size&quot;:{&quot;width&quot;:72.00003027728224,&quot;height&quot;:24.000010092427413}}"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325" y="5138175"/>
            <a:ext cx="9144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25202" y="1001025"/>
            <a:ext cx="8019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 means clustering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01025" y="2185425"/>
            <a:ext cx="61878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941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Khởi tạo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t/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Nhóm dữ liệu </a:t>
            </a:r>
            <a:endParaRPr/>
          </a:p>
          <a:p>
            <a:pPr indent="-365760" lvl="1" marL="9144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Dữ liệu đưa vào cụm 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○"/>
            </a:pPr>
            <a:r>
              <a:t/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Kết thúc nếu không thay đổi</a:t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Cập nhật tâm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 </a:t>
            </a:r>
            <a:endParaRPr/>
          </a:p>
          <a:p>
            <a:pPr indent="-3657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</a:pPr>
            <a:r>
              <a:rPr lang="en-US"/>
              <a:t>Chuyển sang nhóm dữ liệu</a:t>
            </a:r>
            <a:endParaRPr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$&quot;,&quot;id&quot;:&quot;1&quot;,&quot;code&quot;:&quot;$C^{\\left(0\\right)}=\\,\\left\\{m_{1}^{\\left(0\\right)},m_{2}^{\\left(0\\right)},...,m_{k}^{\\left(0\\right)}\\right\\}$&quot;,&quot;font&quot;:{&quot;size&quot;:13,&quot;color&quot;:&quot;#000000&quot;,&quot;family&quot;:&quot;Times New Roman&quot;},&quot;ts&quot;:1603935774834,&quot;cs&quot;:&quot;zG7HWOFlsDDaSMx0gDnOOQ==&quot;,&quot;size&quot;:{&quot;width&quot;:230,&quot;height&quot;:32}}"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600" y="2777774"/>
            <a:ext cx="2279900" cy="31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&quot;,&quot;code&quot;:&quot;$S_{i}^{\\left(t\\right)}=\\,\\left\\{x_{p}:\\,\\left|\\right|x_{p}-m_{i}^{\\left(t\\right)}\\left|\\right|^{2}&lt;\\left|\\right|x_{p}-m_{j}^{\\left(t\\right)}\\left|\\right|^{2},\\forall j:1\\leq j\\leqslant k\\right\\}$&quot;,&quot;type&quot;:&quot;$&quot;,&quot;font&quot;:{&quot;size&quot;:13,&quot;family&quot;:&quot;Times New Roman&quot;,&quot;color&quot;:&quot;#000000&quot;},&quot;ts&quot;:1603936379715,&quot;cs&quot;:&quot;SnHAme5uWZ+mN3mEs9iTAg==&quot;,&quot;size&quot;:{&quot;width&quot;:450,&quot;height&quot;:32}}"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138" y="4213075"/>
            <a:ext cx="4295775" cy="37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&quot;,&quot;code&quot;:&quot;$m_{i}^{\\left(t\\right)}=\\,\\frac{1}{\\left|S_{i}^{\\left(t\\right)}\\right|}\\sum_{x_{j}\\in S_{i}^{\\left(t\\right)}}^{}x_{j}$&quot;,&quot;font&quot;:{&quot;color&quot;:&quot;#000000&quot;,&quot;size&quot;:13,&quot;family&quot;:&quot;Times New Roman&quot;},&quot;type&quot;:&quot;$&quot;,&quot;ts&quot;:1603936754261,&quot;cs&quot;:&quot;jvFXGCxZuwKWt7+cLQCGpg==&quot;,&quot;size&quot;:{&quot;width&quot;:177,&quot;height&quot;:36}}"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5150" y="5458800"/>
            <a:ext cx="1685925" cy="4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25202" y="1001025"/>
            <a:ext cx="8019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 means clustering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01025" y="2185425"/>
            <a:ext cx="7569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941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60"/>
              <a:buChar char="●"/>
            </a:pPr>
            <a:r>
              <a:rPr lang="en-US"/>
              <a:t>Minh hoạ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http://tech.nitoyon.com/ja/blog/2013/11/07/k-means/</a:t>
            </a:r>
            <a:endParaRPr/>
          </a:p>
          <a:p>
            <a:pPr indent="-3594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50" y="2851250"/>
            <a:ext cx="7234952" cy="38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1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k_rand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25" y="2243025"/>
            <a:ext cx="7821876" cy="44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1 (</a:t>
            </a:r>
            <a:r>
              <a:rPr lang="en-US"/>
              <a:t>t.)</a:t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k_rand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25" y="2243025"/>
            <a:ext cx="7975427" cy="44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1(</a:t>
            </a:r>
            <a:r>
              <a:rPr lang="en-US"/>
              <a:t>t.)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k_rand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700" y="2243025"/>
            <a:ext cx="7668326" cy="446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2</a:t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k_rand</a:t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00" y="2285675"/>
            <a:ext cx="6960374" cy="446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2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k_rand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50" y="2268600"/>
            <a:ext cx="7561426" cy="44625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4"/>
          <p:cNvGraphicFramePr/>
          <p:nvPr/>
        </p:nvGraphicFramePr>
        <p:xfrm>
          <a:off x="6350500" y="35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{CE934868-3A23-4227-97B5-AEA94376B2C7}</a:tableStyleId>
              </a:tblPr>
              <a:tblGrid>
                <a:gridCol w="1303650"/>
              </a:tblGrid>
              <a:tr h="304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/>
        </p:nvSpPr>
        <p:spPr>
          <a:xfrm>
            <a:off x="7432350" y="3571175"/>
            <a:ext cx="17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3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425202" y="2185425"/>
            <a:ext cx="79797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Lựa chọn K thế nào cho phù hợp với thuật toán phân cụm ?</a:t>
            </a:r>
            <a:endParaRPr b="1"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K là tham số thú vị cần thử nhiều lần !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Phương pháp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L -tính tổng bình phương khoảng cách đến với mỗi tâm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L lớn nhất khi K = 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675" y="4518000"/>
            <a:ext cx="3298200" cy="19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352" y="4518000"/>
            <a:ext cx="3159349" cy="188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