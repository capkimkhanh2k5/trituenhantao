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Newsreader"/>
      <p:regular r:id="rId29"/>
      <p:bold r:id="rId30"/>
      <p:italic r:id="rId31"/>
      <p:boldItalic r:id="rId32"/>
    </p:embeddedFont>
    <p:embeddedFont>
      <p:font typeface="DM Sans Light"/>
      <p:regular r:id="rId33"/>
      <p:bold r:id="rId34"/>
      <p:italic r:id="rId35"/>
      <p:boldItalic r:id="rId36"/>
    </p:embeddedFont>
    <p:embeddedFont>
      <p:font typeface="DM Sans SemiBold"/>
      <p:regular r:id="rId37"/>
      <p:bold r:id="rId38"/>
      <p:italic r:id="rId39"/>
      <p:boldItalic r:id="rId40"/>
    </p:embeddedFont>
    <p:embeddedFont>
      <p:font typeface="DM Sans"/>
      <p:regular r:id="rId41"/>
      <p:bold r:id="rId42"/>
      <p:italic r:id="rId43"/>
      <p:boldItalic r:id="rId44"/>
    </p:embeddedFont>
    <p:embeddedFont>
      <p:font typeface="Newsreader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SemiBold-boldItalic.fntdata"/><Relationship Id="rId42" Type="http://schemas.openxmlformats.org/officeDocument/2006/relationships/font" Target="fonts/DMSans-bold.fntdata"/><Relationship Id="rId41" Type="http://schemas.openxmlformats.org/officeDocument/2006/relationships/font" Target="fonts/DMSans-regular.fntdata"/><Relationship Id="rId44" Type="http://schemas.openxmlformats.org/officeDocument/2006/relationships/font" Target="fonts/DMSans-boldItalic.fntdata"/><Relationship Id="rId43" Type="http://schemas.openxmlformats.org/officeDocument/2006/relationships/font" Target="fonts/DMSans-italic.fntdata"/><Relationship Id="rId46" Type="http://schemas.openxmlformats.org/officeDocument/2006/relationships/font" Target="fonts/NewsreaderSemiBold-bold.fntdata"/><Relationship Id="rId45" Type="http://schemas.openxmlformats.org/officeDocument/2006/relationships/font" Target="fonts/Newsread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ewsreaderSemiBold-boldItalic.fntdata"/><Relationship Id="rId47" Type="http://schemas.openxmlformats.org/officeDocument/2006/relationships/font" Target="fonts/Newsreader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ewsreader-italic.fntdata"/><Relationship Id="rId30" Type="http://schemas.openxmlformats.org/officeDocument/2006/relationships/font" Target="fonts/Newsreader-bold.fntdata"/><Relationship Id="rId33" Type="http://schemas.openxmlformats.org/officeDocument/2006/relationships/font" Target="fonts/DMSansLight-regular.fntdata"/><Relationship Id="rId32" Type="http://schemas.openxmlformats.org/officeDocument/2006/relationships/font" Target="fonts/Newsreader-boldItalic.fntdata"/><Relationship Id="rId35" Type="http://schemas.openxmlformats.org/officeDocument/2006/relationships/font" Target="fonts/DMSansLight-italic.fntdata"/><Relationship Id="rId34" Type="http://schemas.openxmlformats.org/officeDocument/2006/relationships/font" Target="fonts/DMSansLight-bold.fntdata"/><Relationship Id="rId37" Type="http://schemas.openxmlformats.org/officeDocument/2006/relationships/font" Target="fonts/DMSansSemiBold-regular.fntdata"/><Relationship Id="rId36" Type="http://schemas.openxmlformats.org/officeDocument/2006/relationships/font" Target="fonts/DMSansLight-boldItalic.fntdata"/><Relationship Id="rId39" Type="http://schemas.openxmlformats.org/officeDocument/2006/relationships/font" Target="fonts/DMSansSemiBold-italic.fntdata"/><Relationship Id="rId38" Type="http://schemas.openxmlformats.org/officeDocument/2006/relationships/font" Target="fonts/DMSansSemi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font" Target="fonts/Newsreade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7614e5b8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7614e5b8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7614e5b85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7614e5b85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7614e5b85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7614e5b85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7614e5b85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7614e5b85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7614e5b85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7614e5b85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7614e5b85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7614e5b85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7614e5b859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7614e5b85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761e93ee2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761e93ee2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761e93ee2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761e93ee2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761e93ee2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761e93ee2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7614e5b85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7614e5b85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761e93ee2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761e93ee2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761e93ee2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761e93ee2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761e93ee2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761e93ee2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761e93ee2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761e93ee2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761e93ee2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761e93ee2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761e93ee2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761e93ee2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761e93ee2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761e93ee2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761e93ee2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761e93ee2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7614e5b859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7614e5b859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761e93ee2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761e93ee2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61e93ee21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761e93ee2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7614e5b859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7614e5b859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hyperlink" Target="https://courses.cs.duke.edu/spring15/compsci270/hw1/search.zip"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5"/>
          <p:cNvSpPr txBox="1"/>
          <p:nvPr>
            <p:ph type="title"/>
          </p:nvPr>
        </p:nvSpPr>
        <p:spPr>
          <a:xfrm>
            <a:off x="361975" y="1454800"/>
            <a:ext cx="3860100" cy="164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600"/>
              <a:t>Search in Pacman</a:t>
            </a:r>
            <a:endParaRPr sz="4600"/>
          </a:p>
        </p:txBody>
      </p:sp>
      <p:sp>
        <p:nvSpPr>
          <p:cNvPr id="469" name="Google Shape;469;p55"/>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Trường Đại học Bách Khoa - Đại học Đà Nẵng</a:t>
            </a:r>
            <a:endParaRPr sz="1200"/>
          </a:p>
          <a:p>
            <a:pPr indent="0" lvl="0" marL="0" rtl="0" algn="ctr">
              <a:spcBef>
                <a:spcPts val="0"/>
              </a:spcBef>
              <a:spcAft>
                <a:spcPts val="0"/>
              </a:spcAft>
              <a:buNone/>
            </a:pPr>
            <a:r>
              <a:rPr lang="en" sz="1200"/>
              <a:t>Khoa Công nghệ Thông tin</a:t>
            </a:r>
            <a:endParaRPr sz="1200"/>
          </a:p>
        </p:txBody>
      </p:sp>
      <p:sp>
        <p:nvSpPr>
          <p:cNvPr id="470" name="Google Shape;470;p55"/>
          <p:cNvSpPr txBox="1"/>
          <p:nvPr>
            <p:ph idx="3" type="body"/>
          </p:nvPr>
        </p:nvSpPr>
        <p:spPr>
          <a:xfrm>
            <a:off x="677400" y="3243897"/>
            <a:ext cx="3492600" cy="132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Môn học: Trí tuệ nhân tạo</a:t>
            </a:r>
            <a:endParaRPr sz="1800"/>
          </a:p>
        </p:txBody>
      </p:sp>
      <p:pic>
        <p:nvPicPr>
          <p:cNvPr id="471" name="Google Shape;471;p55"/>
          <p:cNvPicPr preferRelativeResize="0"/>
          <p:nvPr/>
        </p:nvPicPr>
        <p:blipFill>
          <a:blip r:embed="rId3">
            <a:alphaModFix/>
          </a:blip>
          <a:stretch>
            <a:fillRect/>
          </a:stretch>
        </p:blipFill>
        <p:spPr>
          <a:xfrm>
            <a:off x="4267895" y="-300"/>
            <a:ext cx="487610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6"/>
          <p:cNvSpPr/>
          <p:nvPr/>
        </p:nvSpPr>
        <p:spPr>
          <a:xfrm>
            <a:off x="50"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77" name="Google Shape;477;p56"/>
          <p:cNvSpPr/>
          <p:nvPr/>
        </p:nvSpPr>
        <p:spPr>
          <a:xfrm>
            <a:off x="3048087"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78" name="Google Shape;478;p56"/>
          <p:cNvSpPr/>
          <p:nvPr/>
        </p:nvSpPr>
        <p:spPr>
          <a:xfrm>
            <a:off x="6096124"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79" name="Google Shape;479;p56"/>
          <p:cNvSpPr/>
          <p:nvPr/>
        </p:nvSpPr>
        <p:spPr>
          <a:xfrm>
            <a:off x="50"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80" name="Google Shape;480;p56"/>
          <p:cNvSpPr/>
          <p:nvPr/>
        </p:nvSpPr>
        <p:spPr>
          <a:xfrm>
            <a:off x="3048087"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81" name="Google Shape;481;p56"/>
          <p:cNvSpPr/>
          <p:nvPr/>
        </p:nvSpPr>
        <p:spPr>
          <a:xfrm>
            <a:off x="6096124"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482" name="Google Shape;482;p5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Giới thiệu bài </a:t>
            </a:r>
            <a:r>
              <a:rPr lang="en"/>
              <a:t>toán</a:t>
            </a:r>
            <a:endParaRPr/>
          </a:p>
        </p:txBody>
      </p:sp>
      <p:sp>
        <p:nvSpPr>
          <p:cNvPr id="483" name="Google Shape;483;p5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a:t>
            </a:r>
            <a:endParaRPr/>
          </a:p>
        </p:txBody>
      </p:sp>
      <p:sp>
        <p:nvSpPr>
          <p:cNvPr id="484" name="Google Shape;484;p5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5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486" name="Google Shape;486;p56"/>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Nội dung </a:t>
            </a:r>
            <a:endParaRPr i="1"/>
          </a:p>
        </p:txBody>
      </p:sp>
      <p:sp>
        <p:nvSpPr>
          <p:cNvPr id="487" name="Google Shape;487;p5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Thuật toán tìm kiếm cơ bản: DFS và BFS</a:t>
            </a:r>
            <a:endParaRPr/>
          </a:p>
          <a:p>
            <a:pPr indent="0" lvl="0" marL="0" rtl="0" algn="l">
              <a:spcBef>
                <a:spcPts val="0"/>
              </a:spcBef>
              <a:spcAft>
                <a:spcPts val="0"/>
              </a:spcAft>
              <a:buNone/>
            </a:pPr>
            <a:r>
              <a:t/>
            </a:r>
            <a:endParaRPr/>
          </a:p>
        </p:txBody>
      </p:sp>
      <p:sp>
        <p:nvSpPr>
          <p:cNvPr id="488" name="Google Shape;488;p5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a:t>
            </a:r>
            <a:endParaRPr/>
          </a:p>
        </p:txBody>
      </p:sp>
      <p:sp>
        <p:nvSpPr>
          <p:cNvPr id="489" name="Google Shape;489;p5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Tìm kiếm theo chi phí đồng nhất: UCS</a:t>
            </a:r>
            <a:endParaRPr/>
          </a:p>
          <a:p>
            <a:pPr indent="0" lvl="0" marL="0" rtl="0" algn="l">
              <a:spcBef>
                <a:spcPts val="0"/>
              </a:spcBef>
              <a:spcAft>
                <a:spcPts val="0"/>
              </a:spcAft>
              <a:buNone/>
            </a:pPr>
            <a:r>
              <a:t/>
            </a:r>
            <a:endParaRPr/>
          </a:p>
        </p:txBody>
      </p:sp>
      <p:sp>
        <p:nvSpPr>
          <p:cNvPr id="490" name="Google Shape;490;p5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3</a:t>
            </a:r>
            <a:endParaRPr/>
          </a:p>
        </p:txBody>
      </p:sp>
      <p:sp>
        <p:nvSpPr>
          <p:cNvPr id="491" name="Google Shape;491;p5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search</a:t>
            </a:r>
            <a:endParaRPr/>
          </a:p>
          <a:p>
            <a:pPr indent="0" lvl="0" marL="0" rtl="0" algn="l">
              <a:spcBef>
                <a:spcPts val="0"/>
              </a:spcBef>
              <a:spcAft>
                <a:spcPts val="0"/>
              </a:spcAft>
              <a:buNone/>
            </a:pPr>
            <a:r>
              <a:t/>
            </a:r>
            <a:endParaRPr/>
          </a:p>
        </p:txBody>
      </p:sp>
      <p:sp>
        <p:nvSpPr>
          <p:cNvPr id="492" name="Google Shape;492;p5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a:t>
            </a:r>
            <a:endParaRPr/>
          </a:p>
        </p:txBody>
      </p:sp>
      <p:sp>
        <p:nvSpPr>
          <p:cNvPr id="493" name="Google Shape;493;p5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Bài toán 4 góc và thiết kế Heuristic</a:t>
            </a:r>
            <a:endParaRPr/>
          </a:p>
          <a:p>
            <a:pPr indent="0" lvl="0" marL="0" rtl="0" algn="l">
              <a:spcBef>
                <a:spcPts val="0"/>
              </a:spcBef>
              <a:spcAft>
                <a:spcPts val="0"/>
              </a:spcAft>
              <a:buNone/>
            </a:pPr>
            <a:r>
              <a:t/>
            </a:r>
            <a:endParaRPr/>
          </a:p>
        </p:txBody>
      </p:sp>
      <p:sp>
        <p:nvSpPr>
          <p:cNvPr id="494" name="Google Shape;494;p5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5</a:t>
            </a:r>
            <a:endParaRPr/>
          </a:p>
        </p:txBody>
      </p:sp>
      <p:sp>
        <p:nvSpPr>
          <p:cNvPr id="495" name="Google Shape;495;p5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Các bài tập lý thuyết và nâng cao</a:t>
            </a:r>
            <a:endParaRPr/>
          </a:p>
          <a:p>
            <a:pPr indent="0" lvl="0" marL="0" rtl="0" algn="l">
              <a:spcBef>
                <a:spcPts val="0"/>
              </a:spcBef>
              <a:spcAft>
                <a:spcPts val="0"/>
              </a:spcAft>
              <a:buNone/>
            </a:pPr>
            <a:r>
              <a:t/>
            </a:r>
            <a:endParaRPr/>
          </a:p>
        </p:txBody>
      </p:sp>
      <p:sp>
        <p:nvSpPr>
          <p:cNvPr id="496" name="Google Shape;496;p5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7"/>
          <p:cNvSpPr txBox="1"/>
          <p:nvPr>
            <p:ph type="title"/>
          </p:nvPr>
        </p:nvSpPr>
        <p:spPr>
          <a:xfrm>
            <a:off x="4975925" y="217713"/>
            <a:ext cx="3783600" cy="5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Giới thiệu bài toán</a:t>
            </a:r>
            <a:endParaRPr/>
          </a:p>
        </p:txBody>
      </p:sp>
      <p:sp>
        <p:nvSpPr>
          <p:cNvPr id="502" name="Google Shape;502;p5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3" name="Google Shape;503;p57"/>
          <p:cNvSpPr txBox="1"/>
          <p:nvPr>
            <p:ph idx="3" type="body"/>
          </p:nvPr>
        </p:nvSpPr>
        <p:spPr>
          <a:xfrm>
            <a:off x="4975925" y="989091"/>
            <a:ext cx="3783600" cy="12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Bài toán lập trình nhân vật Pacman để tìm đ</a:t>
            </a:r>
            <a:r>
              <a:rPr lang="en" sz="1300"/>
              <a:t>ường đi </a:t>
            </a:r>
            <a:r>
              <a:rPr lang="en" sz="1300"/>
              <a:t>trong mê cu</a:t>
            </a:r>
            <a:r>
              <a:rPr lang="en" sz="1300"/>
              <a:t>ng với 2 nhiệm vụ cụ thể</a:t>
            </a:r>
            <a:r>
              <a:rPr lang="en" sz="1300"/>
              <a:t>:</a:t>
            </a:r>
            <a:r>
              <a:rPr lang="en"/>
              <a:t> </a:t>
            </a:r>
            <a:endParaRPr/>
          </a:p>
          <a:p>
            <a:pPr indent="-311150" lvl="0" marL="457200" rtl="0" algn="l">
              <a:spcBef>
                <a:spcPts val="0"/>
              </a:spcBef>
              <a:spcAft>
                <a:spcPts val="0"/>
              </a:spcAft>
              <a:buSzPts val="1300"/>
              <a:buChar char="●"/>
            </a:pPr>
            <a:r>
              <a:rPr lang="en" sz="1300"/>
              <a:t>Đến một vị trí chỉ định</a:t>
            </a:r>
            <a:endParaRPr sz="1300"/>
          </a:p>
          <a:p>
            <a:pPr indent="-311150" lvl="0" marL="457200" rtl="0" algn="l">
              <a:spcBef>
                <a:spcPts val="0"/>
              </a:spcBef>
              <a:spcAft>
                <a:spcPts val="0"/>
              </a:spcAft>
              <a:buSzPts val="1300"/>
              <a:buChar char="●"/>
            </a:pPr>
            <a:r>
              <a:rPr lang="en" sz="1300"/>
              <a:t>Thu thập thức ăn một cách hiệu quả nhất</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b="1" lang="en" sz="1300"/>
              <a:t>Mục tiêu</a:t>
            </a:r>
            <a:r>
              <a:rPr lang="en" sz="1300"/>
              <a:t>: Xây dựng một thuật toán tìm kiếm tổng quát và áp dụng vào các tình huống cho nhân vật Pacman.</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Mã nguồn gồm nhiều tệp Python</a:t>
            </a:r>
            <a:endParaRPr sz="1300"/>
          </a:p>
          <a:p>
            <a:pPr indent="-311150" lvl="0" marL="457200" rtl="0" algn="l">
              <a:spcBef>
                <a:spcPts val="0"/>
              </a:spcBef>
              <a:spcAft>
                <a:spcPts val="0"/>
              </a:spcAft>
              <a:buSzPts val="1300"/>
              <a:buChar char="●"/>
            </a:pPr>
            <a:r>
              <a:rPr lang="en" sz="1300"/>
              <a:t>Một số tệp cần đọc/ hiểu để hoàn thành bài tập</a:t>
            </a:r>
            <a:endParaRPr sz="1300"/>
          </a:p>
          <a:p>
            <a:pPr indent="-311150" lvl="0" marL="457200" rtl="0" algn="l">
              <a:spcBef>
                <a:spcPts val="0"/>
              </a:spcBef>
              <a:spcAft>
                <a:spcPts val="0"/>
              </a:spcAft>
              <a:buSzPts val="1300"/>
              <a:buChar char="●"/>
            </a:pPr>
            <a:r>
              <a:rPr lang="en" sz="1300"/>
              <a:t>Một số tệp có thể bỏ qua</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lang="en" sz="1300"/>
              <a:t>Tất cả mã nguồn và tài liệu đi kèm được cung cấp trong tệp này </a:t>
            </a:r>
            <a:r>
              <a:rPr lang="en" sz="1000" u="sng">
                <a:solidFill>
                  <a:srgbClr val="333333"/>
                </a:solidFill>
                <a:latin typeface="Verdana"/>
                <a:ea typeface="Verdana"/>
                <a:cs typeface="Verdana"/>
                <a:sym typeface="Verdana"/>
                <a:hlinkClick r:id="rId3">
                  <a:extLst>
                    <a:ext uri="{A12FA001-AC4F-418D-AE19-62706E023703}">
                      <ahyp:hlinkClr val="tx"/>
                    </a:ext>
                  </a:extLst>
                </a:hlinkClick>
              </a:rPr>
              <a:t>zip archive</a:t>
            </a:r>
            <a:r>
              <a:rPr lang="en" sz="1000">
                <a:solidFill>
                  <a:srgbClr val="333333"/>
                </a:solidFill>
                <a:latin typeface="Verdana"/>
                <a:ea typeface="Verdana"/>
                <a:cs typeface="Verdana"/>
                <a:sym typeface="Verdana"/>
              </a:rPr>
              <a:t>.</a:t>
            </a:r>
            <a:endParaRPr sz="1000">
              <a:solidFill>
                <a:srgbClr val="333333"/>
              </a:solidFill>
              <a:latin typeface="Verdana"/>
              <a:ea typeface="Verdana"/>
              <a:cs typeface="Verdana"/>
              <a:sym typeface="Verdana"/>
            </a:endParaRPr>
          </a:p>
          <a:p>
            <a:pPr indent="0" lvl="0" marL="0" rtl="0" algn="l">
              <a:spcBef>
                <a:spcPts val="0"/>
              </a:spcBef>
              <a:spcAft>
                <a:spcPts val="0"/>
              </a:spcAft>
              <a:buNone/>
            </a:pPr>
            <a:r>
              <a:t/>
            </a:r>
            <a:endParaRPr sz="1000">
              <a:solidFill>
                <a:srgbClr val="333333"/>
              </a:solidFill>
              <a:latin typeface="Verdana"/>
              <a:ea typeface="Verdana"/>
              <a:cs typeface="Verdana"/>
              <a:sym typeface="Verdana"/>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sp>
        <p:nvSpPr>
          <p:cNvPr id="504" name="Google Shape;504;p57"/>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pic>
        <p:nvPicPr>
          <p:cNvPr id="505" name="Google Shape;505;p57"/>
          <p:cNvPicPr preferRelativeResize="0"/>
          <p:nvPr/>
        </p:nvPicPr>
        <p:blipFill>
          <a:blip r:embed="rId4">
            <a:alphaModFix/>
          </a:blip>
          <a:stretch>
            <a:fillRect/>
          </a:stretch>
        </p:blipFill>
        <p:spPr>
          <a:xfrm>
            <a:off x="361975" y="989100"/>
            <a:ext cx="3783600" cy="37622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8"/>
          <p:cNvSpPr txBox="1"/>
          <p:nvPr>
            <p:ph type="title"/>
          </p:nvPr>
        </p:nvSpPr>
        <p:spPr>
          <a:xfrm>
            <a:off x="384900" y="636250"/>
            <a:ext cx="5356800" cy="1354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t>Các tệp cần chỉnh sửa</a:t>
            </a:r>
            <a:endParaRPr b="1" sz="15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search.py</a:t>
            </a:r>
            <a:r>
              <a:rPr lang="en" sz="1300"/>
              <a:t>:  File cài đặt </a:t>
            </a:r>
            <a:r>
              <a:rPr b="1" lang="en" sz="1300"/>
              <a:t>tất cả thuật toán tìm kiếm.</a:t>
            </a:r>
            <a:endParaRPr b="1"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searchAgents.py</a:t>
            </a:r>
            <a:r>
              <a:rPr lang="en" sz="1300"/>
              <a:t>:  Nơi cài đặt </a:t>
            </a:r>
            <a:r>
              <a:rPr b="1" lang="en" sz="1300"/>
              <a:t>tất cả tác nhân dựa trên tìm kiếm</a:t>
            </a:r>
            <a:r>
              <a:rPr lang="en" sz="1300"/>
              <a:t>.</a:t>
            </a:r>
            <a:endParaRPr sz="1300"/>
          </a:p>
          <a:p>
            <a:pPr indent="0" lvl="0" marL="45720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b="1" lang="en" sz="1500"/>
              <a:t>Các  tệp nên tham khảo</a:t>
            </a:r>
            <a:endParaRPr b="1" sz="15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pacman.py</a:t>
            </a:r>
            <a:r>
              <a:rPr lang="en" sz="1300"/>
              <a:t> :  Tệp chính để chạy game Pacman. Chứa mô tả Pacman GameState được sử dụng trong bài.</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game.py</a:t>
            </a:r>
            <a:r>
              <a:rPr lang="en" sz="1300"/>
              <a:t>:  Chứa logic hoạt động của thế giới Pacman, định nghĩa các lớp hỗ trợ như </a:t>
            </a:r>
            <a:r>
              <a:rPr lang="en" sz="1300"/>
              <a:t>Agent State</a:t>
            </a:r>
            <a:r>
              <a:rPr lang="en" sz="1300"/>
              <a:t>, Agent, Direction, Grid.</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util.</a:t>
            </a:r>
            <a:r>
              <a:rPr lang="en" sz="1300">
                <a:latin typeface="Courier New"/>
                <a:ea typeface="Courier New"/>
                <a:cs typeface="Courier New"/>
                <a:sym typeface="Courier New"/>
              </a:rPr>
              <a:t>py</a:t>
            </a:r>
            <a:r>
              <a:rPr lang="en" sz="1300"/>
              <a:t> :  Chứa các cấu trúc dữ liệu hỗ trợ cho việc cài đặt thuật toán tìm kiếm.</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b="1" lang="en" sz="1500"/>
              <a:t>Các tệp hỗ trợ có thể bỏ qua</a:t>
            </a:r>
            <a:endParaRPr b="1" sz="15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graphicsDisplay.py, graphicsUtils.py: </a:t>
            </a:r>
            <a:r>
              <a:rPr lang="en" sz="1300"/>
              <a:t>Xử lý đồ họa cho Pacman.</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textDisplay.py: </a:t>
            </a:r>
            <a:r>
              <a:rPr lang="en" sz="1300"/>
              <a:t>Hiển thị ASCII cho Pacman.</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ghostAgents.py: </a:t>
            </a:r>
            <a:r>
              <a:rPr lang="en" sz="1300"/>
              <a:t>Điều khiển tác nhân ma.</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keyboardAgents.py: </a:t>
            </a:r>
            <a:r>
              <a:rPr lang="en" sz="1300"/>
              <a:t>Giao diện điều khiển Pacman bằng bàn phím.</a:t>
            </a:r>
            <a:endParaRPr sz="1300"/>
          </a:p>
          <a:p>
            <a:pPr indent="-311150" lvl="0" marL="457200" rtl="0" algn="l">
              <a:lnSpc>
                <a:spcPct val="100000"/>
              </a:lnSpc>
              <a:spcBef>
                <a:spcPts val="0"/>
              </a:spcBef>
              <a:spcAft>
                <a:spcPts val="0"/>
              </a:spcAft>
              <a:buSzPts val="1300"/>
              <a:buChar char="●"/>
            </a:pPr>
            <a:r>
              <a:rPr lang="en" sz="1300">
                <a:latin typeface="Courier New"/>
                <a:ea typeface="Courier New"/>
                <a:cs typeface="Courier New"/>
                <a:sym typeface="Courier New"/>
              </a:rPr>
              <a:t>layout.py: </a:t>
            </a:r>
            <a:r>
              <a:rPr lang="en" sz="1300"/>
              <a:t>Đọc và lưu trữ thông tin layout mê cung.</a:t>
            </a:r>
            <a:endParaRPr sz="1300"/>
          </a:p>
        </p:txBody>
      </p:sp>
      <p:sp>
        <p:nvSpPr>
          <p:cNvPr id="511" name="Google Shape;511;p5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5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pic>
        <p:nvPicPr>
          <p:cNvPr id="513" name="Google Shape;513;p58"/>
          <p:cNvPicPr preferRelativeResize="0"/>
          <p:nvPr/>
        </p:nvPicPr>
        <p:blipFill>
          <a:blip r:embed="rId3">
            <a:alphaModFix/>
          </a:blip>
          <a:stretch>
            <a:fillRect/>
          </a:stretch>
        </p:blipFill>
        <p:spPr>
          <a:xfrm>
            <a:off x="6320175" y="1381800"/>
            <a:ext cx="2823825" cy="3761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9" name="Google Shape;519;p5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457200" lvl="0" marL="0" rtl="0" algn="l">
              <a:spcBef>
                <a:spcPts val="0"/>
              </a:spcBef>
              <a:spcAft>
                <a:spcPts val="0"/>
              </a:spcAft>
              <a:buNone/>
            </a:pPr>
            <a:r>
              <a:rPr lang="en"/>
              <a:t>Khoa Công nghệ Thông tin </a:t>
            </a:r>
            <a:endParaRPr/>
          </a:p>
        </p:txBody>
      </p:sp>
      <p:sp>
        <p:nvSpPr>
          <p:cNvPr id="520" name="Google Shape;520;p59"/>
          <p:cNvSpPr txBox="1"/>
          <p:nvPr>
            <p:ph idx="3" type="subTitle"/>
          </p:nvPr>
        </p:nvSpPr>
        <p:spPr>
          <a:xfrm>
            <a:off x="1825650" y="588338"/>
            <a:ext cx="5398800" cy="4002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sz="2600">
                <a:latin typeface="Newsreader"/>
                <a:ea typeface="Newsreader"/>
                <a:cs typeface="Newsreader"/>
                <a:sym typeface="Newsreader"/>
              </a:rPr>
              <a:t>Chạy thử Pacman</a:t>
            </a:r>
            <a:endParaRPr b="1" sz="2600">
              <a:latin typeface="Newsreader"/>
              <a:ea typeface="Newsreader"/>
              <a:cs typeface="Newsreader"/>
              <a:sym typeface="Newsreader"/>
            </a:endParaRPr>
          </a:p>
        </p:txBody>
      </p:sp>
      <p:sp>
        <p:nvSpPr>
          <p:cNvPr id="521" name="Google Shape;521;p59"/>
          <p:cNvSpPr txBox="1"/>
          <p:nvPr>
            <p:ph type="title"/>
          </p:nvPr>
        </p:nvSpPr>
        <p:spPr>
          <a:xfrm>
            <a:off x="719450" y="988550"/>
            <a:ext cx="7705200" cy="4002000"/>
          </a:xfrm>
          <a:prstGeom prst="rect">
            <a:avLst/>
          </a:prstGeom>
        </p:spPr>
        <p:txBody>
          <a:bodyPr anchorCtr="0" anchor="t" bIns="0" lIns="0" spcFirstLastPara="1" rIns="0" wrap="square" tIns="0">
            <a:spAutoFit/>
          </a:bodyPr>
          <a:lstStyle/>
          <a:p>
            <a:pPr indent="-311150" lvl="0" marL="457200" rtl="0" algn="just">
              <a:lnSpc>
                <a:spcPct val="100000"/>
              </a:lnSpc>
              <a:spcBef>
                <a:spcPts val="0"/>
              </a:spcBef>
              <a:spcAft>
                <a:spcPts val="0"/>
              </a:spcAft>
              <a:buSzPts val="1300"/>
              <a:buChar char="●"/>
            </a:pPr>
            <a:r>
              <a:rPr lang="en" sz="1300"/>
              <a:t>Tải file search.zip -&gt; giải nén -&gt; vào thư mục </a:t>
            </a:r>
            <a:r>
              <a:rPr b="1" lang="en" sz="1300"/>
              <a:t>search</a:t>
            </a:r>
            <a:endParaRPr b="1" sz="1300"/>
          </a:p>
          <a:p>
            <a:pPr indent="0" lvl="0" marL="457200" rtl="0" algn="just">
              <a:lnSpc>
                <a:spcPct val="100000"/>
              </a:lnSpc>
              <a:spcBef>
                <a:spcPts val="0"/>
              </a:spcBef>
              <a:spcAft>
                <a:spcPts val="0"/>
              </a:spcAft>
              <a:buNone/>
            </a:pPr>
            <a:r>
              <a:t/>
            </a:r>
            <a:endParaRPr b="1" sz="1300"/>
          </a:p>
          <a:p>
            <a:pPr indent="-311150" lvl="0" marL="457200" rtl="0" algn="just">
              <a:lnSpc>
                <a:spcPct val="100000"/>
              </a:lnSpc>
              <a:spcBef>
                <a:spcPts val="0"/>
              </a:spcBef>
              <a:spcAft>
                <a:spcPts val="0"/>
              </a:spcAft>
              <a:buSzPts val="1300"/>
              <a:buChar char="●"/>
            </a:pPr>
            <a:r>
              <a:rPr lang="en" sz="1300"/>
              <a:t>Chạy game với câu lệnh:   </a:t>
            </a:r>
            <a:r>
              <a:rPr b="1" i="1" lang="en" sz="1300"/>
              <a:t>python pacman.py</a:t>
            </a:r>
            <a:endParaRPr b="1" i="1" sz="1300"/>
          </a:p>
          <a:p>
            <a:pPr indent="0" lvl="0" marL="457200" rtl="0" algn="just">
              <a:lnSpc>
                <a:spcPct val="100000"/>
              </a:lnSpc>
              <a:spcBef>
                <a:spcPts val="0"/>
              </a:spcBef>
              <a:spcAft>
                <a:spcPts val="0"/>
              </a:spcAft>
              <a:buNone/>
            </a:pPr>
            <a:r>
              <a:t/>
            </a:r>
            <a:endParaRPr b="1" i="1" sz="1300"/>
          </a:p>
          <a:p>
            <a:pPr indent="-311150" lvl="0" marL="457200" rtl="0" algn="just">
              <a:lnSpc>
                <a:spcPct val="100000"/>
              </a:lnSpc>
              <a:spcBef>
                <a:spcPts val="0"/>
              </a:spcBef>
              <a:spcAft>
                <a:spcPts val="0"/>
              </a:spcAft>
              <a:buSzPts val="1300"/>
              <a:buChar char="●"/>
            </a:pPr>
            <a:r>
              <a:rPr lang="en" sz="1300"/>
              <a:t>Trong file </a:t>
            </a:r>
            <a:r>
              <a:rPr lang="en" sz="1300">
                <a:latin typeface="Courier New"/>
                <a:ea typeface="Courier New"/>
                <a:cs typeface="Courier New"/>
                <a:sym typeface="Courier New"/>
              </a:rPr>
              <a:t>searchAgent.py</a:t>
            </a:r>
            <a:r>
              <a:rPr lang="en" sz="1300"/>
              <a:t>, Agent đơn giản nhất được gọi là </a:t>
            </a:r>
            <a:r>
              <a:rPr b="1" lang="en" sz="1300"/>
              <a:t>GoWestAgent </a:t>
            </a:r>
            <a:r>
              <a:rPr lang="en" sz="1300"/>
              <a:t>bởi vì Agent này luôn đi về hướng Tâ</a:t>
            </a:r>
            <a:r>
              <a:rPr lang="en" sz="1300"/>
              <a:t>y. Thỉnh thoảng, Agent này vẫn có thể thắng</a:t>
            </a:r>
            <a:endParaRPr sz="1300"/>
          </a:p>
          <a:p>
            <a:pPr indent="-311150" lvl="1" marL="914400" rtl="0" algn="just">
              <a:lnSpc>
                <a:spcPct val="100000"/>
              </a:lnSpc>
              <a:spcBef>
                <a:spcPts val="0"/>
              </a:spcBef>
              <a:spcAft>
                <a:spcPts val="0"/>
              </a:spcAft>
              <a:buClr>
                <a:schemeClr val="lt1"/>
              </a:buClr>
              <a:buSzPts val="1300"/>
              <a:buFont typeface="Newsreader"/>
              <a:buChar char="○"/>
            </a:pPr>
            <a:r>
              <a:rPr lang="en" sz="1300">
                <a:solidFill>
                  <a:schemeClr val="lt1"/>
                </a:solidFill>
                <a:latin typeface="Newsreader"/>
                <a:ea typeface="Newsreader"/>
                <a:cs typeface="Newsreader"/>
                <a:sym typeface="Newsreader"/>
              </a:rPr>
              <a:t>Thử với layout dễ, chạy lệnh: </a:t>
            </a:r>
            <a:r>
              <a:rPr lang="en" sz="1300">
                <a:solidFill>
                  <a:schemeClr val="lt1"/>
                </a:solidFill>
                <a:latin typeface="Courier New"/>
                <a:ea typeface="Courier New"/>
                <a:cs typeface="Courier New"/>
                <a:sym typeface="Courier New"/>
              </a:rPr>
              <a:t>python pacman.py --layout testMaze --pacman GoWestAgent</a:t>
            </a:r>
            <a:endParaRPr sz="1300">
              <a:solidFill>
                <a:schemeClr val="lt1"/>
              </a:solidFill>
              <a:latin typeface="Courier New"/>
              <a:ea typeface="Courier New"/>
              <a:cs typeface="Courier New"/>
              <a:sym typeface="Courier New"/>
            </a:endParaRPr>
          </a:p>
          <a:p>
            <a:pPr indent="-311150" lvl="1" marL="914400" rtl="0" algn="just">
              <a:lnSpc>
                <a:spcPct val="100000"/>
              </a:lnSpc>
              <a:spcBef>
                <a:spcPts val="0"/>
              </a:spcBef>
              <a:spcAft>
                <a:spcPts val="0"/>
              </a:spcAft>
              <a:buClr>
                <a:schemeClr val="lt1"/>
              </a:buClr>
              <a:buSzPts val="1300"/>
              <a:buFont typeface="Newsreader"/>
              <a:buChar char="○"/>
            </a:pPr>
            <a:r>
              <a:rPr lang="en" sz="1300">
                <a:solidFill>
                  <a:schemeClr val="lt1"/>
                </a:solidFill>
                <a:latin typeface="Newsreader"/>
                <a:ea typeface="Newsreader"/>
                <a:cs typeface="Newsreader"/>
                <a:sym typeface="Newsreader"/>
              </a:rPr>
              <a:t>Thử với layout khó hơn: </a:t>
            </a:r>
            <a:r>
              <a:rPr lang="en" sz="1300">
                <a:solidFill>
                  <a:schemeClr val="lt1"/>
                </a:solidFill>
                <a:latin typeface="Courier New"/>
                <a:ea typeface="Courier New"/>
                <a:cs typeface="Courier New"/>
                <a:sym typeface="Courier New"/>
              </a:rPr>
              <a:t>python pacman.py --layout tinyMaze --pacman GoWestAgent</a:t>
            </a:r>
            <a:endParaRPr sz="1300">
              <a:solidFill>
                <a:schemeClr val="lt1"/>
              </a:solidFill>
              <a:latin typeface="Courier New"/>
              <a:ea typeface="Courier New"/>
              <a:cs typeface="Courier New"/>
              <a:sym typeface="Courier New"/>
            </a:endParaRPr>
          </a:p>
          <a:p>
            <a:pPr indent="0" lvl="0" marL="914400" rtl="0" algn="just">
              <a:lnSpc>
                <a:spcPct val="100000"/>
              </a:lnSpc>
              <a:spcBef>
                <a:spcPts val="0"/>
              </a:spcBef>
              <a:spcAft>
                <a:spcPts val="0"/>
              </a:spcAft>
              <a:buNone/>
            </a:pPr>
            <a:r>
              <a:t/>
            </a:r>
            <a:endParaRPr sz="1300">
              <a:solidFill>
                <a:schemeClr val="lt1"/>
              </a:solidFill>
              <a:latin typeface="Courier New"/>
              <a:ea typeface="Courier New"/>
              <a:cs typeface="Courier New"/>
              <a:sym typeface="Courier New"/>
            </a:endParaRPr>
          </a:p>
          <a:p>
            <a:pPr indent="-311150" lvl="0" marL="457200" rtl="0" algn="just">
              <a:lnSpc>
                <a:spcPct val="100000"/>
              </a:lnSpc>
              <a:spcBef>
                <a:spcPts val="0"/>
              </a:spcBef>
              <a:spcAft>
                <a:spcPts val="0"/>
              </a:spcAft>
              <a:buClr>
                <a:schemeClr val="lt1"/>
              </a:buClr>
              <a:buSzPts val="1300"/>
              <a:buChar char="●"/>
            </a:pPr>
            <a:r>
              <a:rPr lang="en" sz="1300"/>
              <a:t>Nếu muốn thoát game, nhấn tổ hợp phím Ctrl + C</a:t>
            </a:r>
            <a:endParaRPr sz="1300"/>
          </a:p>
          <a:p>
            <a:pPr indent="0" lvl="0" marL="457200" rtl="0" algn="just">
              <a:lnSpc>
                <a:spcPct val="100000"/>
              </a:lnSpc>
              <a:spcBef>
                <a:spcPts val="0"/>
              </a:spcBef>
              <a:spcAft>
                <a:spcPts val="0"/>
              </a:spcAft>
              <a:buNone/>
            </a:pPr>
            <a:r>
              <a:t/>
            </a:r>
            <a:endParaRPr sz="1300"/>
          </a:p>
          <a:p>
            <a:pPr indent="-311150" lvl="0" marL="457200" rtl="0" algn="just">
              <a:lnSpc>
                <a:spcPct val="100000"/>
              </a:lnSpc>
              <a:spcBef>
                <a:spcPts val="0"/>
              </a:spcBef>
              <a:spcAft>
                <a:spcPts val="0"/>
              </a:spcAft>
              <a:buSzPts val="1300"/>
              <a:buChar char="●"/>
            </a:pPr>
            <a:r>
              <a:rPr lang="en" sz="1300"/>
              <a:t>Nếu muốn xem tùy chọn của game, gõ lệnh: </a:t>
            </a:r>
            <a:r>
              <a:rPr lang="en" sz="1300">
                <a:latin typeface="Courier New"/>
                <a:ea typeface="Courier New"/>
                <a:cs typeface="Courier New"/>
                <a:sym typeface="Courier New"/>
              </a:rPr>
              <a:t>python pacman.py -h</a:t>
            </a:r>
            <a:endParaRPr sz="1300">
              <a:latin typeface="Courier New"/>
              <a:ea typeface="Courier New"/>
              <a:cs typeface="Courier New"/>
              <a:sym typeface="Courier New"/>
            </a:endParaRPr>
          </a:p>
          <a:p>
            <a:pPr indent="0" lvl="0" marL="457200" rtl="0" algn="just">
              <a:lnSpc>
                <a:spcPct val="100000"/>
              </a:lnSpc>
              <a:spcBef>
                <a:spcPts val="0"/>
              </a:spcBef>
              <a:spcAft>
                <a:spcPts val="0"/>
              </a:spcAft>
              <a:buNone/>
            </a:pPr>
            <a:r>
              <a:t/>
            </a:r>
            <a:endParaRPr sz="1300">
              <a:latin typeface="Courier New"/>
              <a:ea typeface="Courier New"/>
              <a:cs typeface="Courier New"/>
              <a:sym typeface="Courier New"/>
            </a:endParaRPr>
          </a:p>
          <a:p>
            <a:pPr indent="-311150" lvl="0" marL="457200" rtl="0" algn="just">
              <a:lnSpc>
                <a:spcPct val="100000"/>
              </a:lnSpc>
              <a:spcBef>
                <a:spcPts val="0"/>
              </a:spcBef>
              <a:spcAft>
                <a:spcPts val="0"/>
              </a:spcAft>
              <a:buSzPts val="1300"/>
              <a:buChar char="●"/>
            </a:pPr>
            <a:r>
              <a:rPr lang="en" sz="1300"/>
              <a:t>File </a:t>
            </a:r>
            <a:r>
              <a:rPr b="1" lang="en" sz="1300"/>
              <a:t>commands.txt </a:t>
            </a:r>
            <a:r>
              <a:rPr lang="en" sz="1300"/>
              <a:t>có chứa lệnh mẫu; trên UNIX/Mac có thể chạy toàn bộ bằng lệnh: </a:t>
            </a:r>
            <a:r>
              <a:rPr lang="en" sz="1300">
                <a:latin typeface="Courier New"/>
                <a:ea typeface="Courier New"/>
                <a:cs typeface="Courier New"/>
                <a:sym typeface="Courier New"/>
              </a:rPr>
              <a:t>bash commands.txt</a:t>
            </a:r>
            <a:endParaRPr sz="1300">
              <a:latin typeface="Courier New"/>
              <a:ea typeface="Courier New"/>
              <a:cs typeface="Courier New"/>
              <a:sym typeface="Courier New"/>
            </a:endParaRPr>
          </a:p>
          <a:p>
            <a:pPr indent="0" lvl="0" marL="457200" rtl="0" algn="just">
              <a:lnSpc>
                <a:spcPct val="100000"/>
              </a:lnSpc>
              <a:spcBef>
                <a:spcPts val="0"/>
              </a:spcBef>
              <a:spcAft>
                <a:spcPts val="0"/>
              </a:spcAft>
              <a:buNone/>
            </a:pPr>
            <a:r>
              <a:t/>
            </a:r>
            <a:endParaRPr sz="1300"/>
          </a:p>
          <a:p>
            <a:pPr indent="0" lvl="0" marL="0" rtl="0" algn="just">
              <a:lnSpc>
                <a:spcPct val="100000"/>
              </a:lnSpc>
              <a:spcBef>
                <a:spcPts val="0"/>
              </a:spcBef>
              <a:spcAft>
                <a:spcPts val="0"/>
              </a:spcAft>
              <a:buNone/>
            </a:pPr>
            <a:r>
              <a:t/>
            </a:r>
            <a:endParaRPr sz="1300"/>
          </a:p>
          <a:p>
            <a:pPr indent="0" lvl="0" marL="914400" rtl="0" algn="just">
              <a:lnSpc>
                <a:spcPct val="100000"/>
              </a:lnSpc>
              <a:spcBef>
                <a:spcPts val="0"/>
              </a:spcBef>
              <a:spcAft>
                <a:spcPts val="0"/>
              </a:spcAft>
              <a:buNone/>
            </a:pPr>
            <a:r>
              <a:t/>
            </a:r>
            <a:endParaRPr sz="1300">
              <a:solidFill>
                <a:schemeClr val="lt1"/>
              </a:solidFill>
              <a:latin typeface="Newsreader"/>
              <a:ea typeface="Newsreader"/>
              <a:cs typeface="Newsreader"/>
              <a:sym typeface="Newsread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7" name="Google Shape;527;p6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28" name="Google Shape;528;p60"/>
          <p:cNvSpPr txBox="1"/>
          <p:nvPr>
            <p:ph type="title"/>
          </p:nvPr>
        </p:nvSpPr>
        <p:spPr>
          <a:xfrm>
            <a:off x="708450" y="1720350"/>
            <a:ext cx="7633200" cy="170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4700"/>
              <a:t>Thuật toán tìm kiếm cơ bản</a:t>
            </a:r>
            <a:endParaRPr b="1" sz="4700"/>
          </a:p>
          <a:p>
            <a:pPr indent="0" lvl="0" marL="0" rtl="0" algn="ctr">
              <a:spcBef>
                <a:spcPts val="0"/>
              </a:spcBef>
              <a:spcAft>
                <a:spcPts val="0"/>
              </a:spcAft>
              <a:buNone/>
            </a:pPr>
            <a:r>
              <a:rPr b="1" lang="en" sz="4700"/>
              <a:t>DFS và </a:t>
            </a:r>
            <a:r>
              <a:rPr b="1" lang="en" sz="4700"/>
              <a:t>BFS</a:t>
            </a:r>
            <a:endParaRPr b="1" sz="4700"/>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4" name="Google Shape;534;p6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35" name="Google Shape;535;p61"/>
          <p:cNvSpPr txBox="1"/>
          <p:nvPr>
            <p:ph type="title"/>
          </p:nvPr>
        </p:nvSpPr>
        <p:spPr>
          <a:xfrm>
            <a:off x="636475" y="627075"/>
            <a:ext cx="8140200" cy="42159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Mục tiêu của DFS và BFS trong Pacman:</a:t>
            </a:r>
            <a:endParaRPr b="1" sz="1500"/>
          </a:p>
          <a:p>
            <a:pPr indent="-323850" lvl="1" marL="914400" rtl="0" algn="l">
              <a:spcBef>
                <a:spcPts val="0"/>
              </a:spcBef>
              <a:spcAft>
                <a:spcPts val="0"/>
              </a:spcAft>
              <a:buSzPts val="1500"/>
              <a:buChar char="○"/>
            </a:pPr>
            <a:r>
              <a:rPr b="1" lang="en" sz="1300">
                <a:latin typeface="Newsreader"/>
                <a:ea typeface="Newsreader"/>
                <a:cs typeface="Newsreader"/>
                <a:sym typeface="Newsreader"/>
              </a:rPr>
              <a:t>Bối cảnh: </a:t>
            </a:r>
            <a:r>
              <a:rPr lang="en" sz="1300">
                <a:latin typeface="Newsreader"/>
                <a:ea typeface="Newsreader"/>
                <a:cs typeface="Newsreader"/>
                <a:sym typeface="Newsreader"/>
              </a:rPr>
              <a:t>Trong game, nhân vật </a:t>
            </a:r>
            <a:r>
              <a:rPr lang="en" sz="1300">
                <a:latin typeface="Newsreader"/>
                <a:ea typeface="Newsreader"/>
                <a:cs typeface="Newsreader"/>
                <a:sym typeface="Newsreader"/>
              </a:rPr>
              <a:t>sẽ</a:t>
            </a:r>
            <a:r>
              <a:rPr lang="en" sz="1300">
                <a:latin typeface="Newsreader"/>
                <a:ea typeface="Newsreader"/>
                <a:cs typeface="Newsreader"/>
                <a:sym typeface="Newsreader"/>
              </a:rPr>
              <a:t> phải tìm đường đi từ vị trí ban đầu tới đích (goal)</a:t>
            </a:r>
            <a:r>
              <a:rPr b="1" lang="en" sz="1500"/>
              <a:t> </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Tác dụng của 2 thuật toán:</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Xác định đường đi từ vị trí Start -&gt; Goal tr</a:t>
            </a:r>
            <a:r>
              <a:rPr lang="en" sz="1300">
                <a:latin typeface="Newsreader"/>
                <a:ea typeface="Newsreader"/>
                <a:cs typeface="Newsreader"/>
                <a:sym typeface="Newsreader"/>
              </a:rPr>
              <a:t>ong  mê cung</a:t>
            </a:r>
            <a:endParaRPr sz="1300">
              <a:latin typeface="Newsreader"/>
              <a:ea typeface="Newsreader"/>
              <a:cs typeface="Newsreader"/>
              <a:sym typeface="Newsreader"/>
            </a:endParaRPr>
          </a:p>
          <a:p>
            <a:pPr indent="-323850" lvl="2" marL="1371600" rtl="0" algn="l">
              <a:spcBef>
                <a:spcPts val="0"/>
              </a:spcBef>
              <a:spcAft>
                <a:spcPts val="0"/>
              </a:spcAft>
              <a:buSzPts val="1500"/>
              <a:buChar char="■"/>
            </a:pPr>
            <a:r>
              <a:rPr lang="en" sz="1300">
                <a:latin typeface="Newsreader"/>
                <a:ea typeface="Newsreader"/>
                <a:cs typeface="Newsreader"/>
                <a:sym typeface="Newsreader"/>
              </a:rPr>
              <a:t> </a:t>
            </a:r>
            <a:r>
              <a:rPr b="1" lang="en" sz="1300">
                <a:latin typeface="Newsreader"/>
                <a:ea typeface="Newsreader"/>
                <a:cs typeface="Newsreader"/>
                <a:sym typeface="Newsreader"/>
              </a:rPr>
              <a:t>DFS</a:t>
            </a:r>
            <a:r>
              <a:rPr b="1" lang="en" sz="1500"/>
              <a:t>: </a:t>
            </a:r>
            <a:endParaRPr b="1" sz="1500"/>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Khám phá sâu trước, ưu tiên đi tới cuối một nhánh rồi quay lại.</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Dùng để khảo sát toàn bộ mê cung hoặc khi không quan tâm tối ưu độ dài đường đi.</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b="1" lang="en" sz="1300">
                <a:latin typeface="Newsreader"/>
                <a:ea typeface="Newsreader"/>
                <a:cs typeface="Newsreader"/>
                <a:sym typeface="Newsreader"/>
              </a:rPr>
              <a:t>BFS:</a:t>
            </a:r>
            <a:r>
              <a:rPr lang="en" sz="1300">
                <a:latin typeface="Newsreader"/>
                <a:ea typeface="Newsreader"/>
                <a:cs typeface="Newsreader"/>
                <a:sym typeface="Newsreader"/>
              </a:rPr>
              <a:t> </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Khám phá rộng trước, đi qua các vị trí gần Start trước.</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Đảm bảo tìm được đường đi ngắn nhất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2 thuật toán cơ bản này là vô cùng quan trọng trong việc lập trình đường đi cho nhân vật trong</a:t>
            </a:r>
            <a:r>
              <a:rPr lang="en" sz="1300">
                <a:latin typeface="Newsreader"/>
                <a:ea typeface="Newsreader"/>
                <a:cs typeface="Newsreader"/>
                <a:sym typeface="Newsreader"/>
              </a:rPr>
              <a:t> game vì ảnh hưởng đến thời gian tìm và độ dài đường đi. </a:t>
            </a:r>
            <a:endParaRPr sz="1300">
              <a:latin typeface="Newsreader"/>
              <a:ea typeface="Newsreader"/>
              <a:cs typeface="Newsreader"/>
              <a:sym typeface="Newsreader"/>
            </a:endParaRPr>
          </a:p>
          <a:p>
            <a:pPr indent="0" lvl="0" marL="457200" rtl="0" algn="l">
              <a:spcBef>
                <a:spcPts val="0"/>
              </a:spcBef>
              <a:spcAft>
                <a:spcPts val="0"/>
              </a:spcAft>
              <a:buNone/>
            </a:pPr>
            <a:r>
              <a:t/>
            </a:r>
            <a:endParaRPr b="1" sz="1500"/>
          </a:p>
          <a:p>
            <a:pPr indent="-323850" lvl="0" marL="457200" rtl="0" algn="l">
              <a:spcBef>
                <a:spcPts val="0"/>
              </a:spcBef>
              <a:spcAft>
                <a:spcPts val="0"/>
              </a:spcAft>
              <a:buSzPts val="1500"/>
              <a:buChar char="●"/>
            </a:pPr>
            <a:r>
              <a:rPr b="1" lang="en" sz="1500"/>
              <a:t>SearchAgent và yêu cầu dành cho bài tập</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File searchAgent.py có chứa SearchAgent: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Lập kế hoạch đường đi qua thế giới Pacman</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Thực thi kế hoạch theo từng bước</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Thuật toán tìm kiếm (DFS, BFS, UCS, A*) </a:t>
            </a:r>
            <a:r>
              <a:rPr b="1" lang="en" sz="1300">
                <a:latin typeface="Newsreader"/>
                <a:ea typeface="Newsreader"/>
                <a:cs typeface="Newsreader"/>
                <a:sym typeface="Newsreader"/>
              </a:rPr>
              <a:t>chưa được cài đặt</a:t>
            </a:r>
            <a:r>
              <a:rPr lang="en" sz="1300">
                <a:latin typeface="Newsreader"/>
                <a:ea typeface="Newsreader"/>
                <a:cs typeface="Newsreader"/>
                <a:sym typeface="Newsreader"/>
              </a:rPr>
              <a:t> → </a:t>
            </a:r>
            <a:r>
              <a:rPr b="1" lang="en" sz="1300">
                <a:latin typeface="Newsreader"/>
                <a:ea typeface="Newsreader"/>
                <a:cs typeface="Newsreader"/>
                <a:sym typeface="Newsreader"/>
              </a:rPr>
              <a:t>nhiệm vụ của sinh viên</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Lệnh kiểm tra SearchAgent: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r>
              <a:rPr lang="en" sz="1300">
                <a:latin typeface="Courier New"/>
                <a:ea typeface="Courier New"/>
                <a:cs typeface="Courier New"/>
                <a:sym typeface="Courier New"/>
              </a:rPr>
              <a:t>python pacman.py -l tinyMaze -p SearchAgent -a fn=tinyMazeSearch</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1" name="Google Shape;541;p6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42" name="Google Shape;542;p62"/>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Yêu cầu chung khi cài đặt thuật toán</a:t>
            </a:r>
            <a:r>
              <a:rPr b="1" lang="en" sz="1500"/>
              <a:t>:</a:t>
            </a:r>
            <a:endParaRPr b="1" sz="1500"/>
          </a:p>
          <a:p>
            <a:pPr indent="-336550" lvl="1" marL="914400" rtl="0" algn="l">
              <a:spcBef>
                <a:spcPts val="0"/>
              </a:spcBef>
              <a:spcAft>
                <a:spcPts val="0"/>
              </a:spcAft>
              <a:buSzPts val="1700"/>
              <a:buChar char="○"/>
            </a:pPr>
            <a:r>
              <a:rPr lang="en" sz="1300">
                <a:latin typeface="Newsreader"/>
                <a:ea typeface="Newsreader"/>
                <a:cs typeface="Newsreader"/>
                <a:sym typeface="Newsreader"/>
              </a:rPr>
              <a:t>Trả về </a:t>
            </a:r>
            <a:r>
              <a:rPr b="1" lang="en" sz="1300">
                <a:latin typeface="Newsreader"/>
                <a:ea typeface="Newsreader"/>
                <a:cs typeface="Newsreader"/>
                <a:sym typeface="Newsreader"/>
              </a:rPr>
              <a:t>danh sách hành động hợp lệ</a:t>
            </a:r>
            <a:r>
              <a:rPr lang="en" sz="1300">
                <a:latin typeface="Newsreader"/>
                <a:ea typeface="Newsreader"/>
                <a:cs typeface="Newsreader"/>
                <a:sym typeface="Newsreader"/>
              </a:rPr>
              <a:t> dẫn Agent từ </a:t>
            </a:r>
            <a:r>
              <a:rPr b="1" lang="en" sz="1300">
                <a:latin typeface="Newsreader"/>
                <a:ea typeface="Newsreader"/>
                <a:cs typeface="Newsreader"/>
                <a:sym typeface="Newsreader"/>
              </a:rPr>
              <a:t>start → goal</a:t>
            </a:r>
            <a:r>
              <a:rPr lang="en" sz="1300">
                <a:latin typeface="Newsreader"/>
                <a:ea typeface="Newsreader"/>
                <a:cs typeface="Newsreader"/>
                <a:sym typeface="Newsreader"/>
              </a:rPr>
              <a:t>. </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Mỗi hành động tương ứng với một hướng di chuyển hợp lệ trong mê cung (North, South, East, West).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Cần duy trì một tập hợp các trạng thái đã được mở rộng (visited set) để tránh mở rộng lại các trạng thái này.</a:t>
            </a:r>
            <a:endParaRPr sz="1300">
              <a:latin typeface="Newsreader"/>
              <a:ea typeface="Newsreader"/>
              <a:cs typeface="Newsreader"/>
              <a:sym typeface="Newsreader"/>
            </a:endParaRPr>
          </a:p>
          <a:p>
            <a:pPr indent="-323850" lvl="2" marL="1371600" rtl="0" algn="l">
              <a:spcBef>
                <a:spcPts val="0"/>
              </a:spcBef>
              <a:spcAft>
                <a:spcPts val="0"/>
              </a:spcAft>
              <a:buSzPts val="1500"/>
              <a:buChar char="■"/>
            </a:pPr>
            <a:r>
              <a:rPr lang="en" sz="1300">
                <a:latin typeface="Newsreader"/>
                <a:ea typeface="Newsreader"/>
                <a:cs typeface="Newsreader"/>
                <a:sym typeface="Newsreader"/>
              </a:rPr>
              <a:t> </a:t>
            </a:r>
            <a:r>
              <a:rPr b="1" lang="en" sz="1300">
                <a:latin typeface="Newsreader"/>
                <a:ea typeface="Newsreader"/>
                <a:cs typeface="Newsreader"/>
                <a:sym typeface="Newsreader"/>
              </a:rPr>
              <a:t>Việc tránh lặp lại giúp</a:t>
            </a:r>
            <a:r>
              <a:rPr b="1" lang="en" sz="1500"/>
              <a:t>: </a:t>
            </a:r>
            <a:endParaRPr b="1" sz="1500"/>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Tiết kiệm thời gian (giảm số lần duyệt trạng thái trùng lặp).</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Ngăn vòng lặp vô hạn trong mê cung có đường vòng.</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Quản lý fringe (biên tìm kiếm)</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Fringe là tập các nút (node) đang chờ được mở rộng.</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Điểm khác biệt chính giữa các thuật toán là cách quản lý và chọn node tiếp theo từ fringe:</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b="1" lang="en" sz="1300">
                <a:latin typeface="Newsreader"/>
                <a:ea typeface="Newsreader"/>
                <a:cs typeface="Newsreader"/>
                <a:sym typeface="Newsreader"/>
              </a:rPr>
              <a:t>DFS</a:t>
            </a:r>
            <a:r>
              <a:rPr lang="en" sz="1300">
                <a:latin typeface="Newsreader"/>
                <a:ea typeface="Newsreader"/>
                <a:cs typeface="Newsreader"/>
                <a:sym typeface="Newsreader"/>
              </a:rPr>
              <a:t>: Sử dụng </a:t>
            </a:r>
            <a:r>
              <a:rPr b="1" lang="en" sz="1300">
                <a:latin typeface="Newsreader"/>
                <a:ea typeface="Newsreader"/>
                <a:cs typeface="Newsreader"/>
                <a:sym typeface="Newsreader"/>
              </a:rPr>
              <a:t>Stack</a:t>
            </a:r>
            <a:r>
              <a:rPr lang="en" sz="1300">
                <a:latin typeface="Newsreader"/>
                <a:ea typeface="Newsreader"/>
                <a:cs typeface="Newsreader"/>
                <a:sym typeface="Newsreader"/>
              </a:rPr>
              <a:t> → mở rộng theo </a:t>
            </a:r>
            <a:r>
              <a:rPr b="1" lang="en" sz="1300">
                <a:latin typeface="Newsreader"/>
                <a:ea typeface="Newsreader"/>
                <a:cs typeface="Newsreader"/>
                <a:sym typeface="Newsreader"/>
              </a:rPr>
              <a:t>chiều sâu</a:t>
            </a:r>
            <a:r>
              <a:rPr lang="en" sz="1300">
                <a:latin typeface="Newsreader"/>
                <a:ea typeface="Newsreader"/>
                <a:cs typeface="Newsreader"/>
                <a:sym typeface="Newsreader"/>
              </a:rPr>
              <a:t>, ưu tiên node mới thêm </a:t>
            </a:r>
            <a:r>
              <a:rPr b="1" lang="en" sz="1300">
                <a:latin typeface="Newsreader"/>
                <a:ea typeface="Newsreader"/>
                <a:cs typeface="Newsreader"/>
                <a:sym typeface="Newsreader"/>
              </a:rPr>
              <a:t>gần nhất</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b="1" lang="en" sz="1300">
                <a:latin typeface="Newsreader"/>
                <a:ea typeface="Newsreader"/>
                <a:cs typeface="Newsreader"/>
                <a:sym typeface="Newsreader"/>
              </a:rPr>
              <a:t>BFS</a:t>
            </a:r>
            <a:r>
              <a:rPr lang="en" sz="1300">
                <a:latin typeface="Newsreader"/>
                <a:ea typeface="Newsreader"/>
                <a:cs typeface="Newsreader"/>
                <a:sym typeface="Newsreader"/>
              </a:rPr>
              <a:t>: Sử dụng </a:t>
            </a:r>
            <a:r>
              <a:rPr b="1" lang="en" sz="1300">
                <a:latin typeface="Newsreader"/>
                <a:ea typeface="Newsreader"/>
                <a:cs typeface="Newsreader"/>
                <a:sym typeface="Newsreader"/>
              </a:rPr>
              <a:t>Queue</a:t>
            </a:r>
            <a:r>
              <a:rPr lang="en" sz="1300">
                <a:latin typeface="Newsreader"/>
                <a:ea typeface="Newsreader"/>
                <a:cs typeface="Newsreader"/>
                <a:sym typeface="Newsreader"/>
              </a:rPr>
              <a:t> → mở rộng theo </a:t>
            </a:r>
            <a:r>
              <a:rPr b="1" lang="en" sz="1300">
                <a:latin typeface="Newsreader"/>
                <a:ea typeface="Newsreader"/>
                <a:cs typeface="Newsreader"/>
                <a:sym typeface="Newsreader"/>
              </a:rPr>
              <a:t>chiều rộng</a:t>
            </a:r>
            <a:r>
              <a:rPr lang="en" sz="1300">
                <a:latin typeface="Newsreader"/>
                <a:ea typeface="Newsreader"/>
                <a:cs typeface="Newsreader"/>
                <a:sym typeface="Newsreader"/>
              </a:rPr>
              <a:t>, ưu tiên node được thêm </a:t>
            </a:r>
            <a:r>
              <a:rPr b="1" lang="en" sz="1300">
                <a:latin typeface="Newsreader"/>
                <a:ea typeface="Newsreader"/>
                <a:cs typeface="Newsreader"/>
                <a:sym typeface="Newsreader"/>
              </a:rPr>
              <a:t>sớm nhất</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b="1" lang="en" sz="1300">
                <a:latin typeface="Newsreader"/>
                <a:ea typeface="Newsreader"/>
                <a:cs typeface="Newsreader"/>
                <a:sym typeface="Newsreader"/>
              </a:rPr>
              <a:t>UCS</a:t>
            </a:r>
            <a:r>
              <a:rPr lang="en" sz="1300">
                <a:latin typeface="Newsreader"/>
                <a:ea typeface="Newsreader"/>
                <a:cs typeface="Newsreader"/>
                <a:sym typeface="Newsreader"/>
              </a:rPr>
              <a:t>: Sử dụng </a:t>
            </a:r>
            <a:r>
              <a:rPr b="1" lang="en" sz="1300">
                <a:latin typeface="Newsreader"/>
                <a:ea typeface="Newsreader"/>
                <a:cs typeface="Newsreader"/>
                <a:sym typeface="Newsreader"/>
              </a:rPr>
              <a:t>PriorityQueue</a:t>
            </a:r>
            <a:r>
              <a:rPr lang="en" sz="1300">
                <a:latin typeface="Newsreader"/>
                <a:ea typeface="Newsreader"/>
                <a:cs typeface="Newsreader"/>
                <a:sym typeface="Newsreader"/>
              </a:rPr>
              <a:t> với độ ưu tiên </a:t>
            </a:r>
            <a:r>
              <a:rPr b="1" lang="en" sz="1300">
                <a:latin typeface="Newsreader"/>
                <a:ea typeface="Newsreader"/>
                <a:cs typeface="Newsreader"/>
                <a:sym typeface="Newsreader"/>
              </a:rPr>
              <a:t>theo chi phí đường đi</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b="1" lang="en" sz="1300">
                <a:latin typeface="Newsreader"/>
                <a:ea typeface="Newsreader"/>
                <a:cs typeface="Newsreader"/>
                <a:sym typeface="Newsreader"/>
              </a:rPr>
              <a:t>A*</a:t>
            </a:r>
            <a:r>
              <a:rPr lang="en" sz="1300">
                <a:latin typeface="Newsreader"/>
                <a:ea typeface="Newsreader"/>
                <a:cs typeface="Newsreader"/>
                <a:sym typeface="Newsreader"/>
              </a:rPr>
              <a:t>: Sử dụng </a:t>
            </a:r>
            <a:r>
              <a:rPr b="1" lang="en" sz="1300">
                <a:latin typeface="Newsreader"/>
                <a:ea typeface="Newsreader"/>
                <a:cs typeface="Newsreader"/>
                <a:sym typeface="Newsreader"/>
              </a:rPr>
              <a:t>PriorityQueue</a:t>
            </a:r>
            <a:r>
              <a:rPr lang="en" sz="1300">
                <a:latin typeface="Newsreader"/>
                <a:ea typeface="Newsreader"/>
                <a:cs typeface="Newsreader"/>
                <a:sym typeface="Newsreader"/>
              </a:rPr>
              <a:t> với độ ưu tiên = </a:t>
            </a:r>
            <a:r>
              <a:rPr b="1" lang="en" sz="1300">
                <a:latin typeface="Newsreader"/>
                <a:ea typeface="Newsreader"/>
                <a:cs typeface="Newsreader"/>
                <a:sym typeface="Newsreader"/>
              </a:rPr>
              <a:t>chi phí g + hàm heuristic h</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0" lvl="0" marL="457200" rtl="0" algn="l">
              <a:spcBef>
                <a:spcPts val="0"/>
              </a:spcBef>
              <a:spcAft>
                <a:spcPts val="0"/>
              </a:spcAft>
              <a:buNone/>
            </a:pPr>
            <a:r>
              <a:t/>
            </a:r>
            <a:endParaRPr b="1" sz="1500"/>
          </a:p>
          <a:p>
            <a:pPr indent="-323850" lvl="0" marL="457200" rtl="0" algn="l">
              <a:spcBef>
                <a:spcPts val="0"/>
              </a:spcBef>
              <a:spcAft>
                <a:spcPts val="0"/>
              </a:spcAft>
              <a:buSzPts val="1500"/>
              <a:buChar char="●"/>
            </a:pPr>
            <a:r>
              <a:rPr b="1" lang="en" sz="1500"/>
              <a:t>Cấu trúc dữ liệu hỗ trợ (định nghĩa sẵn trong util.py):</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Stack → cho DFS.</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Queue → cho BFS.</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PriorityQueue → cho UCS và A*.</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6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49" name="Google Shape;549;p63"/>
          <p:cNvSpPr txBox="1"/>
          <p:nvPr>
            <p:ph type="title"/>
          </p:nvPr>
        </p:nvSpPr>
        <p:spPr>
          <a:xfrm>
            <a:off x="812625" y="955900"/>
            <a:ext cx="7891500" cy="38871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Câu 1 – DFS (10 điểm):</a:t>
            </a:r>
            <a:endParaRPr b="1" sz="1500"/>
          </a:p>
          <a:p>
            <a:pPr indent="-323850" lvl="1" marL="914400" rtl="0" algn="l">
              <a:spcBef>
                <a:spcPts val="0"/>
              </a:spcBef>
              <a:spcAft>
                <a:spcPts val="0"/>
              </a:spcAft>
              <a:buSzPts val="1500"/>
              <a:buChar char="○"/>
            </a:pPr>
            <a:r>
              <a:rPr lang="en" sz="1300">
                <a:latin typeface="Newsreader"/>
                <a:ea typeface="Newsreader"/>
                <a:cs typeface="Newsreader"/>
                <a:sym typeface="Newsreader"/>
              </a:rPr>
              <a:t>Cài đặt trong </a:t>
            </a:r>
            <a:r>
              <a:rPr b="1" lang="en" sz="1300">
                <a:latin typeface="Newsreader"/>
                <a:ea typeface="Newsreader"/>
                <a:cs typeface="Newsreader"/>
                <a:sym typeface="Newsreader"/>
              </a:rPr>
              <a:t>depthFirstSearch – search.py.</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a:t>
            </a:r>
            <a:r>
              <a:rPr b="1" lang="en" sz="1300">
                <a:latin typeface="Newsreader"/>
                <a:ea typeface="Newsreader"/>
                <a:cs typeface="Newsreader"/>
                <a:sym typeface="Newsreader"/>
              </a:rPr>
              <a:t>graph search</a:t>
            </a:r>
            <a:r>
              <a:rPr lang="en" sz="1300">
                <a:latin typeface="Newsreader"/>
                <a:ea typeface="Newsreader"/>
                <a:cs typeface="Newsreader"/>
                <a:sym typeface="Newsreader"/>
              </a:rPr>
              <a:t> để tránh lặp trạng thái.</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Lệnh chạy thử:</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tinyMaze -p SearchAgent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a:t>
            </a:r>
            <a:r>
              <a:rPr lang="en" sz="1300">
                <a:latin typeface="Newsreader"/>
                <a:ea typeface="Newsreader"/>
                <a:cs typeface="Newsreader"/>
                <a:sym typeface="Newsreader"/>
              </a:rPr>
              <a:t>pacman.py -l mediumMaze -p SearchAgent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bigMaze -z .5 -p SearchAgent</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457200" rtl="0" algn="l">
              <a:spcBef>
                <a:spcPts val="0"/>
              </a:spcBef>
              <a:spcAft>
                <a:spcPts val="0"/>
              </a:spcAft>
              <a:buNone/>
            </a:pPr>
            <a:r>
              <a:t/>
            </a:r>
            <a:endParaRPr b="1" sz="1500"/>
          </a:p>
          <a:p>
            <a:pPr indent="-323850" lvl="0" marL="457200" rtl="0" algn="l">
              <a:spcBef>
                <a:spcPts val="0"/>
              </a:spcBef>
              <a:spcAft>
                <a:spcPts val="0"/>
              </a:spcAft>
              <a:buSzPts val="1500"/>
              <a:buChar char="●"/>
            </a:pPr>
            <a:r>
              <a:rPr b="1" lang="en" sz="1500"/>
              <a:t>Gợi ý</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Stack.</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Với </a:t>
            </a:r>
            <a:r>
              <a:rPr b="1" lang="en" sz="1300">
                <a:latin typeface="Newsreader"/>
                <a:ea typeface="Newsreader"/>
                <a:cs typeface="Newsreader"/>
                <a:sym typeface="Newsreader"/>
              </a:rPr>
              <a:t>mediumMaze</a:t>
            </a:r>
            <a:r>
              <a:rPr lang="en" sz="1300">
                <a:latin typeface="Newsreader"/>
                <a:ea typeface="Newsreader"/>
                <a:cs typeface="Newsreader"/>
                <a:sym typeface="Newsreader"/>
              </a:rPr>
              <a:t>, độ dài lời giải chuẩn: </a:t>
            </a:r>
            <a:r>
              <a:rPr b="1" lang="en" sz="1300">
                <a:latin typeface="Newsreader"/>
                <a:ea typeface="Newsreader"/>
                <a:cs typeface="Newsreader"/>
                <a:sym typeface="Newsreader"/>
              </a:rPr>
              <a:t>130 bước</a:t>
            </a:r>
            <a:r>
              <a:rPr lang="en" sz="1300">
                <a:latin typeface="Newsreader"/>
                <a:ea typeface="Newsreader"/>
                <a:cs typeface="Newsreader"/>
                <a:sym typeface="Newsreader"/>
              </a:rPr>
              <a:t> (push theo thứ tự </a:t>
            </a:r>
            <a:r>
              <a:rPr b="1" lang="en" sz="1300">
                <a:latin typeface="Newsreader"/>
                <a:ea typeface="Newsreader"/>
                <a:cs typeface="Newsreader"/>
                <a:sym typeface="Newsreader"/>
              </a:rPr>
              <a:t>getSuccessors</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DFS </a:t>
            </a:r>
            <a:r>
              <a:rPr b="1" lang="en" sz="1300">
                <a:latin typeface="Newsreader"/>
                <a:ea typeface="Newsreader"/>
                <a:cs typeface="Newsreader"/>
                <a:sym typeface="Newsreader"/>
              </a:rPr>
              <a:t>không</a:t>
            </a:r>
            <a:r>
              <a:rPr lang="en" sz="1300">
                <a:latin typeface="Newsreader"/>
                <a:ea typeface="Newsreader"/>
                <a:cs typeface="Newsreader"/>
                <a:sym typeface="Newsreader"/>
              </a:rPr>
              <a:t> đảm bảo đường đi ngắn nhất.</a:t>
            </a:r>
            <a:r>
              <a:rPr lang="en" sz="1300">
                <a:latin typeface="Newsreader"/>
                <a:ea typeface="Newsreader"/>
                <a:cs typeface="Newsreader"/>
                <a:sym typeface="Newsreader"/>
              </a:rPr>
              <a:t>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Newsreader"/>
              <a:ea typeface="Newsreader"/>
              <a:cs typeface="Newsreader"/>
              <a:sym typeface="Newsread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6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56" name="Google Shape;556;p64"/>
          <p:cNvSpPr txBox="1"/>
          <p:nvPr>
            <p:ph type="title"/>
          </p:nvPr>
        </p:nvSpPr>
        <p:spPr>
          <a:xfrm>
            <a:off x="800875" y="850200"/>
            <a:ext cx="7975800" cy="40629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Câu 2 – BFS (10 điểm):</a:t>
            </a:r>
            <a:endParaRPr b="1" sz="1500"/>
          </a:p>
          <a:p>
            <a:pPr indent="-323850" lvl="1" marL="914400" rtl="0" algn="l">
              <a:spcBef>
                <a:spcPts val="0"/>
              </a:spcBef>
              <a:spcAft>
                <a:spcPts val="0"/>
              </a:spcAft>
              <a:buSzPts val="1500"/>
              <a:buChar char="○"/>
            </a:pPr>
            <a:r>
              <a:rPr lang="en" sz="1300">
                <a:latin typeface="Newsreader"/>
                <a:ea typeface="Newsreader"/>
                <a:cs typeface="Newsreader"/>
                <a:sym typeface="Newsreader"/>
              </a:rPr>
              <a:t>Cài đặt trong </a:t>
            </a:r>
            <a:r>
              <a:rPr b="1" lang="en" sz="1300">
                <a:latin typeface="Newsreader"/>
                <a:ea typeface="Newsreader"/>
                <a:cs typeface="Newsreader"/>
                <a:sym typeface="Newsreader"/>
              </a:rPr>
              <a:t>breadthFirstSearch – search.py.</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BFS dùng để tìm đường đi ngắn nhất.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Lệnh chạy thử:</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mediumMaze -p SearchAgent -a fn=bfs</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bigMaze -p SearchAgent -a fn=bfs -z .5</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457200" rtl="0" algn="l">
              <a:spcBef>
                <a:spcPts val="0"/>
              </a:spcBef>
              <a:spcAft>
                <a:spcPts val="0"/>
              </a:spcAft>
              <a:buNone/>
            </a:pPr>
            <a:r>
              <a:t/>
            </a:r>
            <a:endParaRPr b="1" sz="1500"/>
          </a:p>
          <a:p>
            <a:pPr indent="-323850" lvl="0" marL="457200" rtl="0" algn="l">
              <a:spcBef>
                <a:spcPts val="0"/>
              </a:spcBef>
              <a:spcAft>
                <a:spcPts val="0"/>
              </a:spcAft>
              <a:buSzPts val="1500"/>
              <a:buChar char="●"/>
            </a:pPr>
            <a:r>
              <a:rPr b="1" lang="en" sz="1500"/>
              <a:t>Gợi ý</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Queue.</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Mặc định Agent Pacman sẽ di chuyển chậm để dễ quan sát với </a:t>
            </a:r>
            <a:r>
              <a:rPr b="1" lang="en" sz="1300">
                <a:latin typeface="Newsreader"/>
                <a:ea typeface="Newsreader"/>
                <a:cs typeface="Newsreader"/>
                <a:sym typeface="Newsreader"/>
              </a:rPr>
              <a:t>--f</a:t>
            </a:r>
            <a:r>
              <a:rPr b="1" lang="en" sz="1300">
                <a:latin typeface="Newsreader"/>
                <a:ea typeface="Newsreader"/>
                <a:cs typeface="Newsreader"/>
                <a:sym typeface="Newsreader"/>
              </a:rPr>
              <a:t>rameTime &gt; 0</a:t>
            </a:r>
            <a:r>
              <a:rPr b="1" lang="en" sz="1300"/>
              <a:t>. </a:t>
            </a:r>
            <a:r>
              <a:rPr lang="en" sz="1300">
                <a:latin typeface="Newsreader"/>
                <a:ea typeface="Newsreader"/>
                <a:cs typeface="Newsreader"/>
                <a:sym typeface="Newsreader"/>
              </a:rPr>
              <a:t>Nếu Agent Pacman chạy nhanh nhất có thể theo tốc độ xử lý của máy tính thì ta có điều chỉnh là </a:t>
            </a:r>
            <a:r>
              <a:rPr b="1" lang="en" sz="1300">
                <a:latin typeface="Newsreader"/>
                <a:ea typeface="Newsreader"/>
                <a:cs typeface="Newsreader"/>
                <a:sym typeface="Newsreader"/>
              </a:rPr>
              <a:t>--frameTime 0</a:t>
            </a:r>
            <a:endParaRPr b="1"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Newsreader"/>
              <a:ea typeface="Newsreader"/>
              <a:cs typeface="Newsreader"/>
              <a:sym typeface="Newsread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2" name="Google Shape;562;p6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a:t>
            </a:r>
            <a:r>
              <a:rPr lang="en"/>
              <a:t>Khoa</a:t>
            </a:r>
            <a:r>
              <a:rPr lang="en"/>
              <a:t> - Đại học Đà Nẵng</a:t>
            </a:r>
            <a:endParaRPr/>
          </a:p>
          <a:p>
            <a:pPr indent="0" lvl="0" marL="0" rtl="0" algn="l">
              <a:spcBef>
                <a:spcPts val="0"/>
              </a:spcBef>
              <a:spcAft>
                <a:spcPts val="0"/>
              </a:spcAft>
              <a:buNone/>
            </a:pPr>
            <a:r>
              <a:rPr lang="en"/>
              <a:t>	Khoa Công nghệ Thông tin</a:t>
            </a:r>
            <a:endParaRPr/>
          </a:p>
          <a:p>
            <a:pPr indent="0" lvl="0" marL="0" rtl="0" algn="l">
              <a:spcBef>
                <a:spcPts val="0"/>
              </a:spcBef>
              <a:spcAft>
                <a:spcPts val="0"/>
              </a:spcAft>
              <a:buNone/>
            </a:pPr>
            <a:r>
              <a:t/>
            </a:r>
            <a:endParaRPr/>
          </a:p>
        </p:txBody>
      </p:sp>
      <p:sp>
        <p:nvSpPr>
          <p:cNvPr id="563" name="Google Shape;563;p65"/>
          <p:cNvSpPr txBox="1"/>
          <p:nvPr>
            <p:ph type="title"/>
          </p:nvPr>
        </p:nvSpPr>
        <p:spPr>
          <a:xfrm>
            <a:off x="1417775" y="967500"/>
            <a:ext cx="6637200" cy="927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3400"/>
              <a:t>Tìm kiếm theo chi phí đồng nhất</a:t>
            </a:r>
            <a:endParaRPr b="1" sz="3400"/>
          </a:p>
          <a:p>
            <a:pPr indent="0" lvl="0" marL="0" rtl="0" algn="ctr">
              <a:spcBef>
                <a:spcPts val="0"/>
              </a:spcBef>
              <a:spcAft>
                <a:spcPts val="0"/>
              </a:spcAft>
              <a:buNone/>
            </a:pPr>
            <a:r>
              <a:t/>
            </a:r>
            <a:endParaRPr b="1" sz="3400"/>
          </a:p>
        </p:txBody>
      </p:sp>
      <p:pic>
        <p:nvPicPr>
          <p:cNvPr id="564" name="Google Shape;564;p65"/>
          <p:cNvPicPr preferRelativeResize="0"/>
          <p:nvPr/>
        </p:nvPicPr>
        <p:blipFill>
          <a:blip r:embed="rId3">
            <a:alphaModFix/>
          </a:blip>
          <a:stretch>
            <a:fillRect/>
          </a:stretch>
        </p:blipFill>
        <p:spPr>
          <a:xfrm>
            <a:off x="0" y="1965900"/>
            <a:ext cx="4884800" cy="3177600"/>
          </a:xfrm>
          <a:prstGeom prst="rect">
            <a:avLst/>
          </a:prstGeom>
          <a:noFill/>
          <a:ln>
            <a:noFill/>
          </a:ln>
        </p:spPr>
      </p:pic>
      <p:sp>
        <p:nvSpPr>
          <p:cNvPr id="565" name="Google Shape;565;p65"/>
          <p:cNvSpPr txBox="1"/>
          <p:nvPr/>
        </p:nvSpPr>
        <p:spPr>
          <a:xfrm>
            <a:off x="5157600" y="2693875"/>
            <a:ext cx="37695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900">
                <a:solidFill>
                  <a:schemeClr val="lt1"/>
                </a:solidFill>
                <a:latin typeface="Newsreader"/>
                <a:ea typeface="Newsreader"/>
                <a:cs typeface="Newsreader"/>
                <a:sym typeface="Newsreader"/>
              </a:rPr>
              <a:t>Uniform Cost Search UCS</a:t>
            </a:r>
            <a:endParaRPr b="1" sz="2900">
              <a:solidFill>
                <a:schemeClr val="lt1"/>
              </a:solidFill>
              <a:latin typeface="Newsreader"/>
              <a:ea typeface="Newsreader"/>
              <a:cs typeface="Newsreader"/>
              <a:sym typeface="Newsread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1" name="Google Shape;571;p6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72" name="Google Shape;572;p66"/>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Mục tiêu của </a:t>
            </a:r>
            <a:r>
              <a:rPr b="1" lang="en" sz="1500"/>
              <a:t>UCS</a:t>
            </a:r>
            <a:r>
              <a:rPr b="1" lang="en" sz="1500"/>
              <a:t> trong Pacman:</a:t>
            </a:r>
            <a:endParaRPr b="1" sz="1500"/>
          </a:p>
          <a:p>
            <a:pPr indent="-323850" lvl="1" marL="914400" rtl="0" algn="l">
              <a:spcBef>
                <a:spcPts val="0"/>
              </a:spcBef>
              <a:spcAft>
                <a:spcPts val="0"/>
              </a:spcAft>
              <a:buSzPts val="1500"/>
              <a:buChar char="○"/>
            </a:pPr>
            <a:r>
              <a:rPr lang="en" sz="1300">
                <a:latin typeface="Newsreader"/>
                <a:ea typeface="Newsreader"/>
                <a:cs typeface="Newsreader"/>
                <a:sym typeface="Newsreader"/>
              </a:rPr>
              <a:t>Tìm đường từ start → goal sao cho tổng chi phí nhỏ nhất (chi phí trên các ô có thể khác nhau).</a:t>
            </a:r>
            <a:endParaRPr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Nguyên tắc: </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Dùng PriorityQueue; priority = cost_so_far (g(n)).</a:t>
            </a:r>
            <a:endParaRPr sz="1300">
              <a:latin typeface="Newsreader"/>
              <a:ea typeface="Newsreader"/>
              <a:cs typeface="Newsreader"/>
              <a:sym typeface="Newsreader"/>
            </a:endParaRPr>
          </a:p>
          <a:p>
            <a:pPr indent="-323850" lvl="2" marL="1371600" rtl="0" algn="l">
              <a:spcBef>
                <a:spcPts val="0"/>
              </a:spcBef>
              <a:spcAft>
                <a:spcPts val="0"/>
              </a:spcAft>
              <a:buSzPts val="1500"/>
              <a:buChar char="■"/>
            </a:pPr>
            <a:r>
              <a:rPr lang="en" sz="1300">
                <a:latin typeface="Newsreader"/>
                <a:ea typeface="Newsreader"/>
                <a:cs typeface="Newsreader"/>
                <a:sym typeface="Newsreader"/>
              </a:rPr>
              <a:t>Luôn mở rộng node có chi phí tích </a:t>
            </a:r>
            <a:r>
              <a:rPr lang="en" sz="1300">
                <a:latin typeface="Newsreader"/>
                <a:ea typeface="Newsreader"/>
                <a:cs typeface="Newsreader"/>
                <a:sym typeface="Newsreader"/>
              </a:rPr>
              <a:t>lũy</a:t>
            </a:r>
            <a:r>
              <a:rPr lang="en" sz="1300">
                <a:latin typeface="Newsreader"/>
                <a:ea typeface="Newsreader"/>
                <a:cs typeface="Newsreader"/>
                <a:sym typeface="Newsreader"/>
              </a:rPr>
              <a:t> nhỏ nhất.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Lưu và cập nhật chi phí tốt nhất đã thấy cho mỗi trạng thái.</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Lệnh chạy (kiểm tra):</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mediumMaze -p SearchAgent -a fn=ucs</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mediumDottedMaze -p StayEastSearchAgent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mediumScaryMaze -p StayWestSearchAgent</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Hai agent </a:t>
            </a:r>
            <a:r>
              <a:rPr b="1" i="1" lang="en" sz="1300">
                <a:latin typeface="Newsreader"/>
                <a:ea typeface="Newsreader"/>
                <a:cs typeface="Newsreader"/>
                <a:sym typeface="Newsreader"/>
              </a:rPr>
              <a:t>StayEastSearchAgent </a:t>
            </a:r>
            <a:r>
              <a:rPr lang="en" sz="1300">
                <a:latin typeface="Newsreader"/>
                <a:ea typeface="Newsreader"/>
                <a:cs typeface="Newsreader"/>
                <a:sym typeface="Newsreader"/>
              </a:rPr>
              <a:t>và </a:t>
            </a:r>
            <a:r>
              <a:rPr b="1" i="1" lang="en" sz="1300">
                <a:latin typeface="Newsreader"/>
                <a:ea typeface="Newsreader"/>
                <a:cs typeface="Newsreader"/>
                <a:sym typeface="Newsreader"/>
              </a:rPr>
              <a:t>StayWestSearchAgent</a:t>
            </a:r>
            <a:r>
              <a:rPr lang="en" sz="1300">
                <a:latin typeface="Newsreader"/>
                <a:ea typeface="Newsreader"/>
                <a:cs typeface="Newsreader"/>
                <a:sym typeface="Newsreader"/>
              </a:rPr>
              <a:t> dùng hàm chi phí khác nhau</a:t>
            </a:r>
            <a:endParaRPr sz="1300">
              <a:latin typeface="Newsreader"/>
              <a:ea typeface="Newsreader"/>
              <a:cs typeface="Newsreader"/>
              <a:sym typeface="Newsreader"/>
            </a:endParaRPr>
          </a:p>
          <a:p>
            <a:pPr indent="-311150" lvl="3" marL="1828800" rtl="0" algn="l">
              <a:spcBef>
                <a:spcPts val="0"/>
              </a:spcBef>
              <a:spcAft>
                <a:spcPts val="0"/>
              </a:spcAft>
              <a:buSzPts val="1300"/>
              <a:buFont typeface="Newsreader"/>
              <a:buChar char="●"/>
            </a:pPr>
            <a:r>
              <a:rPr lang="en" sz="1300">
                <a:latin typeface="Newsreader"/>
                <a:ea typeface="Newsreader"/>
                <a:cs typeface="Newsreader"/>
                <a:sym typeface="Newsreader"/>
              </a:rPr>
              <a:t>Chi phí đường đi sẽ rất thấp cho </a:t>
            </a:r>
            <a:r>
              <a:rPr b="1" i="1" lang="en" sz="1300">
                <a:latin typeface="Newsreader"/>
                <a:ea typeface="Newsreader"/>
                <a:cs typeface="Newsreader"/>
                <a:sym typeface="Newsreader"/>
              </a:rPr>
              <a:t>StayEastSearchAgent</a:t>
            </a:r>
            <a:r>
              <a:rPr lang="en" sz="1300">
                <a:latin typeface="Newsreader"/>
                <a:ea typeface="Newsreader"/>
                <a:cs typeface="Newsreader"/>
                <a:sym typeface="Newsreader"/>
              </a:rPr>
              <a:t> và rất cao cho </a:t>
            </a:r>
            <a:r>
              <a:rPr b="1" i="1" lang="en" sz="1300">
                <a:latin typeface="Newsreader"/>
                <a:ea typeface="Newsreader"/>
                <a:cs typeface="Newsreader"/>
                <a:sym typeface="Newsreader"/>
              </a:rPr>
              <a:t>StayWestSearchAgent</a:t>
            </a:r>
            <a:r>
              <a:rPr lang="en" sz="1300">
                <a:latin typeface="Newsreader"/>
                <a:ea typeface="Newsreader"/>
                <a:cs typeface="Newsreader"/>
                <a:sym typeface="Newsreader"/>
              </a:rPr>
              <a:t> do hàm chi ph</a:t>
            </a:r>
            <a:r>
              <a:rPr lang="en" sz="1300">
                <a:latin typeface="Newsreader"/>
                <a:ea typeface="Newsreader"/>
                <a:cs typeface="Newsreader"/>
                <a:sym typeface="Newsreader"/>
              </a:rPr>
              <a:t>í có dạng </a:t>
            </a:r>
            <a:r>
              <a:rPr b="1" lang="en" sz="1300">
                <a:latin typeface="Newsreader"/>
                <a:ea typeface="Newsreader"/>
                <a:cs typeface="Newsreader"/>
                <a:sym typeface="Newsreader"/>
              </a:rPr>
              <a:t>lũy thừa.</a:t>
            </a:r>
            <a:endParaRPr b="1" sz="1300">
              <a:latin typeface="Newsreader"/>
              <a:ea typeface="Newsreader"/>
              <a:cs typeface="Newsreader"/>
              <a:sym typeface="Newsreader"/>
            </a:endParaRPr>
          </a:p>
          <a:p>
            <a:pPr indent="0" lvl="0" marL="457200" rtl="0" algn="l">
              <a:spcBef>
                <a:spcPts val="0"/>
              </a:spcBef>
              <a:spcAft>
                <a:spcPts val="0"/>
              </a:spcAft>
              <a:buNone/>
            </a:pPr>
            <a:r>
              <a:t/>
            </a:r>
            <a:endParaRPr b="1" sz="1500"/>
          </a:p>
          <a:p>
            <a:pPr indent="-323850" lvl="0" marL="457200" rtl="0" algn="l">
              <a:spcBef>
                <a:spcPts val="0"/>
              </a:spcBef>
              <a:spcAft>
                <a:spcPts val="0"/>
              </a:spcAft>
              <a:buSzPts val="1500"/>
              <a:buChar char="●"/>
            </a:pPr>
            <a:r>
              <a:rPr b="1" lang="en" sz="1500"/>
              <a:t>Một số lưu ý khi cài đặt</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Fringe chứa (state, path, cost); priority = cos</a:t>
            </a:r>
            <a:r>
              <a:rPr lang="en" sz="1300">
                <a:latin typeface="Newsreader"/>
                <a:ea typeface="Newsreader"/>
                <a:cs typeface="Newsreader"/>
                <a:sym typeface="Newsreader"/>
              </a:rPr>
              <a:t>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util.PriorityQueue.</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bảng (dict) lưu best_cost[state] để:</a:t>
            </a:r>
            <a:r>
              <a:rPr lang="en" sz="1300">
                <a:latin typeface="Newsreader"/>
                <a:ea typeface="Newsreader"/>
                <a:cs typeface="Newsreader"/>
                <a:sym typeface="Newsreader"/>
              </a:rPr>
              <a:t> </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T</a:t>
            </a:r>
            <a:r>
              <a:rPr lang="en" sz="1300">
                <a:latin typeface="Newsreader"/>
                <a:ea typeface="Newsreader"/>
                <a:cs typeface="Newsreader"/>
                <a:sym typeface="Newsreader"/>
              </a:rPr>
              <a:t>ránh mở rộng lại trạng thái với chi phí cao hơn đã thấy.</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Cập nhật fringe nếu tìm được đường rẻ hơn tới cùng state.</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UCS đảm bảo tối ưu nếu mọi chi phí ≥ 0.</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8" name="Google Shape;578;p6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79" name="Google Shape;579;p67"/>
          <p:cNvSpPr txBox="1"/>
          <p:nvPr>
            <p:ph type="title"/>
          </p:nvPr>
        </p:nvSpPr>
        <p:spPr>
          <a:xfrm>
            <a:off x="659975" y="1720350"/>
            <a:ext cx="7785600" cy="1983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4700"/>
              <a:t>Thuật toán tìm kiếm </a:t>
            </a:r>
            <a:endParaRPr b="1" sz="4700"/>
          </a:p>
          <a:p>
            <a:pPr indent="0" lvl="0" marL="0" rtl="0" algn="ctr">
              <a:spcBef>
                <a:spcPts val="0"/>
              </a:spcBef>
              <a:spcAft>
                <a:spcPts val="0"/>
              </a:spcAft>
              <a:buNone/>
            </a:pPr>
            <a:r>
              <a:rPr b="1" lang="en" sz="4700"/>
              <a:t>A*</a:t>
            </a:r>
            <a:endParaRPr b="1" sz="4700"/>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5" name="Google Shape;585;p6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86" name="Google Shape;586;p68"/>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Char char="●"/>
            </a:pPr>
            <a:r>
              <a:rPr b="1" lang="en" sz="1500"/>
              <a:t>Mục tiêu của </a:t>
            </a:r>
            <a:r>
              <a:rPr b="1" lang="en" sz="1500"/>
              <a:t>A-Star</a:t>
            </a:r>
            <a:r>
              <a:rPr b="1" lang="en" sz="1500"/>
              <a:t> trong Pacman:</a:t>
            </a:r>
            <a:endParaRPr b="1" sz="1500"/>
          </a:p>
          <a:p>
            <a:pPr indent="-323850" lvl="1" marL="914400" rtl="0" algn="l">
              <a:spcBef>
                <a:spcPts val="0"/>
              </a:spcBef>
              <a:spcAft>
                <a:spcPts val="0"/>
              </a:spcAft>
              <a:buSzPts val="1500"/>
              <a:buChar char="○"/>
            </a:pPr>
            <a:r>
              <a:rPr lang="en" sz="1300">
                <a:latin typeface="Newsreader"/>
                <a:ea typeface="Newsreader"/>
                <a:cs typeface="Newsreader"/>
                <a:sym typeface="Newsreader"/>
              </a:rPr>
              <a:t>Tìm đường từ start → goal với chi phí thấp nhất, sử dụng cả thông tin chi phí đường đi và heuristic để dẫn hướng tìm kiếm.</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Nhanh hơn UCS khi heuristic tốt, vì mở rộng ít node hơn.</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Ý tưởng chính:</a:t>
            </a:r>
            <a:endParaRPr b="1" sz="1500"/>
          </a:p>
          <a:p>
            <a:pPr indent="-323850" lvl="1" marL="914400" rtl="0" algn="l">
              <a:spcBef>
                <a:spcPts val="0"/>
              </a:spcBef>
              <a:spcAft>
                <a:spcPts val="0"/>
              </a:spcAft>
              <a:buSzPts val="1500"/>
              <a:buChar char="○"/>
            </a:pPr>
            <a:r>
              <a:rPr b="1" lang="en" sz="1300">
                <a:latin typeface="Newsreader"/>
                <a:ea typeface="Newsreader"/>
                <a:cs typeface="Newsreader"/>
                <a:sym typeface="Newsreader"/>
              </a:rPr>
              <a:t>Công thức:</a:t>
            </a:r>
            <a:r>
              <a:rPr b="1" lang="en" sz="1500"/>
              <a:t> </a:t>
            </a:r>
            <a:r>
              <a:rPr lang="en" sz="1300">
                <a:latin typeface="Newsreader"/>
                <a:ea typeface="Newsreader"/>
                <a:cs typeface="Newsreader"/>
                <a:sym typeface="Newsreader"/>
              </a:rPr>
              <a:t>A* = UCS + Heuristic</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f(n) = g(n) + h(n)</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b="1" lang="en" sz="1300">
                <a:latin typeface="Newsreader"/>
                <a:ea typeface="Newsreader"/>
                <a:cs typeface="Newsreader"/>
                <a:sym typeface="Newsreader"/>
              </a:rPr>
              <a:t>g(n)</a:t>
            </a:r>
            <a:r>
              <a:rPr lang="en" sz="1300">
                <a:latin typeface="Newsreader"/>
                <a:ea typeface="Newsreader"/>
                <a:cs typeface="Newsreader"/>
                <a:sym typeface="Newsreader"/>
              </a:rPr>
              <a:t>: chi phí từ start → n</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b="1" lang="en" sz="1300">
                <a:latin typeface="Newsreader"/>
                <a:ea typeface="Newsreader"/>
                <a:cs typeface="Newsreader"/>
                <a:sym typeface="Newsreader"/>
              </a:rPr>
              <a:t>h(n)</a:t>
            </a:r>
            <a:r>
              <a:rPr lang="en" sz="1300">
                <a:latin typeface="Newsreader"/>
                <a:ea typeface="Newsreader"/>
                <a:cs typeface="Newsreader"/>
                <a:sym typeface="Newsreader"/>
              </a:rPr>
              <a:t>: ước lượng chi phí từ n → goal (heuristic)</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Chọn node trong fringe có giá trị </a:t>
            </a:r>
            <a:r>
              <a:rPr b="1" lang="en" sz="1300">
                <a:latin typeface="Newsreader"/>
                <a:ea typeface="Newsreader"/>
                <a:cs typeface="Newsreader"/>
                <a:sym typeface="Newsreader"/>
              </a:rPr>
              <a:t>f(n) nhỏ nhất</a:t>
            </a:r>
            <a:r>
              <a:rPr lang="en" sz="1300">
                <a:latin typeface="Newsreader"/>
                <a:ea typeface="Newsreader"/>
                <a:cs typeface="Newsreader"/>
                <a:sym typeface="Newsreader"/>
              </a:rPr>
              <a:t> để mở rộng.</a:t>
            </a:r>
            <a:endParaRPr b="1" sz="1500"/>
          </a:p>
          <a:p>
            <a:pPr indent="-323850" lvl="0" marL="457200" rtl="0" algn="l">
              <a:spcBef>
                <a:spcPts val="0"/>
              </a:spcBef>
              <a:spcAft>
                <a:spcPts val="0"/>
              </a:spcAft>
              <a:buSzPts val="1500"/>
              <a:buChar char="●"/>
            </a:pPr>
            <a:r>
              <a:rPr b="1" lang="en" sz="1500"/>
              <a:t>Một số lưu ý khi cài </a:t>
            </a:r>
            <a:r>
              <a:rPr b="1" lang="en" sz="1500"/>
              <a:t>đặt:</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Trả về danh sách hành động hợp lệ dẫn Pacman từ start → goal.</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Không mở rộng lại trạng thái đã duyệt.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Dùng PriorityQueue trong util.py (ưu tiên theo f(n)).</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Heuristic mặc định: nullHeuristic (h = 0) → A* trở thành UCS.</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Có thể thay heuristic khác để tìm đường nhanh hơn.</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Câu lệnh chạy thử: </a:t>
            </a:r>
            <a:r>
              <a:rPr lang="en" sz="1300">
                <a:latin typeface="Courier New"/>
                <a:ea typeface="Courier New"/>
                <a:cs typeface="Courier New"/>
                <a:sym typeface="Courier New"/>
              </a:rPr>
              <a:t>python pacman.py -l bigMaze -z .5 -p SearchAgent -a fn=astar,heuristic=manhattanHeuristic</a:t>
            </a:r>
            <a:endParaRPr sz="1300">
              <a:latin typeface="Courier New"/>
              <a:ea typeface="Courier New"/>
              <a:cs typeface="Courier New"/>
              <a:sym typeface="Courier New"/>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bigMaze:</a:t>
            </a:r>
            <a:r>
              <a:rPr lang="en" sz="1300">
                <a:latin typeface="Newsreader"/>
                <a:ea typeface="Newsreader"/>
                <a:cs typeface="Newsreader"/>
                <a:sym typeface="Newsreader"/>
              </a:rPr>
              <a:t> bản đồ lớn để thấy khác biệt tốc độ so với UCS.</a:t>
            </a:r>
            <a:endParaRPr sz="1300">
              <a:latin typeface="Newsreader"/>
              <a:ea typeface="Newsreader"/>
              <a:cs typeface="Newsreader"/>
              <a:sym typeface="Newsreader"/>
            </a:endParaRPr>
          </a:p>
          <a:p>
            <a:pPr indent="-323850" lvl="1" marL="914400" rtl="0" algn="l">
              <a:spcBef>
                <a:spcPts val="0"/>
              </a:spcBef>
              <a:spcAft>
                <a:spcPts val="0"/>
              </a:spcAft>
              <a:buSzPts val="1500"/>
              <a:buFont typeface="Newsreader"/>
              <a:buChar char="○"/>
            </a:pPr>
            <a:r>
              <a:rPr b="1" lang="en" sz="1300">
                <a:latin typeface="Newsreader"/>
                <a:ea typeface="Newsreader"/>
                <a:cs typeface="Newsreader"/>
                <a:sym typeface="Newsreader"/>
              </a:rPr>
              <a:t>-z .5</a:t>
            </a:r>
            <a:r>
              <a:rPr lang="en" sz="1300">
                <a:latin typeface="Newsreader"/>
                <a:ea typeface="Newsreader"/>
                <a:cs typeface="Newsreader"/>
                <a:sym typeface="Newsreader"/>
              </a:rPr>
              <a:t>: giảm thời gian frame để Pacman chạy nhanh.</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heuristic=manhattanHeuristic</a:t>
            </a:r>
            <a:r>
              <a:rPr lang="en" sz="1300">
                <a:latin typeface="Newsreader"/>
                <a:ea typeface="Newsreader"/>
                <a:cs typeface="Newsreader"/>
                <a:sym typeface="Newsreader"/>
              </a:rPr>
              <a:t>: heuristic Manhattan (tính khoảng cách ô vuông).</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6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593" name="Google Shape;593;p69"/>
          <p:cNvSpPr txBox="1"/>
          <p:nvPr>
            <p:ph type="title"/>
          </p:nvPr>
        </p:nvSpPr>
        <p:spPr>
          <a:xfrm>
            <a:off x="708450" y="1720350"/>
            <a:ext cx="7633200" cy="1702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4700"/>
              <a:t>Bài toán 4 góc và </a:t>
            </a:r>
            <a:endParaRPr b="1" sz="4700"/>
          </a:p>
          <a:p>
            <a:pPr indent="0" lvl="0" marL="0" rtl="0" algn="ctr">
              <a:spcBef>
                <a:spcPts val="0"/>
              </a:spcBef>
              <a:spcAft>
                <a:spcPts val="0"/>
              </a:spcAft>
              <a:buNone/>
            </a:pPr>
            <a:r>
              <a:rPr b="1" lang="en" sz="4700"/>
              <a:t>thiết kế Heuristic</a:t>
            </a:r>
            <a:endParaRPr b="1" sz="4700"/>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7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00" name="Google Shape;600;p70"/>
          <p:cNvSpPr txBox="1"/>
          <p:nvPr>
            <p:ph type="title"/>
          </p:nvPr>
        </p:nvSpPr>
        <p:spPr>
          <a:xfrm>
            <a:off x="636475" y="574316"/>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t>Câu 5 – CornersProblem: </a:t>
            </a:r>
            <a:endParaRPr b="1" sz="1800"/>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Mục tiêu:</a:t>
            </a:r>
            <a:endParaRPr b="1" sz="1500"/>
          </a:p>
          <a:p>
            <a:pPr indent="-323850" lvl="1" marL="914400" rtl="0" algn="l">
              <a:spcBef>
                <a:spcPts val="0"/>
              </a:spcBef>
              <a:spcAft>
                <a:spcPts val="0"/>
              </a:spcAft>
              <a:buSzPts val="1500"/>
              <a:buChar char="○"/>
            </a:pPr>
            <a:r>
              <a:rPr lang="en" sz="1300">
                <a:latin typeface="Newsreader"/>
                <a:ea typeface="Newsreader"/>
                <a:cs typeface="Newsreader"/>
                <a:sym typeface="Newsreader"/>
              </a:rPr>
              <a:t>Tìm đường ngắn nhất qua mê cung, đi qua cả 4 góc (dù có hoặc không có food ở đó)</a:t>
            </a:r>
            <a:endParaRPr sz="1300">
              <a:latin typeface="Newsreader"/>
              <a:ea typeface="Newsreader"/>
              <a:cs typeface="Newsreader"/>
              <a:sym typeface="Newsreader"/>
            </a:endParaRPr>
          </a:p>
          <a:p>
            <a:pPr indent="0" lvl="0" marL="91440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Yêu cầu cài đặt:</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Viết class </a:t>
            </a:r>
            <a:r>
              <a:rPr b="1" lang="en" sz="1300">
                <a:latin typeface="Newsreader"/>
                <a:ea typeface="Newsreader"/>
                <a:cs typeface="Newsreader"/>
                <a:sym typeface="Newsreader"/>
              </a:rPr>
              <a:t>CornersProblem</a:t>
            </a:r>
            <a:r>
              <a:rPr lang="en" sz="1300">
                <a:latin typeface="Newsreader"/>
                <a:ea typeface="Newsreader"/>
                <a:cs typeface="Newsreader"/>
                <a:sym typeface="Newsreader"/>
              </a:rPr>
              <a:t> trong </a:t>
            </a:r>
            <a:r>
              <a:rPr b="1" lang="en" sz="1300">
                <a:latin typeface="Newsreader"/>
                <a:ea typeface="Newsreader"/>
                <a:cs typeface="Newsreader"/>
                <a:sym typeface="Newsreader"/>
              </a:rPr>
              <a:t>searchAgents.py.</a:t>
            </a:r>
            <a:endParaRPr b="1"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State representation</a:t>
            </a:r>
            <a:r>
              <a:rPr lang="en" sz="1300">
                <a:latin typeface="Newsreader"/>
                <a:ea typeface="Newsreader"/>
                <a:cs typeface="Newsreader"/>
                <a:sym typeface="Newsreader"/>
              </a:rPr>
              <a:t> phải chứa đủ thông tin để biết đã đến những góc nào.</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Không dùng nguyên GameState làm state ( vì sẽ rất chậm và sai).</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Chỉ cần:</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Vị trí ban đầu của Pacman.</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Tọa độ 4 góc mê cung.</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BFS có thể giải được:</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tinyCorners -p SearchAgent -a fn=bfs,prob=CornersProblem</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python pacman.py -l mediumCorners -p SearchAgent -a fn=bfs,prob=CornersProblem</a:t>
            </a:r>
            <a:endParaRPr sz="1300">
              <a:latin typeface="Newsreader"/>
              <a:ea typeface="Newsreader"/>
              <a:cs typeface="Newsreader"/>
              <a:sym typeface="Newsreader"/>
            </a:endParaRPr>
          </a:p>
          <a:p>
            <a:pPr indent="0" lvl="0" marL="137160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Nếu hiệu quả: BFS chuẩn sẽ mở được gần 2000 node ở mediumCorners.</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6" name="Google Shape;606;p7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07" name="Google Shape;607;p71"/>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t>Câu 6 – Heuristic cho CornersProblem:</a:t>
            </a:r>
            <a:endParaRPr b="1" sz="1800"/>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Mục tiêu:</a:t>
            </a:r>
            <a:endParaRPr b="1" sz="1500"/>
          </a:p>
          <a:p>
            <a:pPr indent="0" lvl="0" marL="914400" rtl="0" algn="l">
              <a:spcBef>
                <a:spcPts val="0"/>
              </a:spcBef>
              <a:spcAft>
                <a:spcPts val="0"/>
              </a:spcAft>
              <a:buNone/>
            </a:pPr>
            <a:r>
              <a:rPr lang="en" sz="1300">
                <a:solidFill>
                  <a:srgbClr val="000000"/>
                </a:solidFill>
              </a:rPr>
              <a:t>Giảm số node phải mở bằng A* + heuristic phù hợp.</a:t>
            </a:r>
            <a:endParaRPr sz="1300">
              <a:solidFill>
                <a:srgbClr val="000000"/>
              </a:solidFill>
            </a:endParaRPr>
          </a:p>
          <a:p>
            <a:pPr indent="0" lvl="0" marL="914400" rtl="0" algn="l">
              <a:spcBef>
                <a:spcPts val="0"/>
              </a:spcBef>
              <a:spcAft>
                <a:spcPts val="0"/>
              </a:spcAft>
              <a:buNone/>
            </a:pPr>
            <a:r>
              <a:t/>
            </a:r>
            <a:endParaRPr sz="1300">
              <a:solidFill>
                <a:srgbClr val="000000"/>
              </a:solidFill>
            </a:endParaRPr>
          </a:p>
          <a:p>
            <a:pPr indent="-323850" lvl="0" marL="457200" rtl="0" algn="l">
              <a:spcBef>
                <a:spcPts val="0"/>
              </a:spcBef>
              <a:spcAft>
                <a:spcPts val="0"/>
              </a:spcAft>
              <a:buSzPts val="1500"/>
              <a:buChar char="●"/>
            </a:pPr>
            <a:r>
              <a:rPr b="1" lang="en" sz="1500"/>
              <a:t>Yêu cầu heuristic (cornersHeuristic):</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Non-trivial:</a:t>
            </a:r>
            <a:r>
              <a:rPr lang="en" sz="1300">
                <a:latin typeface="Newsreader"/>
                <a:ea typeface="Newsreader"/>
                <a:cs typeface="Newsreader"/>
                <a:sym typeface="Newsreader"/>
              </a:rPr>
              <a:t> khác 0, không tính chi phí thật.</a:t>
            </a:r>
            <a:endParaRPr b="1"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Admissible:</a:t>
            </a:r>
            <a:r>
              <a:rPr lang="en" sz="1300">
                <a:latin typeface="Newsreader"/>
                <a:ea typeface="Newsreader"/>
                <a:cs typeface="Newsreader"/>
                <a:sym typeface="Newsreader"/>
              </a:rPr>
              <a:t> Luôn ≤ chi phí thật.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Consistent:  </a:t>
            </a:r>
            <a:r>
              <a:rPr i="1" lang="en" sz="1300">
                <a:latin typeface="Newsreader"/>
                <a:ea typeface="Newsreader"/>
                <a:cs typeface="Newsreader"/>
                <a:sym typeface="Newsreader"/>
              </a:rPr>
              <a:t>h(n) ≤ c(n, n') + h(n').</a:t>
            </a:r>
            <a:endParaRPr i="1"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Không âm, và </a:t>
            </a:r>
            <a:r>
              <a:rPr b="1" lang="en" sz="1300">
                <a:latin typeface="Newsreader"/>
                <a:ea typeface="Newsreader"/>
                <a:cs typeface="Newsreader"/>
                <a:sym typeface="Newsreader"/>
              </a:rPr>
              <a:t>h(goal) = 0.</a:t>
            </a:r>
            <a:endParaRPr b="1" sz="1300">
              <a:latin typeface="Newsreader"/>
              <a:ea typeface="Newsreader"/>
              <a:cs typeface="Newsreader"/>
              <a:sym typeface="Newsreader"/>
            </a:endParaRPr>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Cách test:</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Chạy lệnh</a:t>
            </a:r>
            <a:endParaRPr sz="1300">
              <a:latin typeface="Newsreader"/>
              <a:ea typeface="Newsreader"/>
              <a:cs typeface="Newsreader"/>
              <a:sym typeface="Newsreader"/>
            </a:endParaRPr>
          </a:p>
          <a:p>
            <a:pPr indent="0" lvl="0" marL="1828800" rtl="0" algn="l">
              <a:spcBef>
                <a:spcPts val="0"/>
              </a:spcBef>
              <a:spcAft>
                <a:spcPts val="0"/>
              </a:spcAft>
              <a:buNone/>
            </a:pPr>
            <a:r>
              <a:rPr lang="en" sz="1300">
                <a:latin typeface="Courier New"/>
                <a:ea typeface="Courier New"/>
                <a:cs typeface="Courier New"/>
                <a:sym typeface="Courier New"/>
              </a:rPr>
              <a:t>python pacman.py -l mediumCorners -p AStarCornersAgent -z 0.5</a:t>
            </a:r>
            <a:endParaRPr sz="1300">
              <a:latin typeface="Courier New"/>
              <a:ea typeface="Courier New"/>
              <a:cs typeface="Courier New"/>
              <a:sym typeface="Courier New"/>
            </a:endParaRPr>
          </a:p>
          <a:p>
            <a:pPr indent="-323850" lvl="0" marL="457200" rtl="0" algn="l">
              <a:spcBef>
                <a:spcPts val="0"/>
              </a:spcBef>
              <a:spcAft>
                <a:spcPts val="0"/>
              </a:spcAft>
              <a:buSzPts val="1500"/>
              <a:buChar char="●"/>
            </a:pPr>
            <a:r>
              <a:rPr b="1" lang="en" sz="1500"/>
              <a:t>Đánh giá hiệu quả nếu :</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BFS chuẩn sẽ mở được gần 2000 node.</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Heuristic tốt: &lt;1600 node, giỏi: &lt;800 node.</a:t>
            </a:r>
            <a:endParaRPr sz="1300">
              <a:latin typeface="Newsreader"/>
              <a:ea typeface="Newsreader"/>
              <a:cs typeface="Newsreader"/>
              <a:sym typeface="Newsreader"/>
            </a:endParaRPr>
          </a:p>
          <a:p>
            <a:pPr indent="0" lvl="0" marL="91440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Gợi ý heuristic khả thi:</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Tính khoảng cách </a:t>
            </a:r>
            <a:r>
              <a:rPr b="1" lang="en" sz="1300">
                <a:latin typeface="Newsreader"/>
                <a:ea typeface="Newsreader"/>
                <a:cs typeface="Newsreader"/>
                <a:sym typeface="Newsreader"/>
              </a:rPr>
              <a:t>Manhattan</a:t>
            </a:r>
            <a:r>
              <a:rPr lang="en" sz="1300">
                <a:latin typeface="Newsreader"/>
                <a:ea typeface="Newsreader"/>
                <a:cs typeface="Newsreader"/>
                <a:sym typeface="Newsreader"/>
              </a:rPr>
              <a:t> từ vị trí hiện tại đến </a:t>
            </a:r>
            <a:r>
              <a:rPr b="1" lang="en" sz="1300">
                <a:latin typeface="Newsreader"/>
                <a:ea typeface="Newsreader"/>
                <a:cs typeface="Newsreader"/>
                <a:sym typeface="Newsreader"/>
              </a:rPr>
              <a:t>góc chưa thăm gần nhất</a:t>
            </a:r>
            <a:r>
              <a:rPr lang="en" sz="1300">
                <a:latin typeface="Newsreader"/>
                <a:ea typeface="Newsreader"/>
                <a:cs typeface="Newsreader"/>
                <a:sym typeface="Newsreader"/>
              </a:rPr>
              <a:t>.</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Cộng thêm khoảng cách giữa các góc chưa thăm theo thứ tự tối ưu (MST hoặc greedy).</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1371600" rtl="0" algn="l">
              <a:spcBef>
                <a:spcPts val="0"/>
              </a:spcBef>
              <a:spcAft>
                <a:spcPts val="0"/>
              </a:spcAft>
              <a:buNone/>
            </a:pPr>
            <a:r>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7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14" name="Google Shape;614;p72"/>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t>Admissibility và Consistency</a:t>
            </a:r>
            <a:endParaRPr b="1" sz="1800"/>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Admissible Heuristic</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Định nghĩa: </a:t>
            </a:r>
            <a:r>
              <a:rPr lang="en" sz="1100"/>
              <a:t> </a:t>
            </a:r>
            <a:r>
              <a:rPr lang="en" sz="1300">
                <a:latin typeface="Newsreader"/>
                <a:ea typeface="Newsreader"/>
                <a:cs typeface="Newsreader"/>
                <a:sym typeface="Newsreader"/>
              </a:rPr>
              <a:t>Heuristic h(n)  là </a:t>
            </a:r>
            <a:r>
              <a:rPr b="1" i="1" lang="en" sz="1300">
                <a:latin typeface="Newsreader"/>
                <a:ea typeface="Newsreader"/>
                <a:cs typeface="Newsreader"/>
                <a:sym typeface="Newsreader"/>
              </a:rPr>
              <a:t>admissible</a:t>
            </a:r>
            <a:r>
              <a:rPr lang="en" sz="1300">
                <a:latin typeface="Newsreader"/>
                <a:ea typeface="Newsreader"/>
                <a:cs typeface="Newsreader"/>
                <a:sym typeface="Newsreader"/>
              </a:rPr>
              <a:t> nếu nó </a:t>
            </a:r>
            <a:r>
              <a:rPr b="1" lang="en" sz="1300">
                <a:latin typeface="Newsreader"/>
                <a:ea typeface="Newsreader"/>
                <a:cs typeface="Newsreader"/>
                <a:sym typeface="Newsreader"/>
              </a:rPr>
              <a:t>không bao giờ đánh giá quá thấp</a:t>
            </a:r>
            <a:r>
              <a:rPr lang="en" sz="1300">
                <a:latin typeface="Newsreader"/>
                <a:ea typeface="Newsreader"/>
                <a:cs typeface="Newsreader"/>
                <a:sym typeface="Newsreader"/>
              </a:rPr>
              <a:t> chi phí thực tế từ trạng thái n đ</a:t>
            </a:r>
            <a:r>
              <a:rPr lang="en" sz="1300">
                <a:latin typeface="Newsreader"/>
                <a:ea typeface="Newsreader"/>
                <a:cs typeface="Newsreader"/>
                <a:sym typeface="Newsreader"/>
              </a:rPr>
              <a:t>ến vị trí đích</a:t>
            </a:r>
            <a:r>
              <a:rPr lang="en" sz="1300">
                <a:latin typeface="Newsreader"/>
                <a:ea typeface="Newsreader"/>
                <a:cs typeface="Newsreader"/>
                <a:sym typeface="Newsreader"/>
              </a:rPr>
              <a:t> (và luôn ≥ 0).</a:t>
            </a:r>
            <a:endParaRPr sz="1500">
              <a:solidFill>
                <a:srgbClr val="000000"/>
              </a:solidFill>
            </a:endParaRPr>
          </a:p>
          <a:p>
            <a:pPr indent="-311150" lvl="1" marL="914400" rtl="0" algn="l">
              <a:spcBef>
                <a:spcPts val="0"/>
              </a:spcBef>
              <a:spcAft>
                <a:spcPts val="0"/>
              </a:spcAft>
              <a:buClr>
                <a:srgbClr val="000000"/>
              </a:buClr>
              <a:buSzPts val="1300"/>
              <a:buFont typeface="Newsreader"/>
              <a:buChar char="○"/>
            </a:pPr>
            <a:r>
              <a:rPr b="1" lang="en" sz="1300">
                <a:latin typeface="Newsreader"/>
                <a:ea typeface="Newsreader"/>
                <a:cs typeface="Newsreader"/>
                <a:sym typeface="Newsreader"/>
              </a:rPr>
              <a:t>Ý nghĩa:</a:t>
            </a:r>
            <a:r>
              <a:rPr lang="en" sz="1300">
                <a:latin typeface="Newsreader"/>
                <a:ea typeface="Newsreader"/>
                <a:cs typeface="Newsreader"/>
                <a:sym typeface="Newsreader"/>
              </a:rPr>
              <a:t> Đảm bảo </a:t>
            </a:r>
            <a:r>
              <a:rPr b="1" lang="en" sz="1300">
                <a:latin typeface="Newsreader"/>
                <a:ea typeface="Newsreader"/>
                <a:cs typeface="Newsreader"/>
                <a:sym typeface="Newsreader"/>
              </a:rPr>
              <a:t>A*</a:t>
            </a:r>
            <a:r>
              <a:rPr lang="en" sz="1300">
                <a:latin typeface="Newsreader"/>
                <a:ea typeface="Newsreader"/>
                <a:cs typeface="Newsreader"/>
                <a:sym typeface="Newsreader"/>
              </a:rPr>
              <a:t> không bỏ qua đường đi tối ưu vì đánh giá sai quá thấp.</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Ví dụ: </a:t>
            </a:r>
            <a:r>
              <a:rPr lang="en" sz="1300">
                <a:latin typeface="Newsreader"/>
                <a:ea typeface="Newsreader"/>
                <a:cs typeface="Newsreader"/>
                <a:sym typeface="Newsreader"/>
              </a:rPr>
              <a:t> Nếu khoảng cách thực tế đến goal là 10, t</a:t>
            </a:r>
            <a:r>
              <a:rPr lang="en" sz="1300">
                <a:latin typeface="Newsreader"/>
                <a:ea typeface="Newsreader"/>
                <a:cs typeface="Newsreader"/>
                <a:sym typeface="Newsreader"/>
              </a:rPr>
              <a:t>hì h(n) có thể là 0, 5, 9 nhưng </a:t>
            </a:r>
            <a:r>
              <a:rPr b="1" lang="en" sz="1300">
                <a:latin typeface="Newsreader"/>
                <a:ea typeface="Newsreader"/>
                <a:cs typeface="Newsreader"/>
                <a:sym typeface="Newsreader"/>
              </a:rPr>
              <a:t>không được</a:t>
            </a:r>
            <a:r>
              <a:rPr lang="en" sz="1300">
                <a:latin typeface="Newsreader"/>
                <a:ea typeface="Newsreader"/>
                <a:cs typeface="Newsreader"/>
                <a:sym typeface="Newsreader"/>
              </a:rPr>
              <a:t> là 11.</a:t>
            </a:r>
            <a:endParaRPr sz="15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Yêu cầu:</a:t>
            </a:r>
            <a:r>
              <a:rPr lang="en" sz="1300">
                <a:latin typeface="Newsreader"/>
                <a:ea typeface="Newsreader"/>
                <a:cs typeface="Newsreader"/>
                <a:sym typeface="Newsreader"/>
              </a:rPr>
              <a:t> Ở trạng thái goal, </a:t>
            </a:r>
            <a:r>
              <a:rPr b="1" lang="en" sz="1300">
                <a:latin typeface="Newsreader"/>
                <a:ea typeface="Newsreader"/>
                <a:cs typeface="Newsreader"/>
                <a:sym typeface="Newsreader"/>
              </a:rPr>
              <a:t>h ( goal ) = 0</a:t>
            </a:r>
            <a:endParaRPr b="1" sz="1300">
              <a:latin typeface="Newsreader"/>
              <a:ea typeface="Newsreader"/>
              <a:cs typeface="Newsreader"/>
              <a:sym typeface="Newsreader"/>
            </a:endParaRPr>
          </a:p>
          <a:p>
            <a:pPr indent="0" lvl="0" marL="0" rtl="0" algn="l">
              <a:spcBef>
                <a:spcPts val="0"/>
              </a:spcBef>
              <a:spcAft>
                <a:spcPts val="0"/>
              </a:spcAft>
              <a:buNone/>
            </a:pPr>
            <a:r>
              <a:t/>
            </a:r>
            <a:endParaRPr b="1" sz="1300"/>
          </a:p>
          <a:p>
            <a:pPr indent="0" lvl="0" marL="0" rtl="0" algn="l">
              <a:spcBef>
                <a:spcPts val="0"/>
              </a:spcBef>
              <a:spcAft>
                <a:spcPts val="0"/>
              </a:spcAft>
              <a:buNone/>
            </a:pPr>
            <a:r>
              <a:t/>
            </a:r>
            <a:endParaRPr b="1" sz="1300"/>
          </a:p>
          <a:p>
            <a:pPr indent="0" lvl="0" marL="0" rtl="0" algn="l">
              <a:spcBef>
                <a:spcPts val="0"/>
              </a:spcBef>
              <a:spcAft>
                <a:spcPts val="0"/>
              </a:spcAft>
              <a:buNone/>
            </a:pPr>
            <a:r>
              <a:t/>
            </a:r>
            <a:endParaRPr sz="1500">
              <a:solidFill>
                <a:srgbClr val="000000"/>
              </a:solidFill>
            </a:endParaRPr>
          </a:p>
          <a:p>
            <a:pPr indent="-323850" lvl="0" marL="457200" rtl="0" algn="l">
              <a:spcBef>
                <a:spcPts val="0"/>
              </a:spcBef>
              <a:spcAft>
                <a:spcPts val="0"/>
              </a:spcAft>
              <a:buSzPts val="1500"/>
              <a:buChar char="●"/>
            </a:pPr>
            <a:r>
              <a:rPr b="1" lang="en" sz="1500"/>
              <a:t>Consistency </a:t>
            </a:r>
            <a:r>
              <a:rPr b="1" lang="en" sz="1500"/>
              <a:t>Heuristic</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Định nghĩa: </a:t>
            </a:r>
            <a:r>
              <a:rPr lang="en" sz="1300">
                <a:latin typeface="Newsreader"/>
                <a:ea typeface="Newsreader"/>
                <a:cs typeface="Newsreader"/>
                <a:sym typeface="Newsreader"/>
              </a:rPr>
              <a:t> </a:t>
            </a:r>
            <a:r>
              <a:rPr lang="en" sz="1300">
                <a:latin typeface="Newsreader"/>
                <a:ea typeface="Newsreader"/>
                <a:cs typeface="Newsreader"/>
                <a:sym typeface="Newsreader"/>
              </a:rPr>
              <a:t>Heuristic là consistent nếu luôn thỏa mãn bất đẳng thức tam giác:</a:t>
            </a:r>
            <a:endParaRPr sz="1300">
              <a:latin typeface="Newsreader"/>
              <a:ea typeface="Newsreader"/>
              <a:cs typeface="Newsreader"/>
              <a:sym typeface="Newsreader"/>
            </a:endParaRPr>
          </a:p>
          <a:p>
            <a:pPr indent="-323850" lvl="3" marL="1828800" rtl="0" algn="l">
              <a:spcBef>
                <a:spcPts val="0"/>
              </a:spcBef>
              <a:spcAft>
                <a:spcPts val="0"/>
              </a:spcAft>
              <a:buSzPts val="1500"/>
              <a:buFont typeface="Newsreader"/>
              <a:buChar char="●"/>
            </a:pPr>
            <a:r>
              <a:rPr lang="en" sz="1500">
                <a:latin typeface="Newsreader"/>
                <a:ea typeface="Newsreader"/>
                <a:cs typeface="Newsreader"/>
                <a:sym typeface="Newsreader"/>
              </a:rPr>
              <a:t>h(n) ≤ c(n,a,n′)+h(n′)</a:t>
            </a:r>
            <a:endParaRPr sz="1500">
              <a:latin typeface="Newsreader"/>
              <a:ea typeface="Newsreader"/>
              <a:cs typeface="Newsreader"/>
              <a:sym typeface="Newsreader"/>
            </a:endParaRPr>
          </a:p>
          <a:p>
            <a:pPr indent="-323850" lvl="3" marL="1828800" rtl="0" algn="l">
              <a:spcBef>
                <a:spcPts val="0"/>
              </a:spcBef>
              <a:spcAft>
                <a:spcPts val="0"/>
              </a:spcAft>
              <a:buSzPts val="1500"/>
              <a:buFont typeface="Newsreader"/>
              <a:buChar char="●"/>
            </a:pPr>
            <a:r>
              <a:rPr lang="en" sz="1500">
                <a:latin typeface="Newsreader"/>
                <a:ea typeface="Newsreader"/>
                <a:cs typeface="Newsreader"/>
                <a:sym typeface="Newsreader"/>
              </a:rPr>
              <a:t>Tức là khi đi từ n sang n′ với chi phí c, giá trị heuristic giảm nhiều nhất là c.</a:t>
            </a:r>
            <a:endParaRPr sz="1500">
              <a:latin typeface="Newsreader"/>
              <a:ea typeface="Newsreader"/>
              <a:cs typeface="Newsreader"/>
              <a:sym typeface="Newsreader"/>
            </a:endParaRPr>
          </a:p>
          <a:p>
            <a:pPr indent="-323850" lvl="1" marL="914400" rtl="0" algn="l">
              <a:spcBef>
                <a:spcPts val="0"/>
              </a:spcBef>
              <a:spcAft>
                <a:spcPts val="0"/>
              </a:spcAft>
              <a:buSzPts val="1500"/>
              <a:buFont typeface="Newsreader"/>
              <a:buChar char="○"/>
            </a:pPr>
            <a:r>
              <a:rPr b="1" lang="en" sz="1300">
                <a:latin typeface="Newsreader"/>
                <a:ea typeface="Newsreader"/>
                <a:cs typeface="Newsreader"/>
                <a:sym typeface="Newsreader"/>
              </a:rPr>
              <a:t>Ý nghĩa:</a:t>
            </a:r>
            <a:r>
              <a:rPr lang="en" sz="1300">
                <a:latin typeface="Newsreader"/>
                <a:ea typeface="Newsreader"/>
                <a:cs typeface="Newsreader"/>
                <a:sym typeface="Newsreader"/>
              </a:rPr>
              <a:t> Đảm bảo f-value f(n)=g(n)+h(n)f(n) = g(n) + h(n) không giảm khi duyệt các trạng thái, giúp graph search không mở rộng lại node đã duyệt.</a:t>
            </a:r>
            <a:endParaRPr sz="15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Ví dụ: </a:t>
            </a:r>
            <a:r>
              <a:rPr lang="en" sz="1300">
                <a:latin typeface="Newsreader"/>
                <a:ea typeface="Newsreader"/>
                <a:cs typeface="Newsreader"/>
                <a:sym typeface="Newsreader"/>
              </a:rPr>
              <a:t>Nếu di chuyển một bước tốn 3, thì heuristic từ node sau nhiều nhất giảm 3.</a:t>
            </a:r>
            <a:endParaRPr sz="1300">
              <a:latin typeface="Newsreader"/>
              <a:ea typeface="Newsreader"/>
              <a:cs typeface="Newsreader"/>
              <a:sym typeface="Newsreader"/>
            </a:endParaRPr>
          </a:p>
          <a:p>
            <a:pPr indent="0" lvl="0" marL="0" rtl="0" algn="l">
              <a:spcBef>
                <a:spcPts val="0"/>
              </a:spcBef>
              <a:spcAft>
                <a:spcPts val="0"/>
              </a:spcAft>
              <a:buNone/>
            </a:pPr>
            <a:r>
              <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1371600" rtl="0" algn="l">
              <a:spcBef>
                <a:spcPts val="0"/>
              </a:spcBef>
              <a:spcAft>
                <a:spcPts val="0"/>
              </a:spcAft>
              <a:buNone/>
            </a:pPr>
            <a:r>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0" name="Google Shape;620;p7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21" name="Google Shape;621;p73"/>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t>Admissibility và Consistency</a:t>
            </a:r>
            <a:endParaRPr b="1" sz="1800"/>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Quan hệ giữa admissibility và consistency</a:t>
            </a:r>
            <a:endParaRPr b="1" sz="1500"/>
          </a:p>
          <a:p>
            <a:pPr indent="0" lvl="0" marL="457200" rtl="0" algn="l">
              <a:spcBef>
                <a:spcPts val="0"/>
              </a:spcBef>
              <a:spcAft>
                <a:spcPts val="0"/>
              </a:spcAft>
              <a:buNone/>
            </a:pPr>
            <a:r>
              <a:t/>
            </a:r>
            <a:endParaRPr b="1" sz="15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Trong tree search, chỉ cần admissibility là đủ để đảm bảo A* tìm được đường đi tối ưu.</a:t>
            </a:r>
            <a:endParaRPr sz="1300">
              <a:latin typeface="Newsreader"/>
              <a:ea typeface="Newsreader"/>
              <a:cs typeface="Newsreader"/>
              <a:sym typeface="Newsreader"/>
            </a:endParaRPr>
          </a:p>
          <a:p>
            <a:pPr indent="0" lvl="0" marL="914400" rtl="0" algn="l">
              <a:spcBef>
                <a:spcPts val="0"/>
              </a:spcBef>
              <a:spcAft>
                <a:spcPts val="0"/>
              </a:spcAft>
              <a:buNone/>
            </a:pPr>
            <a:r>
              <a:t/>
            </a:r>
            <a:endParaRPr sz="1300">
              <a:latin typeface="Newsreader"/>
              <a:ea typeface="Newsreader"/>
              <a:cs typeface="Newsreader"/>
              <a:sym typeface="Newsreader"/>
            </a:endParaRPr>
          </a:p>
          <a:p>
            <a:pPr indent="-311150" lvl="1" marL="914400" rtl="0" algn="l">
              <a:spcBef>
                <a:spcPts val="0"/>
              </a:spcBef>
              <a:spcAft>
                <a:spcPts val="0"/>
              </a:spcAft>
              <a:buClr>
                <a:srgbClr val="000000"/>
              </a:buClr>
              <a:buSzPts val="1300"/>
              <a:buFont typeface="Newsreader"/>
              <a:buChar char="○"/>
            </a:pPr>
            <a:r>
              <a:rPr lang="en" sz="1300">
                <a:latin typeface="Newsreader"/>
                <a:ea typeface="Newsreader"/>
                <a:cs typeface="Newsreader"/>
                <a:sym typeface="Newsreader"/>
              </a:rPr>
              <a:t>Trong graph search, admissibility chưa đủ, phải cần consistency để tránh mở rộng lại các node và đảm bảo tính đúng đắn.</a:t>
            </a:r>
            <a:endParaRPr sz="1300">
              <a:latin typeface="Newsreader"/>
              <a:ea typeface="Newsreader"/>
              <a:cs typeface="Newsreader"/>
              <a:sym typeface="Newsreader"/>
            </a:endParaRPr>
          </a:p>
          <a:p>
            <a:pPr indent="0" lvl="0" marL="914400" rtl="0" algn="l">
              <a:spcBef>
                <a:spcPts val="0"/>
              </a:spcBef>
              <a:spcAft>
                <a:spcPts val="0"/>
              </a:spcAft>
              <a:buNone/>
            </a:pPr>
            <a:r>
              <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Hầu hết heuristic admissible trong thực tế thường cũng consistent, đặc biệt nếu lấy từ problem relaxation (nới lỏng ràng buộc bài toán).</a:t>
            </a:r>
            <a:endParaRPr sz="1300">
              <a:latin typeface="Newsreader"/>
              <a:ea typeface="Newsreader"/>
              <a:cs typeface="Newsreader"/>
              <a:sym typeface="Newsreader"/>
            </a:endParaRPr>
          </a:p>
          <a:p>
            <a:pPr indent="0" lvl="0" marL="0" rtl="0" algn="l">
              <a:spcBef>
                <a:spcPts val="0"/>
              </a:spcBef>
              <a:spcAft>
                <a:spcPts val="0"/>
              </a:spcAft>
              <a:buNone/>
            </a:pPr>
            <a:r>
              <a:t/>
            </a:r>
            <a:endParaRPr b="1" sz="1300"/>
          </a:p>
          <a:p>
            <a:pPr indent="0" lvl="0" marL="0" rtl="0" algn="l">
              <a:spcBef>
                <a:spcPts val="0"/>
              </a:spcBef>
              <a:spcAft>
                <a:spcPts val="0"/>
              </a:spcAft>
              <a:buNone/>
            </a:pPr>
            <a:r>
              <a:t/>
            </a:r>
            <a:endParaRPr sz="1500">
              <a:solidFill>
                <a:srgbClr val="000000"/>
              </a:solidFill>
            </a:endParaRPr>
          </a:p>
          <a:p>
            <a:pPr indent="-323850" lvl="0" marL="457200" rtl="0" algn="l">
              <a:spcBef>
                <a:spcPts val="0"/>
              </a:spcBef>
              <a:spcAft>
                <a:spcPts val="0"/>
              </a:spcAft>
              <a:buSzPts val="1500"/>
              <a:buChar char="●"/>
            </a:pPr>
            <a:r>
              <a:rPr b="1" lang="en" sz="1500"/>
              <a:t>Kiểm tra heuristic có consistent không: </a:t>
            </a:r>
            <a:r>
              <a:rPr lang="en" sz="1300"/>
              <a:t>Nếu UCS và A* cho </a:t>
            </a:r>
            <a:r>
              <a:rPr b="1" lang="en" sz="1300"/>
              <a:t>kết quả đường đi khác nhau</a:t>
            </a:r>
            <a:r>
              <a:rPr lang="en" sz="1300"/>
              <a:t> → heuristic của bạn </a:t>
            </a:r>
            <a:r>
              <a:rPr b="1" lang="en" sz="1300"/>
              <a:t>không</a:t>
            </a:r>
            <a:r>
              <a:rPr lang="en" sz="1300"/>
              <a:t> consistent.</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b="1" lang="en" sz="2000"/>
              <a:t>Lưu ý:</a:t>
            </a:r>
            <a:r>
              <a:rPr lang="en" sz="1800"/>
              <a:t> </a:t>
            </a:r>
            <a:endParaRPr sz="1800"/>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Khi code A* trong Pacman, phải viết heuristic vừa admissible vừa consistent để chạy đúng với graph search, tránh trivial heuristic, và tuân thủ điều kiện giá trị không âm, =0 ở goal.</a:t>
            </a:r>
            <a:endParaRPr sz="1300">
              <a:latin typeface="Newsreader"/>
              <a:ea typeface="Newsreader"/>
              <a:cs typeface="Newsreader"/>
              <a:sym typeface="Newsreader"/>
            </a:endParaRPr>
          </a:p>
          <a:p>
            <a:pPr indent="0" lvl="0" marL="0" rtl="0" algn="l">
              <a:spcBef>
                <a:spcPts val="0"/>
              </a:spcBef>
              <a:spcAft>
                <a:spcPts val="0"/>
              </a:spcAft>
              <a:buNone/>
            </a:pPr>
            <a:r>
              <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1371600" rtl="0" algn="l">
              <a:spcBef>
                <a:spcPts val="0"/>
              </a:spcBef>
              <a:spcAft>
                <a:spcPts val="0"/>
              </a:spcAft>
              <a:buNone/>
            </a:pPr>
            <a:r>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7" name="Google Shape;627;p7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a:p>
            <a:pPr indent="0" lvl="0" marL="0" rtl="0" algn="l">
              <a:spcBef>
                <a:spcPts val="0"/>
              </a:spcBef>
              <a:spcAft>
                <a:spcPts val="0"/>
              </a:spcAft>
              <a:buNone/>
            </a:pPr>
            <a:r>
              <a:t/>
            </a:r>
            <a:endParaRPr/>
          </a:p>
        </p:txBody>
      </p:sp>
      <p:sp>
        <p:nvSpPr>
          <p:cNvPr id="628" name="Google Shape;628;p74"/>
          <p:cNvSpPr txBox="1"/>
          <p:nvPr>
            <p:ph type="title"/>
          </p:nvPr>
        </p:nvSpPr>
        <p:spPr>
          <a:xfrm>
            <a:off x="3416325" y="1587300"/>
            <a:ext cx="5622000" cy="1750500"/>
          </a:xfrm>
          <a:prstGeom prst="rect">
            <a:avLst/>
          </a:prstGeom>
        </p:spPr>
        <p:txBody>
          <a:bodyPr anchorCtr="0" anchor="b" bIns="0" lIns="0" spcFirstLastPara="1" rIns="0" wrap="square" tIns="0">
            <a:noAutofit/>
          </a:bodyPr>
          <a:lstStyle/>
          <a:p>
            <a:pPr indent="0" lvl="0" marL="0" marR="203200" rtl="0" algn="l">
              <a:spcBef>
                <a:spcPts val="0"/>
              </a:spcBef>
              <a:spcAft>
                <a:spcPts val="0"/>
              </a:spcAft>
              <a:buNone/>
            </a:pPr>
            <a:r>
              <a:rPr lang="en" sz="3000"/>
              <a:t>Các bài tập lý thuyết và nâng cao</a:t>
            </a:r>
            <a:endParaRPr sz="3000"/>
          </a:p>
          <a:p>
            <a:pPr indent="0" lvl="0" marL="0" marR="203200" rtl="0" algn="l">
              <a:spcBef>
                <a:spcPts val="0"/>
              </a:spcBef>
              <a:spcAft>
                <a:spcPts val="0"/>
              </a:spcAft>
              <a:buNone/>
            </a:pPr>
            <a:r>
              <a:t/>
            </a:r>
            <a:endParaRPr sz="3000"/>
          </a:p>
        </p:txBody>
      </p:sp>
      <p:pic>
        <p:nvPicPr>
          <p:cNvPr id="629" name="Google Shape;629;p74"/>
          <p:cNvPicPr preferRelativeResize="0"/>
          <p:nvPr/>
        </p:nvPicPr>
        <p:blipFill>
          <a:blip r:embed="rId3">
            <a:alphaModFix/>
          </a:blip>
          <a:stretch>
            <a:fillRect/>
          </a:stretch>
        </p:blipFill>
        <p:spPr>
          <a:xfrm>
            <a:off x="361975" y="1288850"/>
            <a:ext cx="2581275" cy="2876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5" name="Google Shape;635;p7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36" name="Google Shape;636;p75"/>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Câu 7: Tạo một ví dụ không gian tìm kiếm để minh họa việc Iterative Deepening Search (IDS) có thể trả về lời giải không tối ưu.</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Giải thích: </a:t>
            </a:r>
            <a:r>
              <a:rPr lang="en" sz="1300">
                <a:latin typeface="Newsreader"/>
                <a:ea typeface="Newsreader"/>
                <a:cs typeface="Newsreader"/>
                <a:sym typeface="Newsreader"/>
              </a:rPr>
              <a:t>IDS ưu tiên độ sâu nhỏ hơn nhưng không đảm bảo chi phí thấp nhất → nếu chi phí đường đi không đồng nhất, có thể lấy phải đường đi đắt hơn.</a:t>
            </a:r>
            <a:endParaRPr sz="1300">
              <a:latin typeface="Newsreader"/>
              <a:ea typeface="Newsreader"/>
              <a:cs typeface="Newsreader"/>
              <a:sym typeface="Newsreader"/>
            </a:endParaRPr>
          </a:p>
          <a:p>
            <a:pPr indent="0" lvl="0" marL="914400" rtl="0" algn="l">
              <a:spcBef>
                <a:spcPts val="0"/>
              </a:spcBef>
              <a:spcAft>
                <a:spcPts val="0"/>
              </a:spcAft>
              <a:buNone/>
            </a:pPr>
            <a:r>
              <a:t/>
            </a:r>
            <a:endParaRPr sz="1300">
              <a:solidFill>
                <a:srgbClr val="000000"/>
              </a:solidFill>
            </a:endParaRPr>
          </a:p>
          <a:p>
            <a:pPr indent="-323850" lvl="0" marL="457200" rtl="0" algn="l">
              <a:spcBef>
                <a:spcPts val="0"/>
              </a:spcBef>
              <a:spcAft>
                <a:spcPts val="0"/>
              </a:spcAft>
              <a:buSzPts val="1500"/>
              <a:buChar char="●"/>
            </a:pPr>
            <a:r>
              <a:rPr b="1" lang="en" sz="1500"/>
              <a:t>Câu 8</a:t>
            </a:r>
            <a:r>
              <a:rPr b="1" lang="en" sz="1500"/>
              <a:t>: </a:t>
            </a:r>
            <a:r>
              <a:rPr b="1" lang="en" sz="1500"/>
              <a:t>Mô tả một thuật toán hiệu quả để quyết đị</a:t>
            </a:r>
            <a:r>
              <a:rPr b="1" lang="en" sz="1500"/>
              <a:t>nh xem một heuristic nhất định có phù hợp không</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Input: </a:t>
            </a:r>
            <a:r>
              <a:rPr lang="en" sz="1300">
                <a:latin typeface="Newsreader"/>
                <a:ea typeface="Newsreader"/>
                <a:cs typeface="Newsreader"/>
                <a:sym typeface="Newsreader"/>
              </a:rPr>
              <a:t>Một heuristic h(n) và đồ thị trạng thái.</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Ý tưởng:</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Với mọi cạnh (n, n'), kiểm tra điều kiện:   </a:t>
            </a:r>
            <a:r>
              <a:rPr b="1" lang="en" sz="1300">
                <a:latin typeface="Newsreader"/>
                <a:ea typeface="Newsreader"/>
                <a:cs typeface="Newsreader"/>
                <a:sym typeface="Newsreader"/>
              </a:rPr>
              <a:t> h(n)≤c(n,n′)+h(n′)</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Nếu vi phạm ở bất kỳ cạnh nào </a:t>
            </a:r>
            <a:r>
              <a:rPr b="1" lang="en" sz="1300">
                <a:latin typeface="Newsreader"/>
                <a:ea typeface="Newsreader"/>
                <a:cs typeface="Newsreader"/>
                <a:sym typeface="Newsreader"/>
              </a:rPr>
              <a:t>→ heuristic không consistent.</a:t>
            </a:r>
            <a:endParaRPr b="1"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Độ phức tạp: O(E) với E là số cạnh.</a:t>
            </a:r>
            <a:endParaRPr b="1" sz="1300">
              <a:latin typeface="Newsreader"/>
              <a:ea typeface="Newsreader"/>
              <a:cs typeface="Newsreader"/>
              <a:sym typeface="Newsreader"/>
            </a:endParaRPr>
          </a:p>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Câu 9: Tạo cây tìm kiếm nhỏ nhất có thể, minh họa việc h(n) &gt; h*(n) ở một node → A* chọn nhầm đường đi không tối ưu.</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Minh họa</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S → A (1), S → G (2), A → G (1)</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h(A) = 3, h(G) = 0</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f(S→A→G) = 1+1+3 = 5</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f(S→G) = 2+0 = 2 → A* chọn S→G dù chi phí thực bằng nhau</a:t>
            </a:r>
            <a:endParaRPr sz="1300">
              <a:latin typeface="Newsreader"/>
              <a:ea typeface="Newsreader"/>
              <a:cs typeface="Newsreader"/>
              <a:sym typeface="Newsreader"/>
            </a:endParaRPr>
          </a:p>
          <a:p>
            <a:pPr indent="0" lvl="0" marL="457200" rtl="0" algn="l">
              <a:spcBef>
                <a:spcPts val="0"/>
              </a:spcBef>
              <a:spcAft>
                <a:spcPts val="0"/>
              </a:spcAft>
              <a:buNone/>
            </a:pPr>
            <a:r>
              <a:t/>
            </a:r>
            <a:endParaRPr sz="1300">
              <a:latin typeface="Newsreader"/>
              <a:ea typeface="Newsreader"/>
              <a:cs typeface="Newsreader"/>
              <a:sym typeface="Newsreader"/>
            </a:endParaRPr>
          </a:p>
          <a:p>
            <a:pPr indent="0" lvl="0" marL="457200" rtl="0" algn="l">
              <a:spcBef>
                <a:spcPts val="0"/>
              </a:spcBef>
              <a:spcAft>
                <a:spcPts val="0"/>
              </a:spcAft>
              <a:buNone/>
            </a:pPr>
            <a:r>
              <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1371600" rtl="0" algn="l">
              <a:spcBef>
                <a:spcPts val="0"/>
              </a:spcBef>
              <a:spcAft>
                <a:spcPts val="0"/>
              </a:spcAft>
              <a:buNone/>
            </a:pPr>
            <a:r>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2" name="Google Shape;642;p7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Trường Đại học Bách Khoa - Đại học Đà Nẵng</a:t>
            </a:r>
            <a:endParaRPr/>
          </a:p>
          <a:p>
            <a:pPr indent="0" lvl="0" marL="0" rtl="0" algn="l">
              <a:spcBef>
                <a:spcPts val="0"/>
              </a:spcBef>
              <a:spcAft>
                <a:spcPts val="0"/>
              </a:spcAft>
              <a:buNone/>
            </a:pPr>
            <a:r>
              <a:rPr lang="en"/>
              <a:t>	Khoa Công nghệ Thông tin</a:t>
            </a:r>
            <a:endParaRPr/>
          </a:p>
        </p:txBody>
      </p:sp>
      <p:sp>
        <p:nvSpPr>
          <p:cNvPr id="643" name="Google Shape;643;p76"/>
          <p:cNvSpPr txBox="1"/>
          <p:nvPr>
            <p:ph type="title"/>
          </p:nvPr>
        </p:nvSpPr>
        <p:spPr>
          <a:xfrm>
            <a:off x="636475" y="564050"/>
            <a:ext cx="8140200" cy="4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Câu </a:t>
            </a:r>
            <a:r>
              <a:rPr b="1" lang="en" sz="1500"/>
              <a:t>10</a:t>
            </a:r>
            <a:r>
              <a:rPr b="1" lang="en" sz="1500"/>
              <a:t>: </a:t>
            </a:r>
            <a:r>
              <a:rPr b="1" lang="en" sz="1500"/>
              <a:t>Nghịch lý chi phí cạnh âm: Không gian trạng thái hữu hạn, nghiệm tối ưu không bao giờ đạt đến đích.</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Ý tưởng: </a:t>
            </a:r>
            <a:r>
              <a:rPr lang="en" sz="1300">
                <a:latin typeface="Newsreader"/>
                <a:ea typeface="Newsreader"/>
                <a:cs typeface="Newsreader"/>
                <a:sym typeface="Newsreader"/>
              </a:rPr>
              <a:t>Có vòng lặp chi phí âm → agent liên tục quay vòng để giảm chi phí tổng → không bao giờ dừng ở goal.</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lang="en" sz="1300">
                <a:latin typeface="Newsreader"/>
                <a:ea typeface="Newsreader"/>
                <a:cs typeface="Newsreader"/>
                <a:sym typeface="Newsreader"/>
              </a:rPr>
              <a:t>Ví dụ:</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S --1--&gt; A --(-2)--&gt; S</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S --5--&gt; G</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Lặp S→A→S mãi để giảm chi phí trước khi đi S→G.</a:t>
            </a:r>
            <a:endParaRPr sz="1300">
              <a:solidFill>
                <a:srgbClr val="000000"/>
              </a:solidFill>
            </a:endParaRPr>
          </a:p>
          <a:p>
            <a:pPr indent="-323850" lvl="0" marL="457200" rtl="0" algn="l">
              <a:spcBef>
                <a:spcPts val="0"/>
              </a:spcBef>
              <a:spcAft>
                <a:spcPts val="0"/>
              </a:spcAft>
              <a:buSzPts val="1500"/>
              <a:buChar char="●"/>
            </a:pPr>
            <a:r>
              <a:rPr b="1" lang="en" sz="1500"/>
              <a:t>Câu </a:t>
            </a:r>
            <a:r>
              <a:rPr b="1" lang="en" sz="1500"/>
              <a:t>11</a:t>
            </a:r>
            <a:r>
              <a:rPr b="1" lang="en" sz="1500"/>
              <a:t>: </a:t>
            </a:r>
            <a:r>
              <a:rPr b="1" lang="en" sz="1500"/>
              <a:t>Bài toán ký hiệu: Dãy ký hiệu có độ dài ≤ 5, bảng chữ cái có hàng ngàn ký tự.</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Mô hình: </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State: Chuỗi ký tự đã chọn.</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Action: Thêm 1 ký tự mới từ alphabet.</a:t>
            </a:r>
            <a:endParaRPr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Goal: Chuỗi đúng theo yêu cầu.</a:t>
            </a:r>
            <a:endParaRPr sz="1300">
              <a:latin typeface="Newsreader"/>
              <a:ea typeface="Newsreader"/>
              <a:cs typeface="Newsreader"/>
              <a:sym typeface="Newsreader"/>
            </a:endParaRPr>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Chọn BFS hay DFS:</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DFS tốn ít bộ nhớ hơn, nhưng BFS đảm bảo shortest path.</a:t>
            </a:r>
            <a:endParaRPr b="1" sz="1300">
              <a:latin typeface="Newsreader"/>
              <a:ea typeface="Newsreader"/>
              <a:cs typeface="Newsreader"/>
              <a:sym typeface="Newsreader"/>
            </a:endParaRPr>
          </a:p>
          <a:p>
            <a:pPr indent="-311150" lvl="2" marL="1371600" rtl="0" algn="l">
              <a:spcBef>
                <a:spcPts val="0"/>
              </a:spcBef>
              <a:spcAft>
                <a:spcPts val="0"/>
              </a:spcAft>
              <a:buSzPts val="1300"/>
              <a:buFont typeface="Newsreader"/>
              <a:buChar char="■"/>
            </a:pPr>
            <a:r>
              <a:rPr lang="en" sz="1300">
                <a:latin typeface="Newsreader"/>
                <a:ea typeface="Newsreader"/>
                <a:cs typeface="Newsreader"/>
                <a:sym typeface="Newsreader"/>
              </a:rPr>
              <a:t>Có thể cải tiến bằng heuristic pruning hoặc beam search.</a:t>
            </a:r>
            <a:endParaRPr sz="1300">
              <a:latin typeface="Newsreader"/>
              <a:ea typeface="Newsreader"/>
              <a:cs typeface="Newsreader"/>
              <a:sym typeface="Newsreader"/>
            </a:endParaRPr>
          </a:p>
          <a:p>
            <a:pPr indent="-323850" lvl="0" marL="457200" rtl="0" algn="l">
              <a:spcBef>
                <a:spcPts val="0"/>
              </a:spcBef>
              <a:spcAft>
                <a:spcPts val="0"/>
              </a:spcAft>
              <a:buSzPts val="1500"/>
              <a:buChar char="●"/>
            </a:pPr>
            <a:r>
              <a:rPr b="1" lang="en" sz="1500"/>
              <a:t>Câu </a:t>
            </a:r>
            <a:r>
              <a:rPr b="1" lang="en" sz="1500"/>
              <a:t>12</a:t>
            </a:r>
            <a:r>
              <a:rPr b="1" lang="en" sz="1500"/>
              <a:t>: </a:t>
            </a:r>
            <a:r>
              <a:rPr b="1" lang="en" sz="1500"/>
              <a:t>Chỉnh sửa tìm kiếm lặp sâu dần để tìm đường đi có chi phí thấp nhất.</a:t>
            </a:r>
            <a:endParaRPr b="1" sz="1500"/>
          </a:p>
          <a:p>
            <a:pPr indent="-311150" lvl="1" marL="914400" rtl="0" algn="l">
              <a:spcBef>
                <a:spcPts val="0"/>
              </a:spcBef>
              <a:spcAft>
                <a:spcPts val="0"/>
              </a:spcAft>
              <a:buSzPts val="1300"/>
              <a:buFont typeface="Newsreader"/>
              <a:buChar char="○"/>
            </a:pPr>
            <a:r>
              <a:rPr b="1" lang="en" sz="1300">
                <a:latin typeface="Newsreader"/>
                <a:ea typeface="Newsreader"/>
                <a:cs typeface="Newsreader"/>
                <a:sym typeface="Newsreader"/>
              </a:rPr>
              <a:t>Ý tưởng: </a:t>
            </a:r>
            <a:r>
              <a:rPr lang="en" sz="1300">
                <a:latin typeface="Newsreader"/>
                <a:ea typeface="Newsreader"/>
                <a:cs typeface="Newsreader"/>
                <a:sym typeface="Newsreader"/>
              </a:rPr>
              <a:t>Thay vì giới hạn độ sâu thì giới hạn theo ngưỡng chi phí và tăng dần ngưỡng này qua mỗi vòng lặp. Mỗi nút khi mở rộng cần lưu tổng chi phí từ gốc và chỉ tiếp tục nếu chưa vượt quá ngưỡng. Quá trình lặp kết thúc khi tìm được nút đích với chi phí nhỏ nhất.</a:t>
            </a:r>
            <a:endParaRPr sz="1300">
              <a:latin typeface="Newsreader"/>
              <a:ea typeface="Newsreader"/>
              <a:cs typeface="Newsreader"/>
              <a:sym typeface="Newsreader"/>
            </a:endParaRPr>
          </a:p>
          <a:p>
            <a:pPr indent="0" lvl="0" marL="457200" rtl="0" algn="l">
              <a:spcBef>
                <a:spcPts val="0"/>
              </a:spcBef>
              <a:spcAft>
                <a:spcPts val="0"/>
              </a:spcAft>
              <a:buNone/>
            </a:pPr>
            <a:r>
              <a:t/>
            </a:r>
            <a:endParaRPr sz="1300">
              <a:latin typeface="Newsreader"/>
              <a:ea typeface="Newsreader"/>
              <a:cs typeface="Newsreader"/>
              <a:sym typeface="Newsreader"/>
            </a:endParaRPr>
          </a:p>
          <a:p>
            <a:pPr indent="0" lvl="0" marL="457200" rtl="0" algn="l">
              <a:spcBef>
                <a:spcPts val="0"/>
              </a:spcBef>
              <a:spcAft>
                <a:spcPts val="0"/>
              </a:spcAft>
              <a:buNone/>
            </a:pPr>
            <a:r>
              <a:t/>
            </a:r>
            <a:endParaRPr sz="1300">
              <a:latin typeface="Newsreader"/>
              <a:ea typeface="Newsreader"/>
              <a:cs typeface="Newsreader"/>
              <a:sym typeface="Newsreader"/>
            </a:endParaRPr>
          </a:p>
          <a:p>
            <a:pPr indent="0" lvl="0" marL="0" rtl="0" algn="l">
              <a:spcBef>
                <a:spcPts val="0"/>
              </a:spcBef>
              <a:spcAft>
                <a:spcPts val="0"/>
              </a:spcAft>
              <a:buNone/>
            </a:pPr>
            <a:r>
              <a:t/>
            </a:r>
            <a:endParaRPr sz="1300"/>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182880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1371600" rtl="0" algn="l">
              <a:spcBef>
                <a:spcPts val="0"/>
              </a:spcBef>
              <a:spcAft>
                <a:spcPts val="0"/>
              </a:spcAft>
              <a:buNone/>
            </a:pPr>
            <a:r>
              <a:t/>
            </a:r>
            <a:endParaRPr sz="1300">
              <a:latin typeface="Newsreader"/>
              <a:ea typeface="Newsreader"/>
              <a:cs typeface="Newsreader"/>
              <a:sym typeface="Newsreader"/>
            </a:endParaRPr>
          </a:p>
          <a:p>
            <a:pPr indent="0" lvl="0" marL="914400" rtl="0" algn="l">
              <a:spcBef>
                <a:spcPts val="0"/>
              </a:spcBef>
              <a:spcAft>
                <a:spcPts val="0"/>
              </a:spcAft>
              <a:buNone/>
            </a:pPr>
            <a:r>
              <a:rPr lang="en" sz="1300">
                <a:solidFill>
                  <a:srgbClr val="000000"/>
                </a:solidFill>
                <a:latin typeface="Courier New"/>
                <a:ea typeface="Courier New"/>
                <a:cs typeface="Courier New"/>
                <a:sym typeface="Courier New"/>
              </a:rPr>
              <a:t>   </a:t>
            </a:r>
            <a:endParaRPr sz="1300">
              <a:latin typeface="Courier New"/>
              <a:ea typeface="Courier New"/>
              <a:cs typeface="Courier New"/>
              <a:sym typeface="Courier New"/>
            </a:endParaRPr>
          </a:p>
          <a:p>
            <a:pPr indent="0" lvl="0" marL="914400" rtl="0" algn="l">
              <a:spcBef>
                <a:spcPts val="0"/>
              </a:spcBef>
              <a:spcAft>
                <a:spcPts val="0"/>
              </a:spcAft>
              <a:buNone/>
            </a:pPr>
            <a:r>
              <a:t/>
            </a:r>
            <a:endParaRPr sz="1300">
              <a:latin typeface="Newsreader"/>
              <a:ea typeface="Newsreader"/>
              <a:cs typeface="Newsreader"/>
              <a:sym typeface="Newsread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7"/>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Thank you</a:t>
            </a:r>
            <a:endParaRPr/>
          </a:p>
        </p:txBody>
      </p:sp>
      <p:sp>
        <p:nvSpPr>
          <p:cNvPr id="649" name="Google Shape;649;p77"/>
          <p:cNvSpPr txBox="1"/>
          <p:nvPr>
            <p:ph idx="1" type="subTitle"/>
          </p:nvPr>
        </p:nvSpPr>
        <p:spPr>
          <a:xfrm>
            <a:off x="451475" y="3776250"/>
            <a:ext cx="3370500" cy="7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Conclude the presentation by thanking your audience for listening and participating.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