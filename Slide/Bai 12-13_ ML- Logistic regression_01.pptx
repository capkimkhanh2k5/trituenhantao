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5710F5-C91D-4F1C-B980-B817760CFE95}">
  <a:tblStyle styleId="{985710F5-C91D-4F1C-B980-B817760CFE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9bc9154779_0_17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9bc9154779_0_1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Học tăng cường: học có thưởng ---&lt; khích lệ khi học </a:t>
            </a:r>
            <a:endParaRPr/>
          </a:p>
        </p:txBody>
      </p:sp>
      <p:sp>
        <p:nvSpPr>
          <p:cNvPr id="90" name="Google Shape;90;g9bc9154779_0_1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fb5afeb_0_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fb5afeb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776fb5afeb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e6225a8356_2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e6225a8356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e6225a8356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e6225a8356_1_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e6225a8356_1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e6225a8356_1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e6225a8356_1_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e6225a8356_1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5BBB"/>
              </a:buClr>
              <a:buSzPts val="2160"/>
              <a:buChar char="•"/>
            </a:pPr>
            <a:r>
              <a:rPr lang="en-US" sz="1800">
                <a:solidFill>
                  <a:srgbClr val="666666"/>
                </a:solidFill>
              </a:rPr>
              <a:t>Nghiên cứu cách biểu diễn hàm giả thuyết</a:t>
            </a:r>
            <a:endParaRPr/>
          </a:p>
        </p:txBody>
      </p:sp>
      <p:sp>
        <p:nvSpPr>
          <p:cNvPr id="134" name="Google Shape;134;ge6225a8356_1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e6225a8356_1_4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e6225a8356_1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5BBB"/>
              </a:buClr>
              <a:buSzPts val="2160"/>
              <a:buChar char="•"/>
            </a:pPr>
            <a:r>
              <a:rPr lang="en-US" sz="1800">
                <a:solidFill>
                  <a:srgbClr val="666666"/>
                </a:solidFill>
              </a:rPr>
              <a:t>Nghiên cứu cách biểu diễn hàm giả thuyết</a:t>
            </a:r>
            <a:endParaRPr/>
          </a:p>
        </p:txBody>
      </p:sp>
      <p:sp>
        <p:nvSpPr>
          <p:cNvPr id="150" name="Google Shape;150;ge6225a8356_1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e6225a8356_2_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e6225a8356_2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5BBB"/>
              </a:buClr>
              <a:buSzPts val="2160"/>
              <a:buChar char="•"/>
            </a:pPr>
            <a:r>
              <a:rPr lang="en-US" sz="1800">
                <a:solidFill>
                  <a:srgbClr val="666666"/>
                </a:solidFill>
              </a:rPr>
              <a:t>Nghiên cứu cách biểu diễn hàm giả thuyết</a:t>
            </a:r>
            <a:endParaRPr/>
          </a:p>
        </p:txBody>
      </p:sp>
      <p:sp>
        <p:nvSpPr>
          <p:cNvPr id="162" name="Google Shape;162;ge6225a8356_2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e6225a8356_2_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e6225a8356_2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5BBB"/>
              </a:buClr>
              <a:buSzPts val="2160"/>
              <a:buChar char="•"/>
            </a:pPr>
            <a:r>
              <a:rPr lang="en-US" sz="1800">
                <a:solidFill>
                  <a:srgbClr val="666666"/>
                </a:solidFill>
              </a:rPr>
              <a:t>Lam the nao de chon ham gia thuyet phu hop voi du lieu</a:t>
            </a:r>
            <a:endParaRPr/>
          </a:p>
        </p:txBody>
      </p:sp>
      <p:sp>
        <p:nvSpPr>
          <p:cNvPr id="175" name="Google Shape;175;ge6225a8356_2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e6225a8356_2_1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e6225a8356_2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6666"/>
                </a:solidFill>
              </a:rPr>
              <a:t>Cho m tập dữ liệu.</a:t>
            </a:r>
            <a:endParaRPr sz="18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6666"/>
                </a:solidFill>
              </a:rPr>
              <a:t>Toàn bộ dữ liệu thứ i chứa ( input xi và output yi)</a:t>
            </a:r>
            <a:endParaRPr sz="1800">
              <a:solidFill>
                <a:srgbClr val="666666"/>
              </a:solidFill>
            </a:endParaRPr>
          </a:p>
        </p:txBody>
      </p:sp>
      <p:sp>
        <p:nvSpPr>
          <p:cNvPr id="188" name="Google Shape;188;ge6225a8356_2_1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e6225a8356_2_15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e6225a8356_2_1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400"/>
              <a:buChar char="-"/>
            </a:pPr>
            <a:r>
              <a:rPr lang="en-US" sz="1800">
                <a:solidFill>
                  <a:srgbClr val="666666"/>
                </a:solidFill>
              </a:rPr>
              <a:t>Hàm J(Theta) không lồi ===&gt; Có nhiều điểm cực trị ===&gt; Tối ưu khó khăn </a:t>
            </a:r>
            <a:endParaRPr sz="1800">
              <a:solidFill>
                <a:srgbClr val="666666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Char char="-"/>
            </a:pPr>
            <a:r>
              <a:rPr lang="en-US" sz="1800">
                <a:solidFill>
                  <a:srgbClr val="666666"/>
                </a:solidFill>
              </a:rPr>
              <a:t>Hàm </a:t>
            </a:r>
            <a:endParaRPr sz="1800">
              <a:solidFill>
                <a:srgbClr val="666666"/>
              </a:solidFill>
            </a:endParaRPr>
          </a:p>
        </p:txBody>
      </p:sp>
      <p:sp>
        <p:nvSpPr>
          <p:cNvPr id="222" name="Google Shape;222;ge6225a8356_2_1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e6225a8356_2_17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e6225a8356_2_1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5BBB"/>
              </a:buClr>
              <a:buSzPts val="2160"/>
              <a:buChar char="•"/>
            </a:pPr>
            <a:r>
              <a:rPr lang="en-US" sz="1800">
                <a:solidFill>
                  <a:srgbClr val="666666"/>
                </a:solidFill>
              </a:rPr>
              <a:t>Lam the nao de chon ham gia thuyet phu hop voi du lieu</a:t>
            </a:r>
            <a:endParaRPr/>
          </a:p>
        </p:txBody>
      </p:sp>
      <p:sp>
        <p:nvSpPr>
          <p:cNvPr id="231" name="Google Shape;231;ge6225a8356_2_1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e75588169e_0_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e75588169e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5BBB"/>
              </a:buClr>
              <a:buSzPts val="2160"/>
              <a:buChar char="•"/>
            </a:pPr>
            <a:r>
              <a:rPr lang="en-US" sz="1800">
                <a:solidFill>
                  <a:srgbClr val="666666"/>
                </a:solidFill>
              </a:rPr>
              <a:t>Lam the nao de chon ham gia thuyet phu hop voi du lieu</a:t>
            </a:r>
            <a:endParaRPr/>
          </a:p>
        </p:txBody>
      </p:sp>
      <p:sp>
        <p:nvSpPr>
          <p:cNvPr id="245" name="Google Shape;245;ge75588169e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e6225a8356_2_19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e6225a8356_2_1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5BBB"/>
              </a:buClr>
              <a:buSzPts val="2160"/>
              <a:buChar char="•"/>
            </a:pPr>
            <a:r>
              <a:rPr lang="en-US" sz="1800">
                <a:solidFill>
                  <a:srgbClr val="666666"/>
                </a:solidFill>
              </a:rPr>
              <a:t>Lam the nao de chon ham gia thuyet phu hop voi du lieu</a:t>
            </a:r>
            <a:endParaRPr/>
          </a:p>
        </p:txBody>
      </p:sp>
      <p:sp>
        <p:nvSpPr>
          <p:cNvPr id="258" name="Google Shape;258;ge6225a8356_2_1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e75588169e_2_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e75588169e_2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5BBB"/>
              </a:buClr>
              <a:buSzPts val="2160"/>
              <a:buChar char="•"/>
            </a:pPr>
            <a:r>
              <a:rPr lang="en-US" sz="1800">
                <a:solidFill>
                  <a:srgbClr val="666666"/>
                </a:solidFill>
              </a:rPr>
              <a:t>Lam the nao de chon ham gia thuyet phu hop voi du lieu</a:t>
            </a:r>
            <a:endParaRPr/>
          </a:p>
        </p:txBody>
      </p:sp>
      <p:sp>
        <p:nvSpPr>
          <p:cNvPr id="270" name="Google Shape;270;ge75588169e_2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e75588169e_2_4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e75588169e_2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5BBB"/>
              </a:buClr>
              <a:buSzPts val="2160"/>
              <a:buChar char="•"/>
            </a:pPr>
            <a:r>
              <a:rPr lang="en-US" sz="1800">
                <a:solidFill>
                  <a:srgbClr val="666666"/>
                </a:solidFill>
              </a:rPr>
              <a:t>Lam the nao de chon ham gia thuyet phu hop voi du lieu</a:t>
            </a:r>
            <a:endParaRPr/>
          </a:p>
        </p:txBody>
      </p:sp>
      <p:sp>
        <p:nvSpPr>
          <p:cNvPr id="281" name="Google Shape;281;ge75588169e_2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e75588169e_2_6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e75588169e_2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5BBB"/>
              </a:buClr>
              <a:buSzPts val="2160"/>
              <a:buChar char="•"/>
            </a:pPr>
            <a:r>
              <a:rPr lang="en-US" sz="1800">
                <a:solidFill>
                  <a:srgbClr val="666666"/>
                </a:solidFill>
              </a:rPr>
              <a:t>Lam the nao de chon ham gia thuyet phu hop voi du lieu</a:t>
            </a:r>
            <a:endParaRPr/>
          </a:p>
        </p:txBody>
      </p:sp>
      <p:sp>
        <p:nvSpPr>
          <p:cNvPr id="293" name="Google Shape;293;ge75588169e_2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e75588169e_2_5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e75588169e_2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e75588169e_2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b8479725ec_0_6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b8479725ec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5BBB"/>
              </a:buClr>
              <a:buSzPts val="2160"/>
              <a:buChar char="•"/>
            </a:pPr>
            <a:r>
              <a:rPr lang="en-US" sz="1800">
                <a:solidFill>
                  <a:srgbClr val="666666"/>
                </a:solidFill>
              </a:rPr>
              <a:t>Lam the nao de chon ham gia thuyet phu hop voi du lieu</a:t>
            </a:r>
            <a:endParaRPr/>
          </a:p>
        </p:txBody>
      </p:sp>
      <p:sp>
        <p:nvSpPr>
          <p:cNvPr id="312" name="Google Shape;312;gb8479725ec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b8479725ec_0_9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b8479725ec_0_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b8479725ec_0_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fd9374c195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fd9374c19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fd9374c19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b8479725ec_0_8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b8479725ec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b8479725ec_0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93776" y="3968497"/>
            <a:ext cx="4978908" cy="1650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i="0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type="ctrTitle"/>
          </p:nvPr>
        </p:nvSpPr>
        <p:spPr>
          <a:xfrm>
            <a:off x="493776" y="1239123"/>
            <a:ext cx="4978908" cy="2386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" name="Google Shape;20;p2"/>
          <p:cNvCxnSpPr/>
          <p:nvPr/>
        </p:nvCxnSpPr>
        <p:spPr>
          <a:xfrm>
            <a:off x="276359" y="2216727"/>
            <a:ext cx="0" cy="340215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21" name="Google Shape;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569" y="129505"/>
            <a:ext cx="5210286" cy="1109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>
  <p:cSld name="Divider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493776" y="1490663"/>
            <a:ext cx="4978908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1" i="0" sz="5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493776" y="3970337"/>
            <a:ext cx="4978908" cy="22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800"/>
            </a:lvl3pPr>
            <a:lvl4pPr lvl="3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4pPr>
            <a:lvl5pPr lvl="4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25196" y="1001018"/>
            <a:ext cx="5213604" cy="10895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25196" y="2185417"/>
            <a:ext cx="5213604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ouble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25196" y="1499616"/>
            <a:ext cx="78867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25196" y="2185416"/>
            <a:ext cx="3375279" cy="3948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057650" y="2185416"/>
            <a:ext cx="3374136" cy="3950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25196" y="1499616"/>
            <a:ext cx="78867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25196" y="2185416"/>
            <a:ext cx="3854196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25197" y="2593340"/>
            <a:ext cx="3855386" cy="35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3" type="body"/>
          </p:nvPr>
        </p:nvSpPr>
        <p:spPr>
          <a:xfrm>
            <a:off x="4629150" y="2185416"/>
            <a:ext cx="3854196" cy="37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4" type="body"/>
          </p:nvPr>
        </p:nvSpPr>
        <p:spPr>
          <a:xfrm>
            <a:off x="4629150" y="2590800"/>
            <a:ext cx="3854196" cy="3538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Photo">
  <p:cSld name="Content and Photo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>
            <p:ph idx="2" type="pic"/>
          </p:nvPr>
        </p:nvSpPr>
        <p:spPr>
          <a:xfrm>
            <a:off x="3823924" y="927100"/>
            <a:ext cx="5320076" cy="59309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360"/>
              <a:buFont typeface="NTR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80"/>
              <a:buFont typeface="NTR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425196" y="1499616"/>
            <a:ext cx="318668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25196" y="2185417"/>
            <a:ext cx="3186684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Three Photos">
  <p:cSld name="Content and Three Photo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type="title"/>
          </p:nvPr>
        </p:nvSpPr>
        <p:spPr>
          <a:xfrm>
            <a:off x="425196" y="1499616"/>
            <a:ext cx="318668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" type="body"/>
          </p:nvPr>
        </p:nvSpPr>
        <p:spPr>
          <a:xfrm>
            <a:off x="425196" y="2185417"/>
            <a:ext cx="3186684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/>
          <p:nvPr>
            <p:ph idx="2" type="pic"/>
          </p:nvPr>
        </p:nvSpPr>
        <p:spPr>
          <a:xfrm>
            <a:off x="3835974" y="934720"/>
            <a:ext cx="5308027" cy="3064678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360"/>
              <a:buFont typeface="NTR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80"/>
              <a:buFont typeface="NTR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8"/>
          <p:cNvSpPr/>
          <p:nvPr>
            <p:ph idx="3" type="pic"/>
          </p:nvPr>
        </p:nvSpPr>
        <p:spPr>
          <a:xfrm>
            <a:off x="3835973" y="3998296"/>
            <a:ext cx="2701892" cy="2857500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360"/>
              <a:buFont typeface="NTR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80"/>
              <a:buFont typeface="NTR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8"/>
          <p:cNvSpPr/>
          <p:nvPr>
            <p:ph idx="4" type="pic"/>
          </p:nvPr>
        </p:nvSpPr>
        <p:spPr>
          <a:xfrm>
            <a:off x="6525817" y="3998296"/>
            <a:ext cx="2618184" cy="2857500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360"/>
              <a:buFont typeface="NTR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80"/>
              <a:buFont typeface="NTR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Width Photo">
  <p:cSld name="Full Width Photo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425196" y="1499616"/>
            <a:ext cx="78867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/>
          <p:nvPr>
            <p:ph idx="2" type="pic"/>
          </p:nvPr>
        </p:nvSpPr>
        <p:spPr>
          <a:xfrm>
            <a:off x="0" y="927100"/>
            <a:ext cx="9144000" cy="59309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360"/>
              <a:buFont typeface="NTR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80"/>
              <a:buFont typeface="NTR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Graph">
  <p:cSld name="Content and Graph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425196" y="1499616"/>
            <a:ext cx="318668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" type="body"/>
          </p:nvPr>
        </p:nvSpPr>
        <p:spPr>
          <a:xfrm>
            <a:off x="425196" y="2185417"/>
            <a:ext cx="3186684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0"/>
          <p:cNvSpPr/>
          <p:nvPr>
            <p:ph idx="2" type="chart"/>
          </p:nvPr>
        </p:nvSpPr>
        <p:spPr>
          <a:xfrm>
            <a:off x="3871451" y="1976285"/>
            <a:ext cx="4743864" cy="3967316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ed List">
  <p:cSld name="Bulleted Lis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425196" y="1001018"/>
            <a:ext cx="5213604" cy="10895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25196" y="2185417"/>
            <a:ext cx="5213604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6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5196" y="1499616"/>
            <a:ext cx="78867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Georgia"/>
              <a:buNone/>
              <a:defRPr b="0" i="0" sz="3600" u="none" cap="none" strike="noStrik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25196" y="2185417"/>
            <a:ext cx="7886700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5760" lvl="2" marL="13716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5760" lvl="3" marL="18288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5760" lvl="4" marL="22860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/>
        </p:nvSpPr>
        <p:spPr>
          <a:xfrm>
            <a:off x="5542161" y="217021"/>
            <a:ext cx="2769394" cy="487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Công Nghệ Thông Tin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TS. Nguyễn Văn Hiệu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8311897" y="134971"/>
            <a:ext cx="645414" cy="5958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KHOA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02631" y="-33229"/>
            <a:ext cx="4323649" cy="9207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1555" y="140531"/>
            <a:ext cx="702733" cy="622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9" Type="http://schemas.openxmlformats.org/officeDocument/2006/relationships/image" Target="../media/image21.png"/><Relationship Id="rId5" Type="http://schemas.openxmlformats.org/officeDocument/2006/relationships/image" Target="../media/image13.png"/><Relationship Id="rId6" Type="http://schemas.openxmlformats.org/officeDocument/2006/relationships/image" Target="../media/image25.png"/><Relationship Id="rId7" Type="http://schemas.openxmlformats.org/officeDocument/2006/relationships/image" Target="../media/image17.png"/><Relationship Id="rId8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35.png"/><Relationship Id="rId5" Type="http://schemas.openxmlformats.org/officeDocument/2006/relationships/image" Target="../media/image50.png"/><Relationship Id="rId6" Type="http://schemas.openxmlformats.org/officeDocument/2006/relationships/image" Target="../media/image33.png"/><Relationship Id="rId7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39.png"/><Relationship Id="rId5" Type="http://schemas.openxmlformats.org/officeDocument/2006/relationships/image" Target="../media/image31.png"/><Relationship Id="rId6" Type="http://schemas.openxmlformats.org/officeDocument/2006/relationships/image" Target="../media/image27.png"/><Relationship Id="rId7" Type="http://schemas.openxmlformats.org/officeDocument/2006/relationships/image" Target="../media/image51.png"/><Relationship Id="rId8" Type="http://schemas.openxmlformats.org/officeDocument/2006/relationships/image" Target="../media/image5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2.png"/><Relationship Id="rId4" Type="http://schemas.openxmlformats.org/officeDocument/2006/relationships/image" Target="../media/image40.png"/><Relationship Id="rId5" Type="http://schemas.openxmlformats.org/officeDocument/2006/relationships/image" Target="../media/image32.png"/><Relationship Id="rId6" Type="http://schemas.openxmlformats.org/officeDocument/2006/relationships/image" Target="../media/image56.png"/><Relationship Id="rId7" Type="http://schemas.openxmlformats.org/officeDocument/2006/relationships/image" Target="../media/image41.png"/><Relationship Id="rId8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58.png"/><Relationship Id="rId11" Type="http://schemas.openxmlformats.org/officeDocument/2006/relationships/image" Target="../media/image46.png"/><Relationship Id="rId22" Type="http://schemas.openxmlformats.org/officeDocument/2006/relationships/image" Target="../media/image63.png"/><Relationship Id="rId10" Type="http://schemas.openxmlformats.org/officeDocument/2006/relationships/image" Target="../media/image34.png"/><Relationship Id="rId21" Type="http://schemas.openxmlformats.org/officeDocument/2006/relationships/image" Target="../media/image68.png"/><Relationship Id="rId13" Type="http://schemas.openxmlformats.org/officeDocument/2006/relationships/image" Target="../media/image47.png"/><Relationship Id="rId24" Type="http://schemas.openxmlformats.org/officeDocument/2006/relationships/image" Target="../media/image53.png"/><Relationship Id="rId12" Type="http://schemas.openxmlformats.org/officeDocument/2006/relationships/image" Target="../media/image69.png"/><Relationship Id="rId23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3.png"/><Relationship Id="rId4" Type="http://schemas.openxmlformats.org/officeDocument/2006/relationships/image" Target="../media/image26.png"/><Relationship Id="rId9" Type="http://schemas.openxmlformats.org/officeDocument/2006/relationships/image" Target="../media/image55.png"/><Relationship Id="rId15" Type="http://schemas.openxmlformats.org/officeDocument/2006/relationships/image" Target="../media/image49.png"/><Relationship Id="rId14" Type="http://schemas.openxmlformats.org/officeDocument/2006/relationships/image" Target="../media/image57.png"/><Relationship Id="rId17" Type="http://schemas.openxmlformats.org/officeDocument/2006/relationships/image" Target="../media/image44.png"/><Relationship Id="rId16" Type="http://schemas.openxmlformats.org/officeDocument/2006/relationships/image" Target="../media/image62.png"/><Relationship Id="rId5" Type="http://schemas.openxmlformats.org/officeDocument/2006/relationships/image" Target="../media/image28.png"/><Relationship Id="rId19" Type="http://schemas.openxmlformats.org/officeDocument/2006/relationships/image" Target="../media/image48.png"/><Relationship Id="rId6" Type="http://schemas.openxmlformats.org/officeDocument/2006/relationships/image" Target="../media/image52.png"/><Relationship Id="rId18" Type="http://schemas.openxmlformats.org/officeDocument/2006/relationships/image" Target="../media/image59.png"/><Relationship Id="rId7" Type="http://schemas.openxmlformats.org/officeDocument/2006/relationships/image" Target="../media/image38.png"/><Relationship Id="rId8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1.png"/><Relationship Id="rId4" Type="http://schemas.openxmlformats.org/officeDocument/2006/relationships/image" Target="../media/image6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4.png"/><Relationship Id="rId4" Type="http://schemas.openxmlformats.org/officeDocument/2006/relationships/image" Target="../media/image72.png"/><Relationship Id="rId5" Type="http://schemas.openxmlformats.org/officeDocument/2006/relationships/image" Target="../media/image67.png"/><Relationship Id="rId6" Type="http://schemas.openxmlformats.org/officeDocument/2006/relationships/image" Target="../media/image6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4.png"/><Relationship Id="rId4" Type="http://schemas.openxmlformats.org/officeDocument/2006/relationships/image" Target="../media/image78.png"/><Relationship Id="rId5" Type="http://schemas.openxmlformats.org/officeDocument/2006/relationships/image" Target="../media/image77.png"/><Relationship Id="rId6" Type="http://schemas.openxmlformats.org/officeDocument/2006/relationships/image" Target="../media/image6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9.png"/><Relationship Id="rId4" Type="http://schemas.openxmlformats.org/officeDocument/2006/relationships/image" Target="../media/image73.png"/><Relationship Id="rId5" Type="http://schemas.openxmlformats.org/officeDocument/2006/relationships/image" Target="../media/image70.png"/><Relationship Id="rId6" Type="http://schemas.openxmlformats.org/officeDocument/2006/relationships/image" Target="../media/image74.png"/><Relationship Id="rId7" Type="http://schemas.openxmlformats.org/officeDocument/2006/relationships/image" Target="../media/image6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4.png"/><Relationship Id="rId4" Type="http://schemas.openxmlformats.org/officeDocument/2006/relationships/image" Target="../media/image82.png"/><Relationship Id="rId5" Type="http://schemas.openxmlformats.org/officeDocument/2006/relationships/image" Target="../media/image71.png"/><Relationship Id="rId6" Type="http://schemas.openxmlformats.org/officeDocument/2006/relationships/image" Target="../media/image8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4.png"/><Relationship Id="rId4" Type="http://schemas.openxmlformats.org/officeDocument/2006/relationships/image" Target="../media/image71.png"/><Relationship Id="rId5" Type="http://schemas.openxmlformats.org/officeDocument/2006/relationships/image" Target="../media/image43.png"/><Relationship Id="rId6" Type="http://schemas.openxmlformats.org/officeDocument/2006/relationships/image" Target="../media/image80.png"/><Relationship Id="rId7" Type="http://schemas.openxmlformats.org/officeDocument/2006/relationships/image" Target="../media/image7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6.png"/><Relationship Id="rId4" Type="http://schemas.openxmlformats.org/officeDocument/2006/relationships/image" Target="../media/image81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6.png"/><Relationship Id="rId4" Type="http://schemas.openxmlformats.org/officeDocument/2006/relationships/image" Target="../media/image85.png"/><Relationship Id="rId5" Type="http://schemas.openxmlformats.org/officeDocument/2006/relationships/image" Target="../media/image43.png"/><Relationship Id="rId6" Type="http://schemas.openxmlformats.org/officeDocument/2006/relationships/image" Target="../media/image88.png"/><Relationship Id="rId7" Type="http://schemas.openxmlformats.org/officeDocument/2006/relationships/image" Target="../media/image7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realpython.com/logistic-regression-python/#single-variate-logistic-regression" TargetMode="External"/><Relationship Id="rId4" Type="http://schemas.openxmlformats.org/officeDocument/2006/relationships/hyperlink" Target="https://www.youtube.com/watch?v=-la3q9d7AK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ctrTitle"/>
          </p:nvPr>
        </p:nvSpPr>
        <p:spPr>
          <a:xfrm>
            <a:off x="510473" y="1804112"/>
            <a:ext cx="5620003" cy="20204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TRÍ TUỆ NHÂN TẠO</a:t>
            </a:r>
            <a:endParaRPr/>
          </a:p>
        </p:txBody>
      </p:sp>
      <p:sp>
        <p:nvSpPr>
          <p:cNvPr id="71" name="Google Shape;71;p12"/>
          <p:cNvSpPr txBox="1"/>
          <p:nvPr/>
        </p:nvSpPr>
        <p:spPr>
          <a:xfrm>
            <a:off x="1309143" y="4828745"/>
            <a:ext cx="4944078" cy="610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Khoa Công Nghệ Thông Tin</a:t>
            </a:r>
            <a:endParaRPr b="1" i="0" sz="16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TS. Nguyễn Văn Hiệu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2"/>
          <p:cNvSpPr/>
          <p:nvPr/>
        </p:nvSpPr>
        <p:spPr>
          <a:xfrm>
            <a:off x="437871" y="4735071"/>
            <a:ext cx="797773" cy="79777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KHOA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464" y="4764626"/>
            <a:ext cx="743275" cy="72841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/>
          <p:nvPr>
            <p:ph type="ctrTitle"/>
          </p:nvPr>
        </p:nvSpPr>
        <p:spPr>
          <a:xfrm>
            <a:off x="493776" y="1490663"/>
            <a:ext cx="4978908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2071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/>
              <a:t>TRÍ TUỆ NHÂN TẠO</a:t>
            </a:r>
            <a:endParaRPr/>
          </a:p>
        </p:txBody>
      </p:sp>
      <p:sp>
        <p:nvSpPr>
          <p:cNvPr id="79" name="Google Shape;79;p13"/>
          <p:cNvSpPr txBox="1"/>
          <p:nvPr>
            <p:ph idx="1" type="subTitle"/>
          </p:nvPr>
        </p:nvSpPr>
        <p:spPr>
          <a:xfrm>
            <a:off x="327025" y="3775800"/>
            <a:ext cx="4487400" cy="11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</a:pPr>
            <a:r>
              <a:rPr lang="en-US"/>
              <a:t>Bài 12-13: 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</a:pPr>
            <a:r>
              <a:rPr lang="en-US"/>
              <a:t>              Logistic Regression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425196" y="1499616"/>
            <a:ext cx="521360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Georgia"/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85" name="Google Shape;85;p14"/>
          <p:cNvSpPr txBox="1"/>
          <p:nvPr>
            <p:ph idx="1" type="body"/>
          </p:nvPr>
        </p:nvSpPr>
        <p:spPr>
          <a:xfrm>
            <a:off x="425200" y="2185425"/>
            <a:ext cx="85044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Giới thiệu</a:t>
            </a:r>
            <a:endParaRPr sz="2400"/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Logistic Regression Model</a:t>
            </a:r>
            <a:endParaRPr sz="2400"/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Bài toán phân lớp</a:t>
            </a:r>
            <a:endParaRPr sz="2400"/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Xây </a:t>
            </a:r>
            <a:r>
              <a:rPr lang="en-US" sz="2400"/>
              <a:t>dựng</a:t>
            </a:r>
            <a:r>
              <a:rPr lang="en-US" sz="2400"/>
              <a:t> mất mát </a:t>
            </a:r>
            <a:endParaRPr sz="2400"/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Tối ưu hàm mất mát</a:t>
            </a:r>
            <a:endParaRPr sz="2400"/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Demo</a:t>
            </a:r>
            <a:endParaRPr sz="2400"/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Bài tập</a:t>
            </a:r>
            <a:endParaRPr sz="2400"/>
          </a:p>
        </p:txBody>
      </p:sp>
      <p:sp>
        <p:nvSpPr>
          <p:cNvPr id="86" name="Google Shape;86;p14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type="title"/>
          </p:nvPr>
        </p:nvSpPr>
        <p:spPr>
          <a:xfrm>
            <a:off x="425200" y="1001025"/>
            <a:ext cx="80190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Giới thiệu</a:t>
            </a:r>
            <a:endParaRPr/>
          </a:p>
        </p:txBody>
      </p:sp>
      <p:sp>
        <p:nvSpPr>
          <p:cNvPr id="93" name="Google Shape;93;p15"/>
          <p:cNvSpPr txBox="1"/>
          <p:nvPr>
            <p:ph idx="1" type="body"/>
          </p:nvPr>
        </p:nvSpPr>
        <p:spPr>
          <a:xfrm>
            <a:off x="425200" y="2185425"/>
            <a:ext cx="8115300" cy="44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t/>
            </a:r>
            <a:endParaRPr/>
          </a:p>
        </p:txBody>
      </p:sp>
      <p:pic>
        <p:nvPicPr>
          <p:cNvPr id="94" name="Google Shape;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00" y="1998125"/>
            <a:ext cx="8392226" cy="443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 txBox="1"/>
          <p:nvPr/>
        </p:nvSpPr>
        <p:spPr>
          <a:xfrm>
            <a:off x="431100" y="5434425"/>
            <a:ext cx="1640100" cy="1046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425196" y="1001018"/>
            <a:ext cx="5213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thiệu(t.)</a:t>
            </a:r>
            <a:endParaRPr/>
          </a:p>
        </p:txBody>
      </p:sp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425200" y="2185425"/>
            <a:ext cx="8227500" cy="438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Ví dụ bài toán phân lớp 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Email Spam/Not Spam: Thư nào nên bỏ vào thùng rác?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Tumor benign/malignant: Ung thư lành tính hay ác tính?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Online Transactions: Giao dịch lừa đảo hay không ?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 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0: “lớp âm”( negative class) [có nghĩa:  ung thư lành tính]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1: “lớp dương”(positive class) [ có nghĩa : ung thư ác tính]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Bài toán phân lớp: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0|1 - Phân lớp nhị phân 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                                     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aid&quot;:null,&quot;backgroundColorModified&quot;:null,&quot;type&quot;:&quot;$&quot;,&quot;font&quot;:{&quot;color&quot;:&quot;#666666&quot;,&quot;size&quot;:18,&quot;family&quot;:&quot;Arial&quot;},&quot;code&quot;:&quot;$y\\,\\in\\left\\{0,\\,1\\right\\}$&quot;,&quot;backgroundColor&quot;:&quot;#ffffff&quot;,&quot;id&quot;:&quot;17&quot;,&quot;ts&quot;:1627112673895,&quot;cs&quot;:&quot;j/ZKI0mXIxI73YFKfOVagA==&quot;,&quot;size&quot;:{&quot;width&quot;:123.66666666666667,&quot;height&quot;:28.666666666666668}}" id="103" name="Google Shape;10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2150" y="4034125"/>
            <a:ext cx="1177925" cy="27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y\\,\\in\\left\\{0,\\,1,2,3,4,...\\right\\}$&quot;,&quot;backgroundColor&quot;:&quot;#ffffff&quot;,&quot;type&quot;:&quot;$&quot;,&quot;font&quot;:{&quot;color&quot;:&quot;#666666&quot;,&quot;family&quot;:&quot;Arial&quot;,&quot;size&quot;:18},&quot;backgroundColorModified&quot;:false,&quot;id&quot;:&quot;17&quot;,&quot;aid&quot;:null,&quot;ts&quot;:1627113043345,&quot;cs&quot;:&quot;DyiBiGpRTqcZAoCSXVoQyQ==&quot;,&quot;size&quot;:{&quot;width&quot;:253.59999999999994,&quot;height&quot;:28.600000000000012}}" id="104" name="Google Shape;10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6300" y="6150954"/>
            <a:ext cx="2415540" cy="272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425196" y="1001018"/>
            <a:ext cx="5213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thiệu(</a:t>
            </a:r>
            <a:r>
              <a:rPr lang="en-US"/>
              <a:t>t.)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425200" y="2185425"/>
            <a:ext cx="8227500" cy="438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Hàm giả thuyết hồi quy tuyến tính không dùng cho bài toán phân lớp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Ví dụ: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t/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Dự đoán cần đặt ngưỡng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275" y="3206800"/>
            <a:ext cx="1945526" cy="188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3100" y="3243600"/>
            <a:ext cx="2368225" cy="180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&quot;:&quot;#ffffff&quot;,&quot;backgroundColorModified&quot;:null,&quot;code&quot;:&quot;$h_{\\theta}\\left(x\\right)=\\theta^{T}x$&quot;,&quot;font&quot;:{&quot;color&quot;:&quot;#666666&quot;,&quot;family&quot;:&quot;Arial&quot;,&quot;size&quot;:18},&quot;id&quot;:&quot;18&quot;,&quot;type&quot;:&quot;$&quot;,&quot;ts&quot;:1627115341661,&quot;cs&quot;:&quot;7xFQTEeBe1F2lC9B/E/VPQ==&quot;,&quot;size&quot;:{&quot;width&quot;:144.33333333333334,&quot;height&quot;:31.166666666666668}}" id="114" name="Google Shape;11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1100" y="2909925"/>
            <a:ext cx="1374775" cy="296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Arial&quot;,&quot;color&quot;:&quot;#666666&quot;,&quot;size&quot;:18},&quot;backgroundColor&quot;:&quot;#ffffff&quot;,&quot;type&quot;:&quot;$&quot;,&quot;code&quot;:&quot;$h_{\\theta}\\left(x\\right)=\\theta^{T}x=\\begin{cases}\n{\\geqslant0.5}&amp;{y\\,=\\,1}\\\\\n{&lt;0.5}&amp;{y\\,=\\,0}\\\\\n\\end{cases}$&quot;,&quot;aid&quot;:null,&quot;id&quot;:&quot;19&quot;,&quot;backgroundColorModified&quot;:false,&quot;ts&quot;:1627115648545,&quot;cs&quot;:&quot;+K8s/dXgFOTz/06R8Yfrjg==&quot;,&quot;size&quot;:{&quot;width&quot;:373,&quot;height&quot;:68}}" id="115" name="Google Shape;115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00625" y="5684975"/>
            <a:ext cx="3552825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76875" y="3005075"/>
            <a:ext cx="3122025" cy="2045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&quot;:&quot;#ffffff&quot;,&quot;backgroundColorModified&quot;:null,&quot;code&quot;:&quot;$h_{\\theta}\\left(x\\right)=\\theta^{T}x$&quot;,&quot;font&quot;:{&quot;color&quot;:&quot;#666666&quot;,&quot;family&quot;:&quot;Arial&quot;,&quot;size&quot;:18},&quot;id&quot;:&quot;18&quot;,&quot;type&quot;:&quot;$&quot;,&quot;ts&quot;:1627115341661,&quot;cs&quot;:&quot;7xFQTEeBe1F2lC9B/E/VPQ==&quot;,&quot;size&quot;:{&quot;width&quot;:144.33333333333334,&quot;height&quot;:31.166666666666668}}" id="117" name="Google Shape;11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6775" y="2832175"/>
            <a:ext cx="1374775" cy="29686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/>
        </p:nvSpPr>
        <p:spPr>
          <a:xfrm>
            <a:off x="133100" y="4116500"/>
            <a:ext cx="89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Ác tính ? </a:t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211375" y="3429250"/>
            <a:ext cx="52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Yes</a:t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207806" y="4687225"/>
            <a:ext cx="52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1268625" y="4893450"/>
            <a:ext cx="121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Tumor size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425196" y="1001018"/>
            <a:ext cx="5213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thiệu(</a:t>
            </a:r>
            <a:r>
              <a:rPr lang="en-US"/>
              <a:t>t.)</a:t>
            </a:r>
            <a:endParaRPr/>
          </a:p>
        </p:txBody>
      </p:sp>
      <p:sp>
        <p:nvSpPr>
          <p:cNvPr id="128" name="Google Shape;128;p18"/>
          <p:cNvSpPr txBox="1"/>
          <p:nvPr>
            <p:ph idx="1" type="body"/>
          </p:nvPr>
        </p:nvSpPr>
        <p:spPr>
          <a:xfrm>
            <a:off x="425200" y="2185425"/>
            <a:ext cx="8227500" cy="438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Tác vụ:  Y = 0 hoặc Y = 1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Linear Regression: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Logistic Regression:   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code&quot;:&quot;$h_{\\theta}\\left(x\\right)&lt;0\\,\\,\\left|\\right|h_{\\theta}\\left(x\\right)&gt;1$&quot;,&quot;font&quot;:{&quot;color&quot;:&quot;#666666&quot;,&quot;size&quot;:18,&quot;family&quot;:&quot;Arial&quot;},&quot;aid&quot;:null,&quot;backgroundColorModified&quot;:false,&quot;type&quot;:&quot;$&quot;,&quot;backgroundColor&quot;:&quot;#ffffff&quot;,&quot;id&quot;:&quot;18&quot;,&quot;ts&quot;:1627120050149,&quot;cs&quot;:&quot;nMj8xz+Emj2ieGgmdWs03g==&quot;,&quot;size&quot;:{&quot;width&quot;:254.60000000000002,&quot;height&quot;:28.600000000000012}}" id="129" name="Google Shape;12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5722" y="3714519"/>
            <a:ext cx="2425065" cy="2724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id&quot;:&quot;18&quot;,&quot;aid&quot;:null,&quot;font&quot;:{&quot;family&quot;:&quot;Arial&quot;,&quot;size&quot;:18,&quot;color&quot;:&quot;#666666&quot;},&quot;backgroundColorModified&quot;:false,&quot;code&quot;:&quot;$0\\leqslant h_{\\theta}\\left(x\\right)\\leqslant1$&quot;,&quot;type&quot;:&quot;$&quot;,&quot;ts&quot;:1627117901331,&quot;cs&quot;:&quot;BeDSrDg6+e6x6CmFLcmcTg==&quot;,&quot;size&quot;:{&quot;width&quot;:164.99999999999997,&quot;height&quot;:28.666666666666668}}" id="130" name="Google Shape;13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7545" y="5080673"/>
            <a:ext cx="1571625" cy="273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425202" y="1001025"/>
            <a:ext cx="7556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Logistic Regression Model</a:t>
            </a:r>
            <a:endParaRPr/>
          </a:p>
        </p:txBody>
      </p:sp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425200" y="2185425"/>
            <a:ext cx="8227500" cy="438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Linear Regression: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Logistic regression: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g(z) hàm sigmoid hay hàm logistic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Trực quan: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Dự đoán: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y = 1, nếu                      ,  hay  y =1, nếu</a:t>
            </a:r>
            <a:endParaRPr/>
          </a:p>
          <a:p>
            <a:pPr indent="-36576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y = 0, nếu                       , hay y = 0, nếu  </a:t>
            </a:r>
            <a:endParaRPr/>
          </a:p>
        </p:txBody>
      </p:sp>
      <p:pic>
        <p:nvPicPr>
          <p:cNvPr descr="{&quot;aid&quot;:null,&quot;backgroundColor&quot;:&quot;#ffffff&quot;,&quot;backgroundColorModified&quot;:null,&quot;code&quot;:&quot;$h_{\\theta}\\left(x\\right)=\\theta^{T}x$&quot;,&quot;font&quot;:{&quot;color&quot;:&quot;#666666&quot;,&quot;family&quot;:&quot;Arial&quot;,&quot;size&quot;:18},&quot;id&quot;:&quot;18&quot;,&quot;type&quot;:&quot;$&quot;,&quot;ts&quot;:1627115341661,&quot;cs&quot;:&quot;7xFQTEeBe1F2lC9B/E/VPQ==&quot;,&quot;size&quot;:{&quot;width&quot;:144.33333333333334,&quot;height&quot;:31.166666666666668}}" id="138" name="Google Shape;13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248" y="2329096"/>
            <a:ext cx="1374775" cy="296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type&quot;:&quot;lalign*&quot;,&quot;id&quot;:&quot;18&quot;,&quot;font&quot;:{&quot;color&quot;:&quot;#666666&quot;,&quot;size&quot;:18,&quot;family&quot;:&quot;Arial&quot;},&quot;backgroundColor&quot;:&quot;#ffffff&quot;,&quot;code&quot;:&quot;\\begin{lalign*}\n&amp;{h_{\\theta}\\left(x\\right)=g\\left(\\theta^{T}x\\right),\\,g\\left(z\\right)=\\frac{1}{1+e^{-z}}}\\\\\n\\end{lalign*}&quot;,&quot;backgroundColorModified&quot;:false,&quot;ts&quot;:1627118402714,&quot;cs&quot;:&quot;aCrz6vl40UTdDdTl2Xcrrg==&quot;,&quot;size&quot;:{&quot;width&quot;:385.6666666666667,&quot;height&quot;:59}}" id="139" name="Google Shape;13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8172" y="2625957"/>
            <a:ext cx="3673475" cy="56197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id="140" name="Google Shape;14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1200" y="3649277"/>
            <a:ext cx="3280926" cy="1623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&quot;,&quot;code&quot;:&quot;$h_{\\theta}\\left(x\\right)\\geqslant0.5$&quot;,&quot;id&quot;:&quot;23&quot;,&quot;font&quot;:{&quot;family&quot;:&quot;Arial&quot;,&quot;color&quot;:&quot;#666666&quot;,&quot;size&quot;:18},&quot;backgroundColor&quot;:&quot;#ffffff&quot;,&quot;aid&quot;:null,&quot;backgroundColorModified&quot;:null,&quot;ts&quot;:1627197019853,&quot;cs&quot;:&quot;5/U1woL5YmhqIK83pudEpg==&quot;,&quot;size&quot;:{&quot;width&quot;:136.16666666666666,&quot;height&quot;:28.666666666666668}}" id="141" name="Google Shape;14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8913" y="5463163"/>
            <a:ext cx="1296988" cy="27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backgroundColor&quot;:&quot;#ffffff&quot;,&quot;type&quot;:&quot;$&quot;,&quot;code&quot;:&quot;$\\theta^{T}x\\geqslant0$&quot;,&quot;aid&quot;:null,&quot;id&quot;:&quot;23&quot;,&quot;font&quot;:{&quot;family&quot;:&quot;Arial&quot;,&quot;color&quot;:&quot;#666666&quot;,&quot;size&quot;:18},&quot;ts&quot;:1627197241596,&quot;cs&quot;:&quot;Ndn8mfk9lSAh0QA769lhUQ==&quot;,&quot;size&quot;:{&quot;width&quot;:93.83333333333333,&quot;height&quot;:28}}" id="142" name="Google Shape;14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06860" y="5412050"/>
            <a:ext cx="893763" cy="266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descr="{&quot;backgroundColorModified&quot;:false,&quot;code&quot;:&quot;$h_{\\theta}\\left(x\\right)&lt;0.5$&quot;,&quot;backgroundColor&quot;:&quot;#ffffff&quot;,&quot;font&quot;:{&quot;size&quot;:18,&quot;color&quot;:&quot;#666666&quot;,&quot;family&quot;:&quot;Arial&quot;},&quot;aid&quot;:null,&quot;type&quot;:&quot;$&quot;,&quot;id&quot;:&quot;23&quot;,&quot;ts&quot;:1627197108244,&quot;cs&quot;:&quot;45ag3gMwxKv34N3PrEeHSQ==&quot;,&quot;size&quot;:{&quot;width&quot;:136.16666666666666,&quot;height&quot;:28.666666666666668}}" id="143" name="Google Shape;14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38914" y="5926150"/>
            <a:ext cx="1296988" cy="27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&quot;,&quot;backgroundColor&quot;:&quot;#ffffff&quot;,&quot;code&quot;:&quot;$\\theta^{T}x&lt;0$&quot;,&quot;id&quot;:&quot;23&quot;,&quot;aid&quot;:null,&quot;font&quot;:{&quot;family&quot;:&quot;Arial&quot;,&quot;size&quot;:18,&quot;color&quot;:&quot;#666666&quot;},&quot;backgroundColorModified&quot;:false,&quot;ts&quot;:1627197352383,&quot;cs&quot;:&quot;yRkf72jOet5RKKr0Fe0qsg==&quot;,&quot;size&quot;:{&quot;width&quot;:93.83333333333333,&quot;height&quot;:25.166666666666668}}" id="144" name="Google Shape;14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06860" y="5834027"/>
            <a:ext cx="893763" cy="239713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descr="{&quot;aid&quot;:null,&quot;backgroundColor&quot;:&quot;#ffffff&quot;,&quot;code&quot;:&quot;$h_{\\theta}\\left(x\\right)=0.5\\,\\left|\\right|\\theta^{T}x=0$&quot;,&quot;backgroundColorModified&quot;:false,&quot;id&quot;:&quot;23&quot;,&quot;font&quot;:{&quot;family&quot;:&quot;Arial&quot;,&quot;color&quot;:&quot;#666666&quot;,&quot;size&quot;:18},&quot;type&quot;:&quot;$&quot;,&quot;ts&quot;:1627792013957,&quot;cs&quot;:&quot;jEJ0p2GFJGYpC8KryVm+FQ==&quot;,&quot;size&quot;:{&quot;width&quot;:252.40000000000006,&quot;height&quot;:31.20000000000003}}" id="145" name="Google Shape;145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38913" y="6389113"/>
            <a:ext cx="240411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>
            <a:off x="5278125" y="6229025"/>
            <a:ext cx="211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</a:rPr>
              <a:t>  Ranh giới quyết định    (</a:t>
            </a:r>
            <a:r>
              <a:rPr b="1" lang="en-US">
                <a:solidFill>
                  <a:srgbClr val="FF0000"/>
                </a:solidFill>
              </a:rPr>
              <a:t>decision boundary</a:t>
            </a:r>
            <a:r>
              <a:rPr b="1" lang="en-US">
                <a:solidFill>
                  <a:srgbClr val="FF0000"/>
                </a:solidFill>
              </a:rPr>
              <a:t>)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>
            <p:ph type="title"/>
          </p:nvPr>
        </p:nvSpPr>
        <p:spPr>
          <a:xfrm>
            <a:off x="425202" y="1001025"/>
            <a:ext cx="7556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Hàm giả thuyết</a:t>
            </a:r>
            <a:endParaRPr/>
          </a:p>
        </p:txBody>
      </p:sp>
      <p:sp>
        <p:nvSpPr>
          <p:cNvPr id="153" name="Google Shape;153;p20"/>
          <p:cNvSpPr txBox="1"/>
          <p:nvPr>
            <p:ph idx="1" type="body"/>
          </p:nvPr>
        </p:nvSpPr>
        <p:spPr>
          <a:xfrm>
            <a:off x="425200" y="2185425"/>
            <a:ext cx="8227500" cy="45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Diễn giải hàm g</a:t>
            </a:r>
            <a:r>
              <a:rPr lang="en-US"/>
              <a:t>iả thuyế</a:t>
            </a:r>
            <a:r>
              <a:rPr lang="en-US"/>
              <a:t>t</a:t>
            </a:r>
            <a:r>
              <a:rPr lang="en-US"/>
              <a:t>:</a:t>
            </a:r>
            <a:endParaRPr/>
          </a:p>
          <a:p>
            <a:pPr indent="-36576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60"/>
              <a:buChar char="-"/>
            </a:pPr>
            <a:r>
              <a:rPr lang="en-US">
                <a:solidFill>
                  <a:srgbClr val="FF0000"/>
                </a:solidFill>
              </a:rPr>
              <a:t>               </a:t>
            </a:r>
            <a:r>
              <a:rPr lang="en-US">
                <a:solidFill>
                  <a:srgbClr val="FF0000"/>
                </a:solidFill>
              </a:rPr>
              <a:t>xác suất để y = 1 với  dữ liệu vào x</a:t>
            </a:r>
            <a:endParaRPr>
              <a:solidFill>
                <a:srgbClr val="FF0000"/>
              </a:solidFill>
            </a:endParaRPr>
          </a:p>
          <a:p>
            <a:pPr indent="-3657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Ví dụ (muốn phân loại khối u)  </a:t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1" marL="914400" rtl="0" algn="l">
              <a:spcBef>
                <a:spcPts val="60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Xác suất để y = 1 là 0.7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Nói cách khác: 70% là ác tính, 30 % là lành tính.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t/>
            </a:r>
            <a:endParaRPr/>
          </a:p>
          <a:p>
            <a:pPr indent="0" lvl="0" marL="13716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backgroundColorModified&quot;:false,&quot;font&quot;:{&quot;color&quot;:&quot;#666666&quot;,&quot;family&quot;:&quot;Arial&quot;,&quot;size&quot;:18},&quot;id&quot;:&quot;18&quot;,&quot;aid&quot;:null,&quot;type&quot;:&quot;lalign*&quot;,&quot;code&quot;:&quot;\\begin{lalign*}\n&amp;{h_{\\theta}\\left(x\\right)=g\\left(\\theta^{T}x\\right)=\\frac{1}{1+e^{-\\theta^{T}x}}}\\\\\n\\end{lalign*}&quot;,&quot;backgroundColor&quot;:&quot;#ffffff&quot;,&quot;ts&quot;:1627119291263,&quot;cs&quot;:&quot;ZuGXX5FoAdxhX9T4fXgH+g==&quot;,&quot;size&quot;:{&quot;width&quot;:342.5,&quot;height&quot;:62}}" id="154" name="Google Shape;15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0193" y="2185432"/>
            <a:ext cx="3262313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code&quot;:&quot;\\begin{lalign*}\n&amp;{h_{\\theta}\\left(x\\right)=}\\\\\n\\end{lalign*}&quot;,&quot;font&quot;:{&quot;size&quot;:18,&quot;family&quot;:&quot;Arial&quot;,&quot;color&quot;:&quot;#666666&quot;},&quot;type&quot;:&quot;lalign*&quot;,&quot;backgroundColorModified&quot;:false,&quot;id&quot;:&quot;18&quot;,&quot;backgroundColor&quot;:&quot;#ffffff&quot;,&quot;ts&quot;:1627119503372,&quot;cs&quot;:&quot;JFdF19bTP0QBEyYo/6zQaQ==&quot;,&quot;size&quot;:{&quot;width&quot;:92.16666666666667,&quot;height&quot;:28.666666666666668}}" id="155" name="Google Shape;15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5332" y="2792619"/>
            <a:ext cx="877888" cy="27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&quot;,&quot;font&quot;:{&quot;size&quot;:18,&quot;family&quot;:&quot;Arial&quot;,&quot;color&quot;:&quot;#666666&quot;},&quot;code&quot;:&quot;$x=\\begin{bmatrix}\n{x_{0}}\\\\\n{x_{1}}\\\\\n\\end{bmatrix}=\\begin{bmatrix}\n{1}\\\\\n{size}\\\\\n\\end{bmatrix},\\,h_{\\theta}\\left(x\\right)=0.7$&quot;,&quot;id&quot;:&quot;22&quot;,&quot;backgroundColor&quot;:&quot;#ffffff&quot;,&quot;aid&quot;:null,&quot;backgroundColorModified&quot;:null,&quot;ts&quot;:1627119767923,&quot;cs&quot;:&quot;N1vtMu7ziFWn45w0+tfGng==&quot;,&quot;size&quot;:{&quot;width&quot;:381.6666666666667,&quot;height&quot;:68}}" id="156" name="Google Shape;15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44838" y="3648150"/>
            <a:ext cx="3635375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aid&quot;:null,&quot;font&quot;:{&quot;color&quot;:&quot;#666666&quot;,&quot;family&quot;:&quot;Arial&quot;,&quot;size&quot;:18},&quot;id&quot;:&quot;18&quot;,&quot;backgroundColorModified&quot;:false,&quot;code&quot;:&quot;\\begin{lalign*}\n&amp;{h_{\\theta}\\left(x\\right)=g\\left(\\theta^{T}x\\right)=P\\left(y=1/x;\\theta\\right)}\\\\\n\\end{lalign*}&quot;,&quot;type&quot;:&quot;lalign*&quot;,&quot;ts&quot;:1627788649855,&quot;cs&quot;:&quot;VTocOsEr9VQHkDrG0Pm7tA==&quot;,&quot;size&quot;:{&quot;width&quot;:384.3333333333333,&quot;height&quot;:35}}" id="157" name="Google Shape;15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1292" y="5421224"/>
            <a:ext cx="36607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8&quot;,&quot;code&quot;:&quot;\\begin{lalign*}\n&amp;{P\\left(y=1/x;\\theta\\right)+P\\left(y=0/x;\\theta\\right)=1}\\\\\n&amp;{P\\left(y=0/x;\\theta\\right)=1-h_{\\theta}\\left(x\\right)}\\\\\n\\end{lalign*}&quot;,&quot;type&quot;:&quot;lalign*&quot;,&quot;font&quot;:{&quot;family&quot;:&quot;Arial&quot;,&quot;size&quot;:18,&quot;color&quot;:&quot;#666666&quot;},&quot;aid&quot;:null,&quot;backgroundColorModified&quot;:false,&quot;backgroundColor&quot;:&quot;#ffffff&quot;,&quot;ts&quot;:1627790752718,&quot;cs&quot;:&quot;RUim/aYTpMsXgdWxnQ8cfg==&quot;,&quot;size&quot;:{&quot;width&quot;:412.3333333333333,&quot;height&quot;:65}}" id="158" name="Google Shape;158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36438" y="5963773"/>
            <a:ext cx="3927475" cy="44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>
            <p:ph type="title"/>
          </p:nvPr>
        </p:nvSpPr>
        <p:spPr>
          <a:xfrm>
            <a:off x="425200" y="1001025"/>
            <a:ext cx="8827800" cy="7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Hàm giả thuyết(t.)</a:t>
            </a:r>
            <a:endParaRPr/>
          </a:p>
        </p:txBody>
      </p:sp>
      <p:sp>
        <p:nvSpPr>
          <p:cNvPr id="165" name="Google Shape;165;p21"/>
          <p:cNvSpPr txBox="1"/>
          <p:nvPr>
            <p:ph idx="1" type="body"/>
          </p:nvPr>
        </p:nvSpPr>
        <p:spPr>
          <a:xfrm>
            <a:off x="425200" y="1913275"/>
            <a:ext cx="8227500" cy="45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Gi</a:t>
            </a:r>
            <a:r>
              <a:rPr lang="en-US"/>
              <a:t>ả sử tập huấn luyện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Áp dụng công thức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Dự đoán y = 1 nếu 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Dự đoán y = 0 nếu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Decision Boundary: 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Đường phân vùng giữa y = 0 và y = 1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Tính chất của hàm giả thuyết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backgroundColor&quot;:&quot;#ffffff&quot;,&quot;id&quot;:&quot;18&quot;,&quot;font&quot;:{&quot;size&quot;:18,&quot;color&quot;:&quot;#666666&quot;,&quot;family&quot;:&quot;Arial&quot;},&quot;aid&quot;:null,&quot;backgroundColorModified&quot;:false,&quot;code&quot;:&quot;\\begin{lalign*}\n&amp;{h_{\\theta}\\left(x\\right)=g\\left(\\theta_{0}+\\theta_{1}x_{1}+\\,\\theta_{2}x_{2}\\right)}\\\\\n\\end{lalign*}&quot;,&quot;type&quot;:&quot;lalign*&quot;,&quot;ts&quot;:1627197904069,&quot;cs&quot;:&quot;PKfXIbMTdD4MnVxHuQS9Qg==&quot;,&quot;size&quot;:{&quot;width&quot;:336.00000000000006,&quot;height&quot;:28.75}}" id="166" name="Google Shape;16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3721" y="2375794"/>
            <a:ext cx="3200400" cy="2738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8&quot;,&quot;code&quot;:&quot;\\begin{lalign*}\n&amp;{\\theta_{0}=-3,\\,\\theta_{1}=1;\\,\\theta_{2}=1}\\\\\n\\end{lalign*}&quot;,&quot;aid&quot;:null,&quot;font&quot;:{&quot;family&quot;:&quot;Arial&quot;,&quot;color&quot;:&quot;#666666&quot;,&quot;size&quot;:18},&quot;backgroundColor&quot;:&quot;#ffffff&quot;,&quot;backgroundColorModified&quot;:false,&quot;type&quot;:&quot;lalign*&quot;,&quot;ts&quot;:1627198003467,&quot;cs&quot;:&quot;5LT1l8GbeygozZkTQsNwgA==&quot;,&quot;size&quot;:{&quot;width&quot;:282,&quot;height&quot;:25.75}}" id="167" name="Google Shape;16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6577" y="3042069"/>
            <a:ext cx="2686050" cy="2452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type&quot;:&quot;lalign*&quot;,&quot;id&quot;:&quot;18&quot;,&quot;font&quot;:{&quot;size&quot;:18,&quot;family&quot;:&quot;Arial&quot;,&quot;color&quot;:&quot;#666666&quot;},&quot;backgroundColor&quot;:&quot;#ffffff&quot;,&quot;aid&quot;:null,&quot;code&quot;:&quot;\\begin{lalign*}\n&amp;{-3+x_{1}+\\,x_{2}\\geqslant0}\\\\\n\\end{lalign*}&quot;,&quot;ts&quot;:1627198077500,&quot;cs&quot;:&quot;0n6LVJFM8ONcjiheiqDOnw==&quot;,&quot;size&quot;:{&quot;width&quot;:212.5,&quot;height&quot;:23.333333333333332}}" id="168" name="Google Shape;16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59966" y="4745444"/>
            <a:ext cx="2024063" cy="22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8&quot;,&quot;font&quot;:{&quot;size&quot;:18,&quot;family&quot;:&quot;Arial&quot;,&quot;color&quot;:&quot;#666666&quot;},&quot;aid&quot;:null,&quot;backgroundColor&quot;:&quot;#ffffff&quot;,&quot;code&quot;:&quot;\\begin{lalign*}\n&amp;{-3+x_{1}+\\,x_{2}&lt;0}\\\\\n\\end{lalign*}&quot;,&quot;type&quot;:&quot;lalign*&quot;,&quot;backgroundColorModified&quot;:false,&quot;ts&quot;:1627198224118,&quot;cs&quot;:&quot;RvXSVLm4ZoBeydp3sv3XuA==&quot;,&quot;size&quot;:{&quot;width&quot;:212.5,&quot;height&quot;:23.333333333333332}}" id="169" name="Google Shape;16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6916" y="5134632"/>
            <a:ext cx="2024063" cy="22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lalign*&quot;,&quot;backgroundColor&quot;:&quot;#ffffff&quot;,&quot;backgroundColorModified&quot;:false,&quot;aid&quot;:null,&quot;code&quot;:&quot;\\begin{lalign*}\n&amp;{x_{1}+\\,x_{2}=3}\\\\\n\\end{lalign*}&quot;,&quot;id&quot;:&quot;18&quot;,&quot;font&quot;:{&quot;color&quot;:&quot;#666666&quot;,&quot;family&quot;:&quot;Arial&quot;,&quot;size&quot;:18},&quot;ts&quot;:1627198265012,&quot;cs&quot;:&quot;6tNDz3WnvXIOFh8TNVLTVQ==&quot;,&quot;size&quot;:{&quot;width&quot;:143.83333333333334,&quot;height&quot;:23.333333333333332}}" id="170" name="Google Shape;17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28691" y="5633332"/>
            <a:ext cx="1370012" cy="22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83800" y="2506563"/>
            <a:ext cx="3369750" cy="176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>
            <p:ph type="title"/>
          </p:nvPr>
        </p:nvSpPr>
        <p:spPr>
          <a:xfrm>
            <a:off x="425202" y="1001025"/>
            <a:ext cx="7556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Hàm giả thuyết(tiếp)</a:t>
            </a:r>
            <a:endParaRPr/>
          </a:p>
        </p:txBody>
      </p:sp>
      <p:sp>
        <p:nvSpPr>
          <p:cNvPr id="178" name="Google Shape;178;p22"/>
          <p:cNvSpPr txBox="1"/>
          <p:nvPr>
            <p:ph idx="1" type="body"/>
          </p:nvPr>
        </p:nvSpPr>
        <p:spPr>
          <a:xfrm>
            <a:off x="425200" y="2185425"/>
            <a:ext cx="8227500" cy="45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Giả sử tập huấn luyện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Áp dụng công thức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Dự đoán y = 1 nếu 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Dự đoán y = 0 nếu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Decision Boundary: 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Tính chất của hàm giả thuyết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aid&quot;:null,&quot;backgroundColor&quot;:&quot;#ffffff&quot;,&quot;code&quot;:&quot;\\begin{lalign*}\n&amp;{h_{\\theta}\\left(x\\right)=g\\left(\\theta_{0}+\\theta_{1}x_{1}+\\,\\theta_{2}x_{2}+\\theta_{3}x_{1}^{2}+\\theta_{4}x_{2}^{2}\\right)}\\\\\n\\end{lalign*}&quot;,&quot;backgroundColorModified&quot;:false,&quot;id&quot;:&quot;18&quot;,&quot;font&quot;:{&quot;family&quot;:&quot;Arial&quot;,&quot;color&quot;:&quot;#666666&quot;,&quot;size&quot;:18},&quot;type&quot;:&quot;lalign*&quot;,&quot;ts&quot;:1627198390807,&quot;cs&quot;:&quot;Rj8XyGKQfjjGyEomAgnxdw==&quot;,&quot;size&quot;:{&quot;width&quot;:512.0000000000001,&quot;height&quot;:35}}" id="179" name="Google Shape;17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8770" y="2730915"/>
            <a:ext cx="48768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8&quot;,&quot;type&quot;:&quot;lalign*&quot;,&quot;aid&quot;:null,&quot;backgroundColor&quot;:&quot;#ffffff&quot;,&quot;backgroundColorModified&quot;:false,&quot;font&quot;:{&quot;size&quot;:18,&quot;family&quot;:&quot;Arial&quot;,&quot;color&quot;:&quot;#666666&quot;},&quot;code&quot;:&quot;\\begin{lalign*}\n&amp;{\\theta_{0}=-1;\\,\\theta_{1}=0;\\,\\theta_{2}=0;\\theta_{3}=1;\\theta_{4}=1}\\\\\n\\end{lalign*}&quot;,&quot;ts&quot;:1627198436015,&quot;cs&quot;:&quot;77YEgqzlgfH0nyUmZ3Nl0w==&quot;,&quot;size&quot;:{&quot;width&quot;:458.6666666666667,&quot;height&quot;:25.666666666666668}}" id="180" name="Google Shape;18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2852" y="3623611"/>
            <a:ext cx="4368800" cy="244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backgroundColorModified&quot;:false,&quot;type&quot;:&quot;lalign*&quot;,&quot;aid&quot;:null,&quot;font&quot;:{&quot;color&quot;:&quot;#666666&quot;,&quot;family&quot;:&quot;Arial&quot;,&quot;size&quot;:18},&quot;code&quot;:&quot;\\begin{lalign*}\n&amp;{-1+x_{1}^{2}+\\,x_{2}^{2}\\geqslant0}\\\\\n\\end{lalign*}&quot;,&quot;id&quot;:&quot;18&quot;,&quot;ts&quot;:1627198519763,&quot;cs&quot;:&quot;5XwPKRS505ifpj54ExXMcw==&quot;,&quot;size&quot;:{&quot;width&quot;:212.5,&quot;height&quot;:31.833333333333332}}" id="181" name="Google Shape;18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6919" y="4988907"/>
            <a:ext cx="2024063" cy="3032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\\begin{lalign*}\n&amp;{-1+x_{1}^{2}+\\,x_{2}^{2}&lt;0}\\\\\n\\end{lalign*}&quot;,&quot;aid&quot;:null,&quot;backgroundColor&quot;:&quot;#ffffff&quot;,&quot;type&quot;:&quot;lalign*&quot;,&quot;id&quot;:&quot;18&quot;,&quot;font&quot;:{&quot;family&quot;:&quot;Arial&quot;,&quot;size&quot;:18,&quot;color&quot;:&quot;#666666&quot;},&quot;backgroundColorModified&quot;:false,&quot;ts&quot;:1627198556276,&quot;cs&quot;:&quot;G/jVFnQNy/iHElQk9/rbnQ==&quot;,&quot;size&quot;:{&quot;width&quot;:212.5,&quot;height&quot;:31.833333333333332}}" id="182" name="Google Shape;18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6919" y="5429044"/>
            <a:ext cx="2024063" cy="3032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aid&quot;:null,&quot;id&quot;:&quot;18&quot;,&quot;type&quot;:&quot;lalign*&quot;,&quot;font&quot;:{&quot;size&quot;:18,&quot;color&quot;:&quot;#666666&quot;,&quot;family&quot;:&quot;Arial&quot;},&quot;backgroundColorModified&quot;:false,&quot;code&quot;:&quot;\\begin{lalign*}\n&amp;{x_{1}^{2}+\\,x_{2}^{2}=1}\\\\\n\\end{lalign*}&quot;,&quot;ts&quot;:1627198591943,&quot;cs&quot;:&quot;HWWQ3JA1YGx1nMWmJQhzog==&quot;,&quot;size&quot;:{&quot;width&quot;:143,&quot;height&quot;:31.833333333333332}}" id="183" name="Google Shape;18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35838" y="5869182"/>
            <a:ext cx="1362075" cy="30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8800" y="2695675"/>
            <a:ext cx="3098350" cy="1716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/>
          <p:nvPr>
            <p:ph type="title"/>
          </p:nvPr>
        </p:nvSpPr>
        <p:spPr>
          <a:xfrm>
            <a:off x="425202" y="1001025"/>
            <a:ext cx="7556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toán phân lớp</a:t>
            </a:r>
            <a:endParaRPr/>
          </a:p>
        </p:txBody>
      </p:sp>
      <p:sp>
        <p:nvSpPr>
          <p:cNvPr id="191" name="Google Shape;191;p23"/>
          <p:cNvSpPr txBox="1"/>
          <p:nvPr>
            <p:ph idx="1" type="body"/>
          </p:nvPr>
        </p:nvSpPr>
        <p:spPr>
          <a:xfrm>
            <a:off x="425200" y="2185425"/>
            <a:ext cx="8227500" cy="45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Cho m dữ liệu để huấn luyện, toàn bộ dữ liệu thứ i chứa  input        và output        với 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b="1" lang="en-US"/>
              <a:t>Tác vụ:</a:t>
            </a:r>
            <a:r>
              <a:rPr lang="en-US"/>
              <a:t> 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⇒  tìm  vectơ                                      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Tìm </a:t>
            </a:r>
            <a:r>
              <a:rPr lang="en-US"/>
              <a:t>tham số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backgroundColorModified&quot;:false,&quot;backgroundColor&quot;:&quot;#ffffff&quot;,&quot;type&quot;:&quot;$&quot;,&quot;id&quot;:&quot;24&quot;,&quot;aid&quot;:null,&quot;code&quot;:&quot;$\\theta=\\left(\\theta_{0},\\theta_{1},...,\\theta_{n}\\right)^{T}$&quot;,&quot;font&quot;:{&quot;family&quot;:&quot;Arial&quot;,&quot;color&quot;:&quot;#666666&quot;,&quot;size&quot;:18},&quot;ts&quot;:1627793633958,&quot;cs&quot;:&quot;hecZYrwzRCyxC8+CtBhLBQ==&quot;,&quot;size&quot;:{&quot;width&quot;:236.60000000000002,&quot;height&quot;:33.600000000000016}}" id="192" name="Google Shape;19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6265" y="6214994"/>
            <a:ext cx="2253615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aid&quot;:null,&quot;code&quot;:&quot;$$x^{\\left(i\\right)}$$&quot;,&quot;id&quot;:&quot;34&quot;,&quot;font&quot;:{&quot;color&quot;:&quot;#666666&quot;,&quot;size&quot;:18,&quot;family&quot;:&quot;Arial&quot;},&quot;backgroundColorModified&quot;:null,&quot;backgroundColor&quot;:&quot;#ffffff&quot;,&quot;ts&quot;:1627792852253,&quot;cs&quot;:&quot;sCodj7GM67vG/6Kuthw0FA==&quot;,&quot;size&quot;:{&quot;width&quot;:35.833333333333336,&quot;height&quot;:27}}" id="193" name="Google Shape;19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4150" y="2348650"/>
            <a:ext cx="341313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34&quot;,&quot;backgroundColor&quot;:&quot;#ffffff&quot;,&quot;font&quot;:{&quot;color&quot;:&quot;#666666&quot;,&quot;family&quot;:&quot;Arial&quot;,&quot;size&quot;:18},&quot;type&quot;:&quot;$$&quot;,&quot;aid&quot;:null,&quot;code&quot;:&quot;$$y^{\\left(i\\right)}$$&quot;,&quot;backgroundColorModified&quot;:false,&quot;ts&quot;:1627792934826,&quot;cs&quot;:&quot;UXXpfJCj/GB0ncCV71eqAA==&quot;,&quot;size&quot;:{&quot;width&quot;:34.166666666666664,&quot;height&quot;:32.333333333333336}}" id="194" name="Google Shape;19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7788" y="2686104"/>
            <a:ext cx="325438" cy="30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null,&quot;type&quot;:&quot;$$&quot;,&quot;font&quot;:{&quot;color&quot;:&quot;#666666&quot;,&quot;family&quot;:&quot;Arial&quot;,&quot;size&quot;:18},&quot;code&quot;:&quot;$$y^{\\left(i\\right)}\\in\\left\\{0,1\\right\\}$$&quot;,&quot;backgroundColor&quot;:&quot;#ffffff&quot;,&quot;aid&quot;:null,&quot;id&quot;:&quot;35&quot;,&quot;ts&quot;:1627793215681,&quot;cs&quot;:&quot;a81QXOWB7nP+RQEzazEEjA==&quot;,&quot;size&quot;:{&quot;width&quot;:138.66666666666666,&quot;height&quot;:33.666666666666664}}" id="195" name="Google Shape;195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76282" y="2722386"/>
            <a:ext cx="1320800" cy="320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6" name="Google Shape;196;p23"/>
          <p:cNvGraphicFramePr/>
          <p:nvPr/>
        </p:nvGraphicFramePr>
        <p:xfrm>
          <a:off x="952500" y="342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{985710F5-C91D-4F1C-B980-B817760CFE95}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00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00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00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FFF00"/>
                          </a:solidFill>
                          <a:highlight>
                            <a:srgbClr val="FF0000"/>
                          </a:highlight>
                        </a:rPr>
                        <a:t> ?????</a:t>
                      </a:r>
                      <a:endParaRPr>
                        <a:solidFill>
                          <a:srgbClr val="FFFF00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{&quot;font&quot;:{&quot;family&quot;:&quot;Arial&quot;,&quot;size&quot;:14,&quot;color&quot;:&quot;#000000&quot;},&quot;code&quot;:&quot;$$x_{1}^{\\left(1\\right)}$$&quot;,&quot;backgroundColor&quot;:&quot;#ffffff&quot;,&quot;id&quot;:&quot;37&quot;,&quot;backgroundColorModified&quot;:null,&quot;type&quot;:&quot;$$&quot;,&quot;aid&quot;:null,&quot;ts&quot;:1627794982570,&quot;cs&quot;:&quot;7hdpmRP87MVJNcp25jeCmg==&quot;,&quot;size&quot;:{&quot;width&quot;:29.833333333333332,&quot;height&quot;:30}}" id="197" name="Google Shape;197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48425" y="3423150"/>
            <a:ext cx="284163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id&quot;:&quot;37&quot;,&quot;aid&quot;:null,&quot;backgroundColor&quot;:&quot;#ffffff&quot;,&quot;backgroundColorModified&quot;:false,&quot;code&quot;:&quot;$$\\cdots$$&quot;,&quot;font&quot;:{&quot;family&quot;:&quot;Arial&quot;,&quot;color&quot;:&quot;#000000&quot;,&quot;size&quot;:14},&quot;ts&quot;:1627795169250,&quot;cs&quot;:&quot;4ZZxeGwEqcW9M8+mzL++bQ==&quot;,&quot;size&quot;:{&quot;width&quot;:22.666666666666668,&quot;height&quot;:2.6666666666666665}}" id="198" name="Google Shape;198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96863" y="3549309"/>
            <a:ext cx="2159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code&quot;:&quot;$$x_{n}^{\\left(1\\right)}$$&quot;,&quot;type&quot;:&quot;$$&quot;,&quot;backgroundColor&quot;:&quot;#ffffff&quot;,&quot;id&quot;:&quot;37&quot;,&quot;font&quot;:{&quot;color&quot;:&quot;#000000&quot;,&quot;size&quot;:14,&quot;family&quot;:&quot;Arial&quot;},&quot;backgroundColorModified&quot;:false,&quot;ts&quot;:1627796388287,&quot;cs&quot;:&quot;x5nTm0y8zdSN4KqM161YfQ==&quot;,&quot;size&quot;:{&quot;width&quot;:29.833333333333332,&quot;height&quot;:26.666666666666668}}" id="199" name="Google Shape;199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28534" y="3457168"/>
            <a:ext cx="284163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size&quot;:14,&quot;family&quot;:&quot;Arial&quot;},&quot;id&quot;:&quot;37&quot;,&quot;backgroundColor&quot;:&quot;#ffffff&quot;,&quot;aid&quot;:null,&quot;type&quot;:&quot;$$&quot;,&quot;code&quot;:&quot;$$y^{\\left(1\\right)}$$&quot;,&quot;backgroundColorModified&quot;:false,&quot;ts&quot;:1627796666861,&quot;cs&quot;:&quot;L8h5bTipXofuGts0gS2q5A==&quot;,&quot;size&quot;:{&quot;width&quot;:29,&quot;height&quot;:25}}" id="200" name="Google Shape;200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32777" y="3443541"/>
            <a:ext cx="2762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Modified&quot;:false,&quot;code&quot;:&quot;$$x_{1}^{\\left(2\\right)}$$&quot;,&quot;type&quot;:&quot;$$&quot;,&quot;font&quot;:{&quot;color&quot;:&quot;#000000&quot;,&quot;size&quot;:14,&quot;family&quot;:&quot;Arial&quot;},&quot;backgroundColor&quot;:&quot;#ffffff&quot;,&quot;id&quot;:&quot;37&quot;,&quot;ts&quot;:1627795067223,&quot;cs&quot;:&quot;WSoCANkf5I7f+lY1yfWWGw==&quot;,&quot;size&quot;:{&quot;width&quot;:29.833333333333332,&quot;height&quot;:30}}" id="201" name="Google Shape;201;p2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848425" y="3819350"/>
            <a:ext cx="284163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cdots$$&quot;,&quot;backgroundColorModified&quot;:false,&quot;backgroundColor&quot;:&quot;#ffffff&quot;,&quot;font&quot;:{&quot;family&quot;:&quot;Arial&quot;,&quot;size&quot;:14,&quot;color&quot;:&quot;#000000&quot;},&quot;aid&quot;:null,&quot;type&quot;:&quot;$$&quot;,&quot;id&quot;:&quot;37&quot;,&quot;ts&quot;:1627795189203,&quot;cs&quot;:&quot;d9Ne2zwzdek1Y4526viGEw==&quot;,&quot;size&quot;:{&quot;width&quot;:22.666666666666668,&quot;height&quot;:2.6666666666666665}}" id="202" name="Google Shape;202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96863" y="3945509"/>
            <a:ext cx="2159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type&quot;:&quot;$$&quot;,&quot;backgroundColor&quot;:&quot;#ffffff&quot;,&quot;font&quot;:{&quot;size&quot;:14,&quot;color&quot;:&quot;#000000&quot;,&quot;family&quot;:&quot;Arial&quot;},&quot;code&quot;:&quot;$$x_{n}^{\\left(2\\right)}$$&quot;,&quot;aid&quot;:null,&quot;id&quot;:&quot;37&quot;,&quot;ts&quot;:1627796412252,&quot;cs&quot;:&quot;c2LDg5bFGQq9tbSWaPDtNA==&quot;,&quot;size&quot;:{&quot;width&quot;:29.833333333333332,&quot;height&quot;:26.666666666666668}}" id="203" name="Google Shape;203;p2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692263" y="3835225"/>
            <a:ext cx="284163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37&quot;,&quot;code&quot;:&quot;$$y^{\\left(2\\right)}$$&quot;,&quot;backgroundColorModified&quot;:false,&quot;aid&quot;:null,&quot;type&quot;:&quot;$$&quot;,&quot;backgroundColor&quot;:&quot;#ffffff&quot;,&quot;font&quot;:{&quot;size&quot;:14,&quot;family&quot;:&quot;Arial&quot;,&quot;color&quot;:&quot;#000000&quot;},&quot;ts&quot;:1627796714657,&quot;cs&quot;:&quot;HWEaodoJDxX00eqBVJ86Tg==&quot;,&quot;size&quot;:{&quot;width&quot;:29,&quot;height&quot;:25}}" id="204" name="Google Shape;204;p2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099988" y="3839741"/>
            <a:ext cx="2762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font&quot;:{&quot;color&quot;:&quot;#000000&quot;,&quot;size&quot;:14,&quot;family&quot;:&quot;Arial&quot;},&quot;backgroundColorModified&quot;:false,&quot;id&quot;:&quot;37&quot;,&quot;code&quot;:&quot;$$x_{1}^{\\left(m\\right)}$$&quot;,&quot;type&quot;:&quot;$$&quot;,&quot;backgroundColor&quot;:&quot;#ffffff&quot;,&quot;ts&quot;:1627796475710,&quot;cs&quot;:&quot;MC3rKHRTr4BJjzgVwCI+kg==&quot;,&quot;size&quot;:{&quot;width&quot;:35.833333333333336,&quot;height&quot;:30}}" id="205" name="Google Shape;205;p2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910114" y="4605273"/>
            <a:ext cx="341313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backgroundColor&quot;:&quot;#ffffff&quot;,&quot;font&quot;:{&quot;size&quot;:14,&quot;color&quot;:&quot;#000000&quot;,&quot;family&quot;:&quot;Arial&quot;},&quot;id&quot;:&quot;37&quot;,&quot;aid&quot;:null,&quot;code&quot;:&quot;$$\\dots$$&quot;,&quot;backgroundColorModified&quot;:false,&quot;ts&quot;:1627795215782,&quot;cs&quot;:&quot;vE5s3P7GigSZTkyMWFW1SA==&quot;,&quot;size&quot;:{&quot;width&quot;:22.666666666666668,&quot;height&quot;:2.8333333333333335}}" id="206" name="Google Shape;206;p2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396863" y="4718927"/>
            <a:ext cx="215900" cy="26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x_{n}^{\\left(m\\right)}$$&quot;,&quot;type&quot;:&quot;$$&quot;,&quot;font&quot;:{&quot;color&quot;:&quot;#000000&quot;,&quot;family&quot;:&quot;Arial&quot;,&quot;size&quot;:14},&quot;backgroundColor&quot;:&quot;#ffffff&quot;,&quot;aid&quot;:null,&quot;backgroundColorModified&quot;:false,&quot;id&quot;:&quot;37&quot;,&quot;ts&quot;:1627796455170,&quot;cs&quot;:&quot;/RLpHttxCMl+lzP4f6OxRQ==&quot;,&quot;size&quot;:{&quot;width&quot;:35.833333333333336,&quot;height&quot;:26.666666666666668}}" id="207" name="Google Shape;207;p23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692263" y="4630953"/>
            <a:ext cx="341313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y^{\\left(m\\right)}$$&quot;,&quot;backgroundColorModified&quot;:false,&quot;id&quot;:&quot;37&quot;,&quot;font&quot;:{&quot;color&quot;:&quot;#000000&quot;,&quot;size&quot;:14,&quot;family&quot;:&quot;Arial&quot;},&quot;aid&quot;:null,&quot;backgroundColor&quot;:&quot;#ffffff&quot;,&quot;type&quot;:&quot;$$&quot;,&quot;ts&quot;:1627796764777,&quot;cs&quot;:&quot;AnZAkWxg/aSke+Y87CElQQ==&quot;,&quot;size&quot;:{&quot;width&quot;:34.166666666666664,&quot;height&quot;:25}}" id="208" name="Google Shape;208;p23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096491" y="4637709"/>
            <a:ext cx="325438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code&quot;:&quot;$$\\vdots $$&quot;,&quot;id&quot;:&quot;37&quot;,&quot;font&quot;:{&quot;family&quot;:&quot;Arial&quot;,&quot;color&quot;:&quot;#000000&quot;,&quot;size&quot;:14},&quot;backgroundColorModified&quot;:false,&quot;type&quot;:&quot;$$&quot;,&quot;aid&quot;:null,&quot;ts&quot;:1627795245015,&quot;cs&quot;:&quot;tinpOOPX+9fyuNT/vGeDiA==&quot;,&quot;size&quot;:{&quot;width&quot;:2.8333333333333335,&quot;height&quot;:20.5}}" id="209" name="Google Shape;209;p23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2970759" y="4254779"/>
            <a:ext cx="26988" cy="195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code&quot;:&quot;$$\\vdots $$&quot;,&quot;id&quot;:&quot;37&quot;,&quot;font&quot;:{&quot;family&quot;:&quot;Arial&quot;,&quot;color&quot;:&quot;#000000&quot;,&quot;size&quot;:14},&quot;backgroundColorModified&quot;:false,&quot;type&quot;:&quot;$$&quot;,&quot;aid&quot;:null,&quot;ts&quot;:1627795245015,&quot;cs&quot;:&quot;tinpOOPX+9fyuNT/vGeDiA==&quot;,&quot;size&quot;:{&quot;width&quot;:2.8333333333333335,&quot;height&quot;:20.5}}" id="210" name="Google Shape;210;p23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808302" y="4316464"/>
            <a:ext cx="26988" cy="195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code&quot;:&quot;$$\\vdots $$&quot;,&quot;id&quot;:&quot;37&quot;,&quot;font&quot;:{&quot;family&quot;:&quot;Arial&quot;,&quot;color&quot;:&quot;#000000&quot;,&quot;size&quot;:14},&quot;backgroundColorModified&quot;:false,&quot;type&quot;:&quot;$$&quot;,&quot;aid&quot;:null,&quot;ts&quot;:1627795245015,&quot;cs&quot;:&quot;tinpOOPX+9fyuNT/vGeDiA==&quot;,&quot;size&quot;:{&quot;width&quot;:2.8333333333333335,&quot;height&quot;:20.5}}" id="211" name="Google Shape;211;p23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176274" y="4323721"/>
            <a:ext cx="26988" cy="195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code&quot;:&quot;$$x^{\\left(1\\right)}\\to$$&quot;,&quot;backgroundColorModified&quot;:true,&quot;font&quot;:{&quot;color&quot;:&quot;#666666&quot;,&quot;size&quot;:18,&quot;family&quot;:&quot;Arial&quot;},&quot;id&quot;:&quot;34&quot;,&quot;aid&quot;:null,&quot;backgroundColor&quot;:&quot;#ffffff&quot;,&quot;ts&quot;:1627796532308,&quot;cs&quot;:&quot;KFpJ+/dTZvZwO+lLynfS5Q==&quot;,&quot;size&quot;:{&quot;width&quot;:76.5,&quot;height&quot;:27}}" id="212" name="Google Shape;212;p23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222825" y="3455581"/>
            <a:ext cx="728663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34&quot;,&quot;type&quot;:&quot;$$&quot;,&quot;backgroundColorModified&quot;:true,&quot;font&quot;:{&quot;family&quot;:&quot;Arial&quot;,&quot;size&quot;:18,&quot;color&quot;:&quot;#666666&quot;},&quot;aid&quot;:null,&quot;backgroundColor&quot;:&quot;#ffffff&quot;,&quot;code&quot;:&quot;$$x^{\\left(2\\right)}\\to$$&quot;,&quot;ts&quot;:1627796574588,&quot;cs&quot;:&quot;hdEOf+FQ8Ay124Ubb5MoMw==&quot;,&quot;size&quot;:{&quot;width&quot;:76.49999999999999,&quot;height&quot;:27}}" id="213" name="Google Shape;213;p23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199118" y="3909220"/>
            <a:ext cx="728663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true,&quot;type&quot;:&quot;$$&quot;,&quot;font&quot;:{&quot;size&quot;:18,&quot;color&quot;:&quot;#666666&quot;,&quot;family&quot;:&quot;Arial&quot;},&quot;code&quot;:&quot;$$x^{\\left(m\\right)}\\to$$&quot;,&quot;aid&quot;:null,&quot;backgroundColor&quot;:&quot;#ffffff&quot;,&quot;id&quot;:&quot;34&quot;,&quot;ts&quot;:1627796604749,&quot;cs&quot;:&quot;l57mtGUzK3LJoyNM2XL9tw==&quot;,&quot;size&quot;:{&quot;width&quot;:83.66666666666667,&quot;height&quot;:27}}" id="214" name="Google Shape;214;p23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1180975" y="4622229"/>
            <a:ext cx="7969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code&quot;:&quot;$$\\vdots $$&quot;,&quot;id&quot;:&quot;37&quot;,&quot;font&quot;:{&quot;family&quot;:&quot;Arial&quot;,&quot;color&quot;:&quot;#000000&quot;,&quot;size&quot;:14},&quot;backgroundColorModified&quot;:false,&quot;type&quot;:&quot;$$&quot;,&quot;aid&quot;:null,&quot;ts&quot;:1627795245015,&quot;cs&quot;:&quot;tinpOOPX+9fyuNT/vGeDiA==&quot;,&quot;size&quot;:{&quot;width&quot;:2.8333333333333335,&quot;height&quot;:20.5}}" id="215" name="Google Shape;215;p23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254445" y="4298321"/>
            <a:ext cx="26988" cy="195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backgroundColor&quot;:&quot;#ffffff&quot;,&quot;code&quot;:&quot;$h_{\\theta}:R^{n+1}\\to\\,Y$&quot;,&quot;id&quot;:&quot;20&quot;,&quot;type&quot;:&quot;$&quot;,&quot;aid&quot;:null,&quot;font&quot;:{&quot;size&quot;:18,&quot;color&quot;:&quot;#666666&quot;,&quot;family&quot;:&quot;Arial&quot;},&quot;ts&quot;:1627798149245,&quot;cs&quot;:&quot;P91LVActHBYdYdjAWbFk3g==&quot;,&quot;size&quot;:{&quot;width&quot;:179.66666666666663,&quot;height&quot;:28.333333333333332}}" id="216" name="Google Shape;216;p23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2258663" y="5784775"/>
            <a:ext cx="1711325" cy="269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8&quot;,&quot;backgroundColor&quot;:&quot;#ffffff&quot;,&quot;font&quot;:{&quot;size&quot;:18,&quot;color&quot;:&quot;#666666&quot;,&quot;family&quot;:&quot;Arial&quot;},&quot;type&quot;:&quot;lalign*&quot;,&quot;code&quot;:&quot;\\begin{lalign*}\n&amp;{h_{\\theta}\\left(\\bar{x}\\right)=g\\left(\\theta^{T}\\bar{x}\\right)=\\frac{1}{1+e^{-\\theta^{T}\\,\\bar{x}}}}\\\\\n\\end{lalign*}&quot;,&quot;backgroundColorModified&quot;:false,&quot;aid&quot;:null,&quot;ts&quot;:1627800633384,&quot;cs&quot;:&quot;uoLZ1sGbZ0TvQqTQfXRVAw==&quot;,&quot;size&quot;:{&quot;width&quot;:346.3333333333334,&quot;height&quot;:62}}" id="217" name="Google Shape;217;p23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4306143" y="5624438"/>
            <a:ext cx="32988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code&quot;:&quot;$$x^{\\left(new\\right)}\\to$$&quot;,&quot;aid&quot;:null,&quot;backgroundColor&quot;:&quot;#ffffff&quot;,&quot;font&quot;:{&quot;family&quot;:&quot;Arial&quot;,&quot;size&quot;:18,&quot;color&quot;:&quot;#666666&quot;},&quot;backgroundColorModified&quot;:true,&quot;id&quot;:&quot;34&quot;,&quot;ts&quot;:1627797295770,&quot;cs&quot;:&quot;DCHU2nRDp3yXKaOXV2+Gsg==&quot;,&quot;size&quot;:{&quot;width&quot;:101.66666666666664,&quot;height&quot;:27}}" id="218" name="Google Shape;218;p23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1112500" y="5101921"/>
            <a:ext cx="96837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 txBox="1"/>
          <p:nvPr>
            <p:ph type="title"/>
          </p:nvPr>
        </p:nvSpPr>
        <p:spPr>
          <a:xfrm>
            <a:off x="425200" y="1001025"/>
            <a:ext cx="7556700" cy="690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</a:t>
            </a:r>
            <a:r>
              <a:rPr lang="en-US"/>
              <a:t>àm mất mát </a:t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75900" y="1767975"/>
            <a:ext cx="8392200" cy="45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Hồi quy tuyến tính: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Hàm Cost  không tốt cho bài toán Logistic regression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backgroundColorModified&quot;:false,&quot;id&quot;:&quot;25&quot;,&quot;backgroundColor&quot;:&quot;#ffffff&quot;,&quot;type&quot;:&quot;align*&quot;,&quot;font&quot;:{&quot;color&quot;:&quot;#666666&quot;,&quot;family&quot;:&quot;Arial&quot;,&quot;size&quot;:18},&quot;code&quot;:&quot;\\begin{align*}\n{J\\left(\\theta\\right)}&amp;={\\frac{1}{m}\\sum_{i=1}^{m}\\frac{1}{2}\\left(h_{\\theta}\\left(x^{\\left(i\\right)}\\right)-y^{\\left(i\\right)}\\right)^{2}=\\frac{1}{m}\\sum_{i=1}^{m}Cost\\left(h_{\\theta}\\left(x^{\\left(i\\right)}\\right)-y^{\\left(i\\right)}\\right)}\t\n\\end{align*}&quot;,&quot;aid&quot;:null,&quot;ts&quot;:1627798437312,&quot;cs&quot;:&quot;3wdG8ygkG3L6C2RplxWmWA==&quot;,&quot;size&quot;:{&quot;width&quot;:804.5,&quot;height&quot;:72.5}}" id="226" name="Google Shape;2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825" y="2308180"/>
            <a:ext cx="7662863" cy="69056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descr="{&quot;backgroundColorModified&quot;:false,&quot;aid&quot;:null,&quot;font&quot;:{&quot;color&quot;:&quot;#666666&quot;,&quot;size&quot;:18,&quot;family&quot;:&quot;Arial&quot;},&quot;code&quot;:&quot;\\begin{align*}\n{Cost\\left(h_{\\theta}\\left(x^{\\left(i\\right)}\\right)-y^{\\left(i\\right)}\\right)}&amp;={\\frac{1}{2}\\left(h_{\\theta}\\left(x^{\\left(i\\right)}\\right)-y^{\\left(i\\right)}\\right)^{2}}\\\\\n{\\,}&amp;\\relempty{Hay}\\\\\n{Cost\\left(h_{\\theta}\\left(x\\right)-y\\right)}&amp;={\\frac{1}{2}\\left(h_{\\theta}\\left(x\\right)-y\\right)^{2}}\t\n\\end{align*}&quot;,&quot;type&quot;:&quot;align*&quot;,&quot;backgroundColor&quot;:&quot;#ffffff&quot;,&quot;id&quot;:&quot;25&quot;,&quot;ts&quot;:1627199632053,&quot;cs&quot;:&quot;G35BSMayqkSRv03ktD6cUg==&quot;,&quot;size&quot;:{&quot;width&quot;:543,&quot;height&quot;:159}}" id="227" name="Google Shape;22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9825" y="3346925"/>
            <a:ext cx="5172075" cy="123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type="title"/>
          </p:nvPr>
        </p:nvSpPr>
        <p:spPr>
          <a:xfrm>
            <a:off x="353152" y="756100"/>
            <a:ext cx="7556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</a:t>
            </a:r>
            <a:r>
              <a:rPr lang="en-US"/>
              <a:t>àm mất mát (t.)</a:t>
            </a:r>
            <a:endParaRPr/>
          </a:p>
        </p:txBody>
      </p:sp>
      <p:sp>
        <p:nvSpPr>
          <p:cNvPr id="234" name="Google Shape;234;p25"/>
          <p:cNvSpPr txBox="1"/>
          <p:nvPr>
            <p:ph idx="1" type="body"/>
          </p:nvPr>
        </p:nvSpPr>
        <p:spPr>
          <a:xfrm>
            <a:off x="425200" y="1959425"/>
            <a:ext cx="8227500" cy="481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Logistic Regression 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aid&quot;:null,&quot;font&quot;:{&quot;family&quot;:&quot;Arial&quot;,&quot;color&quot;:&quot;#666666&quot;,&quot;size&quot;:18},&quot;backgroundColorModified&quot;:false,&quot;backgroundColor&quot;:&quot;#ffffff&quot;,&quot;id&quot;:&quot;25&quot;,&quot;type&quot;:&quot;align*&quot;,&quot;code&quot;:&quot;\\begin{align*}\n{Cost\\left(h_{\\theta}\\left(x\\right)-y\\right)}&amp;={\\begin{cases}\n{-\\log_{}\\left(h_{\\theta}\\left(x\\right)\\right)}&amp;{if\\,y\\,=1}\\\\\n{-\\log_{}\\left(1-h_{\\theta}\\left(x\\right)\\right)}&amp;{if\\,y\\,=\\,0}\\\\\n\\end{cases}}\t\n\\end{align*}&quot;,&quot;ts&quot;:1627273127460,&quot;cs&quot;:&quot;HjbVqZCTJbksJbV2TcS1tw==&quot;,&quot;size&quot;:{&quot;width&quot;:587,&quot;height&quot;:68}}" id="235" name="Google Shape;2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1650" y="2602141"/>
            <a:ext cx="5591175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3450" y="4229925"/>
            <a:ext cx="3518475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5"/>
          <p:cNvSpPr txBox="1"/>
          <p:nvPr/>
        </p:nvSpPr>
        <p:spPr>
          <a:xfrm>
            <a:off x="1986500" y="4578013"/>
            <a:ext cx="95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 =1</a:t>
            </a:r>
            <a:endParaRPr/>
          </a:p>
        </p:txBody>
      </p:sp>
      <p:sp>
        <p:nvSpPr>
          <p:cNvPr id="238" name="Google Shape;238;p25"/>
          <p:cNvSpPr txBox="1"/>
          <p:nvPr/>
        </p:nvSpPr>
        <p:spPr>
          <a:xfrm>
            <a:off x="669650" y="3943550"/>
            <a:ext cx="6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Cost</a:t>
            </a:r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3908150" y="5906175"/>
            <a:ext cx="6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backgroundColorModified&quot;:false,&quot;code&quot;:&quot;\\begin{align*}\n{\\,if\\,y=1,\\,h_{\\theta}\\left(x\\right)=\\,1,\\,then\\,}&amp;\\relempty{Cost\\left(\\,h_{\\theta}\\left(x\\right)\\,,y\\right)=\\,0}\\\\\n{if\\,y=1,\\,h_{\\theta}\\left(x\\right)\\,=\\,0,\\,then\\,}&amp;\\relempty{Cost\\left(h_{\\theta}\\left(x\\right),y\\right)\\,=\\,\\infty}\t\n\\end{align*}&quot;,&quot;id&quot;:&quot;15&quot;,&quot;aid&quot;:null,&quot;type&quot;:&quot;align*&quot;,&quot;backgroundColor&quot;:&quot;#ffffff&quot;,&quot;font&quot;:{&quot;color&quot;:&quot;#000000&quot;,&quot;size&quot;:12,&quot;family&quot;:&quot;Arial&quot;},&quot;ts&quot;:1627882705022,&quot;cs&quot;:&quot;gy11KkFQOiQ7BFeLhp0fqg==&quot;,&quot;size&quot;:{&quot;width&quot;:399.66666666666674,&quot;height&quot;:43}}" id="240" name="Google Shape;240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9788" y="5671653"/>
            <a:ext cx="380682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h_{\\theta}\\left(x\\right)$$&quot;,&quot;backgroundColor&quot;:&quot;#ffffff&quot;,&quot;id&quot;:&quot;38&quot;,&quot;type&quot;:&quot;$$&quot;,&quot;backgroundColorModified&quot;:null,&quot;aid&quot;:null,&quot;font&quot;:{&quot;size&quot;:14,&quot;color&quot;:&quot;#000000&quot;,&quot;family&quot;:&quot;Arial&quot;},&quot;ts&quot;:1627882736384,&quot;cs&quot;:&quot;EWayPpAVLQzKXQleVXoeRA==&quot;,&quot;size&quot;:{&quot;width&quot;:48,&quot;height&quot;:21.666666666666668}}" id="241" name="Google Shape;241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35050" y="6306375"/>
            <a:ext cx="457200" cy="20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6"/>
          <p:cNvSpPr txBox="1"/>
          <p:nvPr>
            <p:ph type="title"/>
          </p:nvPr>
        </p:nvSpPr>
        <p:spPr>
          <a:xfrm>
            <a:off x="353152" y="756100"/>
            <a:ext cx="7556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Hàm mất mát (t.)</a:t>
            </a:r>
            <a:endParaRPr/>
          </a:p>
        </p:txBody>
      </p:sp>
      <p:sp>
        <p:nvSpPr>
          <p:cNvPr id="248" name="Google Shape;248;p26"/>
          <p:cNvSpPr txBox="1"/>
          <p:nvPr>
            <p:ph idx="1" type="body"/>
          </p:nvPr>
        </p:nvSpPr>
        <p:spPr>
          <a:xfrm>
            <a:off x="425200" y="1959425"/>
            <a:ext cx="8227500" cy="481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Logistic Regression 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aid&quot;:null,&quot;font&quot;:{&quot;family&quot;:&quot;Arial&quot;,&quot;color&quot;:&quot;#666666&quot;,&quot;size&quot;:18},&quot;backgroundColorModified&quot;:false,&quot;backgroundColor&quot;:&quot;#ffffff&quot;,&quot;id&quot;:&quot;25&quot;,&quot;type&quot;:&quot;align*&quot;,&quot;code&quot;:&quot;\\begin{align*}\n{Cost\\left(h_{\\theta}\\left(x\\right)-y\\right)}&amp;={\\begin{cases}\n{-\\log_{}\\left(h_{\\theta}\\left(x\\right)\\right)}&amp;{if\\,y\\,=1}\\\\\n{-\\log_{}\\left(1-h_{\\theta}\\left(x\\right)\\right)}&amp;{if\\,y\\,=\\,0}\\\\\n\\end{cases}}\t\n\\end{align*}&quot;,&quot;ts&quot;:1627273127460,&quot;cs&quot;:&quot;HjbVqZCTJbksJbV2TcS1tw==&quot;,&quot;size&quot;:{&quot;width&quot;:587,&quot;height&quot;:68}}" id="249" name="Google Shape;24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1650" y="2602141"/>
            <a:ext cx="5591175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6"/>
          <p:cNvSpPr txBox="1"/>
          <p:nvPr/>
        </p:nvSpPr>
        <p:spPr>
          <a:xfrm>
            <a:off x="669650" y="3943550"/>
            <a:ext cx="6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Cost</a:t>
            </a:r>
            <a:endParaRPr/>
          </a:p>
        </p:txBody>
      </p:sp>
      <p:pic>
        <p:nvPicPr>
          <p:cNvPr id="251" name="Google Shape;25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025" y="4343750"/>
            <a:ext cx="243840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aid&quot;:null,&quot;backgroundColor&quot;:&quot;#ffffff&quot;,&quot;font&quot;:{&quot;color&quot;:&quot;#000000&quot;,&quot;size&quot;:12,&quot;family&quot;:&quot;Arial&quot;},&quot;code&quot;:&quot;\\begin{align*}\n{\\,if\\,y=0,\\,h_{\\theta}\\left(x\\right)=\\,0,\\,then\\,}&amp;\\relempty{Cost\\left(h_{\\theta}\\left(x\\right)\\,,y\\right)\\,=\\,0}\\\\\n{if\\,y=0,\\,h_{\\theta}\\left(x\\right)=\\,1,\\,then\\,}&amp;\\relempty{Cost\\left(h_{\\theta}\\left(x\\right)\\,,y\\right)=\\,\\infty}\t\n\\end{align*}&quot;,&quot;id&quot;:&quot;15&quot;,&quot;type&quot;:&quot;align*&quot;,&quot;ts&quot;:1627882882847,&quot;cs&quot;:&quot;w01txPeVGUXlI7zNthmWnQ==&quot;,&quot;size&quot;:{&quot;width&quot;:396.66666666666674,&quot;height&quot;:43}}" id="252" name="Google Shape;25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213" y="5781560"/>
            <a:ext cx="37782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h_{\\theta}\\left(x\\right)$$&quot;,&quot;backgroundColor&quot;:&quot;#ffffff&quot;,&quot;id&quot;:&quot;38&quot;,&quot;type&quot;:&quot;$$&quot;,&quot;backgroundColorModified&quot;:null,&quot;aid&quot;:null,&quot;font&quot;:{&quot;size&quot;:14,&quot;color&quot;:&quot;#000000&quot;,&quot;family&quot;:&quot;Arial&quot;},&quot;ts&quot;:1627882736384,&quot;cs&quot;:&quot;EWayPpAVLQzKXQleVXoeRA==&quot;,&quot;size&quot;:{&quot;width&quot;:48,&quot;height&quot;:21.666666666666668}}" id="253" name="Google Shape;253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35050" y="6306375"/>
            <a:ext cx="457200" cy="20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6"/>
          <p:cNvSpPr txBox="1"/>
          <p:nvPr/>
        </p:nvSpPr>
        <p:spPr>
          <a:xfrm>
            <a:off x="1595975" y="4807275"/>
            <a:ext cx="95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 = 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7"/>
          <p:cNvSpPr txBox="1"/>
          <p:nvPr>
            <p:ph type="title"/>
          </p:nvPr>
        </p:nvSpPr>
        <p:spPr>
          <a:xfrm>
            <a:off x="425200" y="1001025"/>
            <a:ext cx="7556700" cy="695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</a:t>
            </a:r>
            <a:r>
              <a:rPr lang="en-US"/>
              <a:t>àm </a:t>
            </a:r>
            <a:r>
              <a:rPr lang="en-US"/>
              <a:t>mất mát </a:t>
            </a:r>
            <a:r>
              <a:rPr lang="en-US"/>
              <a:t>(</a:t>
            </a:r>
            <a:r>
              <a:rPr lang="en-US"/>
              <a:t>t.)</a:t>
            </a:r>
            <a:endParaRPr/>
          </a:p>
        </p:txBody>
      </p:sp>
      <p:sp>
        <p:nvSpPr>
          <p:cNvPr id="261" name="Google Shape;261;p27"/>
          <p:cNvSpPr txBox="1"/>
          <p:nvPr>
            <p:ph idx="1" type="body"/>
          </p:nvPr>
        </p:nvSpPr>
        <p:spPr>
          <a:xfrm>
            <a:off x="199400" y="1595575"/>
            <a:ext cx="8709600" cy="526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Logistic Regression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type&quot;:&quot;align*&quot;,&quot;id&quot;:&quot;26&quot;,&quot;font&quot;:{&quot;size&quot;:18,&quot;color&quot;:&quot;#000000&quot;,&quot;family&quot;:&quot;Arial&quot;},&quot;code&quot;:&quot;\\begin{align*}\n{J\\left(\\theta\\right)}&amp;={\\frac{1}{m}\\sum_{i=1}^{m}Cost\\left(h_{\\theta}\\left(x^{\\left(i\\right)}\\right)-y^{\\left(i\\right)}\\right)}\t\n\\end{align*}&quot;,&quot;aid&quot;:null,&quot;backgroundColorModified&quot;:false,&quot;backgroundColor&quot;:&quot;#ffffff&quot;,&quot;ts&quot;:1627883002132,&quot;cs&quot;:&quot;Aoi1ZADSSbCh4veTz4dPDA==&quot;,&quot;size&quot;:{&quot;width&quot;:435.6666666666667,&quot;height&quot;:72.33333333333333}}" id="262" name="Google Shape;26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5312" y="1880720"/>
            <a:ext cx="4149725" cy="688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descr="{&quot;type&quot;:&quot;align*&quot;,&quot;code&quot;:&quot;\\begin{align*}\n{}&amp;\\relempty{Cost\\left(h_{\\theta}\\left(x\\right)-y\\right)=-y\\log_{}\\left(h_{\\theta}\\left(x\\right)\\right)-\\left(1-y\\right)\\log_{}\\left(1-h_{\\theta}\\left(x\\right)\\right)}\t\n\\end{align*}&quot;,&quot;id&quot;:&quot;26&quot;,&quot;backgroundColor&quot;:&quot;#ffffff&quot;,&quot;aid&quot;:null,&quot;font&quot;:{&quot;color&quot;:&quot;#000000&quot;,&quot;size&quot;:18,&quot;family&quot;:&quot;Arial&quot;},&quot;backgroundColorModified&quot;:false,&quot;ts&quot;:1627201783886,&quot;cs&quot;:&quot;rQTRnJh4X919+96fasvOxg==&quot;,&quot;size&quot;:{&quot;width&quot;:697.5,&quot;height&quot;:29}}" id="263" name="Google Shape;26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1700" y="3997306"/>
            <a:ext cx="6643688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aid&quot;:null,&quot;code&quot;:&quot;\\begin{align*}\n{1.\\,if\\,y=1,\\,}&amp;\\relempty{Cost\\left(\\,h_{\\theta}\\left(x\\right)\\,,y\\right)=\\,-\\log_{}\\left(\\,h_{\\theta}\\left(x\\right)\\right)}\\\\\n{2.\\,if\\,y=0,\\,}&amp;\\relempty{Cost\\left(h_{\\theta}\\left(x\\right)\\,,y\\right)\\,=\\,-\\log_{}\\left(1-\\,h_{\\theta}\\left(x\\right)\\right)}\t\n\\end{align*}&quot;,&quot;id&quot;:&quot;15&quot;,&quot;type&quot;:&quot;align*&quot;,&quot;font&quot;:{&quot;family&quot;:&quot;Arial&quot;,&quot;color&quot;:&quot;#000000&quot;,&quot;size&quot;:12},&quot;backgroundColorModified&quot;:false,&quot;ts&quot;:1627204312422,&quot;cs&quot;:&quot;j/bRZJO7bNCQnrsx3R0ukQ==&quot;,&quot;size&quot;:{&quot;width&quot;:408.6666666666667,&quot;height&quot;:43}}" id="264" name="Google Shape;26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26623" y="4663466"/>
            <a:ext cx="38925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\\begin{align*}\n{J\\left(\\theta\\right)}&amp;={-\\frac{1}{m}\\sum_{i=1}^{m}\\left[y^{\\left(i\\right)}.\\log_{}\\left(h_{\\theta}\\left(x^{\\left(i\\right)}\\right)\\right)+\\left(1-y^{\\left(i\\right)}\\right).\\log_{}\\left(1-h_{\\theta}\\left(x^{\\left(i\\right)}\\right)\\right)\\right]}\t\n\\end{align*}&quot;,&quot;aid&quot;:null,&quot;backgroundColorModified&quot;:false,&quot;type&quot;:&quot;align*&quot;,&quot;font&quot;:{&quot;size&quot;:18,&quot;family&quot;:&quot;Arial&quot;,&quot;color&quot;:&quot;#000000&quot;},&quot;id&quot;:&quot;26&quot;,&quot;backgroundColor&quot;:&quot;#ffffff&quot;,&quot;ts&quot;:1627204479948,&quot;cs&quot;:&quot;LvZF6IH2v5s9WbeM4Oesrw==&quot;,&quot;size&quot;:{&quot;width&quot;:832,&quot;height&quot;:73.00000000000007}}" id="265" name="Google Shape;265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0488" y="5610818"/>
            <a:ext cx="7924800" cy="695325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descr="{&quot;aid&quot;:null,&quot;font&quot;:{&quot;family&quot;:&quot;Arial&quot;,&quot;color&quot;:&quot;#666666&quot;,&quot;size&quot;:18},&quot;backgroundColorModified&quot;:false,&quot;backgroundColor&quot;:&quot;#ffffff&quot;,&quot;id&quot;:&quot;25&quot;,&quot;type&quot;:&quot;align*&quot;,&quot;code&quot;:&quot;\\begin{align*}\n{Cost\\left(h_{\\theta}\\left(x\\right)-y\\right)}&amp;={\\begin{cases}\n{-\\log_{}\\left(h_{\\theta}\\left(x\\right)\\right)}&amp;{if\\,y\\,=1}\\\\\n{-\\log_{}\\left(1-h_{\\theta}\\left(x\\right)\\right)}&amp;{if\\,y\\,=\\,0}\\\\\n\\end{cases}}\t\n\\end{align*}&quot;,&quot;ts&quot;:1627273127460,&quot;cs&quot;:&quot;HjbVqZCTJbksJbV2TcS1tw==&quot;,&quot;size&quot;:{&quot;width&quot;:587,&quot;height&quot;:68}}" id="266" name="Google Shape;266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9175" y="2959641"/>
            <a:ext cx="5591175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8"/>
          <p:cNvSpPr txBox="1"/>
          <p:nvPr>
            <p:ph type="title"/>
          </p:nvPr>
        </p:nvSpPr>
        <p:spPr>
          <a:xfrm>
            <a:off x="425200" y="1001025"/>
            <a:ext cx="7556700" cy="695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Tối ưu hàm mất mát </a:t>
            </a:r>
            <a:endParaRPr/>
          </a:p>
        </p:txBody>
      </p:sp>
      <p:sp>
        <p:nvSpPr>
          <p:cNvPr id="273" name="Google Shape;273;p28"/>
          <p:cNvSpPr txBox="1"/>
          <p:nvPr>
            <p:ph idx="1" type="body"/>
          </p:nvPr>
        </p:nvSpPr>
        <p:spPr>
          <a:xfrm>
            <a:off x="199400" y="1595575"/>
            <a:ext cx="8709600" cy="526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Logistic Regression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b="1" lang="en-US"/>
              <a:t>Tìm  </a:t>
            </a:r>
            <a:endParaRPr b="1"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b="1" lang="en-US"/>
              <a:t>Dự đoán một dữ liệu mới x</a:t>
            </a:r>
            <a:r>
              <a:rPr lang="en-US"/>
              <a:t>: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Kết quả 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code&quot;:&quot;\\begin{align*}\n{J\\left(\\theta\\right)}&amp;={-\\frac{1}{m}\\sum_{i=1}^{m}\\left[y^{\\left(i\\right)}.\\log_{}\\left(h_{\\theta}\\left(x^{\\left(i\\right)}\\right)\\right)+\\left(1-y^{\\left(i\\right)}\\right).\\log_{}\\left(1-h_{\\theta}\\left(x^{\\left(i\\right)}\\right)\\right)\\right]}\t\n\\end{align*}&quot;,&quot;aid&quot;:null,&quot;backgroundColorModified&quot;:false,&quot;type&quot;:&quot;align*&quot;,&quot;font&quot;:{&quot;size&quot;:18,&quot;family&quot;:&quot;Arial&quot;,&quot;color&quot;:&quot;#000000&quot;},&quot;id&quot;:&quot;26&quot;,&quot;backgroundColor&quot;:&quot;#ffffff&quot;,&quot;ts&quot;:1627204479948,&quot;cs&quot;:&quot;LvZF6IH2v5s9WbeM4Oesrw==&quot;,&quot;size&quot;:{&quot;width&quot;:832,&quot;height&quot;:73.00000000000007}}" id="274" name="Google Shape;2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638" y="2287080"/>
            <a:ext cx="7924800" cy="695325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descr="{&quot;font&quot;:{&quot;color&quot;:&quot;#666666&quot;,&quot;size&quot;:18,&quot;family&quot;:&quot;Arial&quot;},&quot;backgroundColorModified&quot;:null,&quot;backgroundColor&quot;:&quot;#ffffff&quot;,&quot;type&quot;:&quot;$$&quot;,&quot;aid&quot;:null,&quot;code&quot;:&quot;$$\\theta$$&quot;,&quot;id&quot;:&quot;39&quot;,&quot;ts&quot;:1627883546625,&quot;cs&quot;:&quot;zrFL5awBMyloDzWF+hQK1A==&quot;,&quot;size&quot;:{&quot;width&quot;:12,&quot;height&quot;:20.5}}" id="275" name="Google Shape;27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5900" y="3573075"/>
            <a:ext cx="114300" cy="195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Arial&quot;,&quot;color&quot;:&quot;#666666&quot;,&quot;size&quot;:18},&quot;code&quot;:&quot;$$\\min_{\\theta}\\left(J\\left(\\theta\\right)\\right)$$&quot;,&quot;backgroundColor&quot;:&quot;#ffffff&quot;,&quot;type&quot;:&quot;$$&quot;,&quot;aid&quot;:null,&quot;backgroundColorModified&quot;:null,&quot;id&quot;:&quot;40&quot;,&quot;ts&quot;:1627883629540,&quot;cs&quot;:&quot;9Tot0OxnTuFKFMhYdeGRrg==&quot;,&quot;size&quot;:{&quot;width&quot;:118.66666666666667,&quot;height&quot;:40.166666666666664}}" id="276" name="Google Shape;27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7100" y="3890025"/>
            <a:ext cx="1130300" cy="382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size&quot;:18,&quot;color&quot;:&quot;#666666&quot;,&quot;family&quot;:&quot;Arial&quot;},&quot;aid&quot;:null,&quot;backgroundColor&quot;:&quot;#ffffff&quot;,&quot;id&quot;:&quot;41&quot;,&quot;code&quot;:&quot;$$h_{\\theta}\\left(x\\right)=\\frac{1}{1+e^{-\\theta^{T}x}}$$&quot;,&quot;backgroundColorModified&quot;:null,&quot;type&quot;:&quot;$$&quot;,&quot;ts&quot;:1627883813410,&quot;cs&quot;:&quot;3AvweIkF8Xf4i7LE93ywLw==&quot;,&quot;size&quot;:{&quot;width&quot;:220.40000000000006,&quot;height&quot;:62}}" id="277" name="Google Shape;277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95625" y="5472825"/>
            <a:ext cx="2099310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"/>
          <p:cNvSpPr txBox="1"/>
          <p:nvPr>
            <p:ph type="title"/>
          </p:nvPr>
        </p:nvSpPr>
        <p:spPr>
          <a:xfrm>
            <a:off x="425200" y="1001025"/>
            <a:ext cx="7556700" cy="695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Tối ưu hàm mất mát</a:t>
            </a:r>
            <a:endParaRPr/>
          </a:p>
        </p:txBody>
      </p:sp>
      <p:sp>
        <p:nvSpPr>
          <p:cNvPr id="284" name="Google Shape;284;p29"/>
          <p:cNvSpPr txBox="1"/>
          <p:nvPr>
            <p:ph idx="1" type="body"/>
          </p:nvPr>
        </p:nvSpPr>
        <p:spPr>
          <a:xfrm>
            <a:off x="199400" y="1696425"/>
            <a:ext cx="8709600" cy="5161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Phương pháp tối ưu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Muốn</a:t>
            </a:r>
            <a:r>
              <a:rPr lang="en-US"/>
              <a:t>    </a:t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 </a:t>
            </a:r>
            <a:r>
              <a:rPr b="1" lang="en-US"/>
              <a:t>Thuật toán</a:t>
            </a:r>
            <a:endParaRPr b="1"/>
          </a:p>
          <a:p>
            <a:pPr indent="-365760" lvl="1" marL="13716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Chọn một điểm bất kỳ </a:t>
            </a:r>
            <a:endParaRPr/>
          </a:p>
          <a:p>
            <a:pPr indent="-365760" lvl="1" marL="13716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Thực hiện liên tiếp các phép biến đổi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1" marL="1371600" rtl="0" algn="l">
              <a:spcBef>
                <a:spcPts val="60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Thuật toán dừng khi           thay đổi rất nhỏ 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code&quot;:&quot;\\begin{align*}\n{J\\left(\\theta\\right)}&amp;={-\\frac{1}{m}\\sum_{i=1}^{m}\\left[y^{\\left(i\\right)}.\\log_{}\\left(h_{\\theta}\\left(x^{\\left(i\\right)}\\right)\\right)+\\left(1-y^{\\left(i\\right)}\\right).\\log_{}\\left(1-h_{\\theta}\\left(x^{\\left(i\\right)}\\right)\\right)\\right]}\t\n\\end{align*}&quot;,&quot;aid&quot;:null,&quot;backgroundColorModified&quot;:false,&quot;type&quot;:&quot;align*&quot;,&quot;font&quot;:{&quot;size&quot;:18,&quot;family&quot;:&quot;Arial&quot;,&quot;color&quot;:&quot;#000000&quot;},&quot;id&quot;:&quot;26&quot;,&quot;backgroundColor&quot;:&quot;#ffffff&quot;,&quot;ts&quot;:1627204479948,&quot;cs&quot;:&quot;LvZF6IH2v5s9WbeM4Oesrw==&quot;,&quot;size&quot;:{&quot;width&quot;:832,&quot;height&quot;:73.00000000000007}}" id="285" name="Google Shape;28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763" y="2445568"/>
            <a:ext cx="7924800" cy="695325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descr="{&quot;font&quot;:{&quot;family&quot;:&quot;Arial&quot;,&quot;color&quot;:&quot;#666666&quot;,&quot;size&quot;:18},&quot;code&quot;:&quot;$$\\min_{\\theta}\\left(J\\left(\\theta\\right)\\right)$$&quot;,&quot;backgroundColor&quot;:&quot;#ffffff&quot;,&quot;type&quot;:&quot;$$&quot;,&quot;aid&quot;:null,&quot;backgroundColorModified&quot;:null,&quot;id&quot;:&quot;40&quot;,&quot;ts&quot;:1627883629540,&quot;cs&quot;:&quot;9Tot0OxnTuFKFMhYdeGRrg==&quot;,&quot;size&quot;:{&quot;width&quot;:118.66666666666667,&quot;height&quot;:40.166666666666664}}" id="286" name="Google Shape;28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1250" y="3587475"/>
            <a:ext cx="1130300" cy="382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backgroundColor&quot;:&quot;#ffffff&quot;,&quot;type&quot;:&quot;$&quot;,&quot;id&quot;:&quot;24&quot;,&quot;aid&quot;:null,&quot;code&quot;:&quot;$\\theta=\\left(\\theta_{0},\\theta_{1},...,\\theta_{n}\\right)^{T}$&quot;,&quot;font&quot;:{&quot;family&quot;:&quot;Arial&quot;,&quot;color&quot;:&quot;#666666&quot;,&quot;size&quot;:18},&quot;ts&quot;:1627793633958,&quot;cs&quot;:&quot;hecZYrwzRCyxC8+CtBhLBQ==&quot;,&quot;size&quot;:{&quot;width&quot;:236.60000000000002,&quot;height&quot;:33.600000000000016}}" id="287" name="Google Shape;28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2607" y="4455144"/>
            <a:ext cx="2253615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29&quot;,&quot;type&quot;:&quot;lalign*&quot;,&quot;font&quot;:{&quot;color&quot;:&quot;#666666&quot;,&quot;size&quot;:18,&quot;family&quot;:&quot;Arial&quot;},&quot;aid&quot;:null,&quot;code&quot;:&quot;\\begin{lalign*}\n&amp;{\\theta_{j}:=\\theta_{j}-\\alpha\\cdot\\diff{J\\left(\\theta,x^{\\left(i\\right)},y^{\\left(i\\right)}\\right)}{\\theta_{j}}}\t\n\\end{lalign*}&quot;,&quot;backgroundColor&quot;:&quot;#ffffff&quot;,&quot;backgroundColorModified&quot;:false,&quot;ts&quot;:1627884453702,&quot;cs&quot;:&quot;e3e5hUG0Y3N+PW7G2HemkQ==&quot;,&quot;size&quot;:{&quot;width&quot;:347,&quot;height&quot;:76}}" id="288" name="Google Shape;288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53600" y="5286427"/>
            <a:ext cx="330517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aid&quot;:null,&quot;id&quot;:&quot;27&quot;,&quot;font&quot;:{&quot;family&quot;:&quot;Arial&quot;,&quot;size&quot;:18,&quot;color&quot;:&quot;#666666&quot;},&quot;code&quot;:&quot;$J\\left(\\theta\\right)$&quot;,&quot;backgroundColorModified&quot;:false,&quot;type&quot;:&quot;$&quot;,&quot;ts&quot;:1627799631906,&quot;cs&quot;:&quot;u5v/SMbL2T7TAzNMS3VujA==&quot;,&quot;size&quot;:{&quot;width&quot;:48.666666666666664,&quot;height&quot;:28.666666666666668}}" id="289" name="Google Shape;289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65312" y="6291088"/>
            <a:ext cx="463550" cy="27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/>
          <p:cNvSpPr txBox="1"/>
          <p:nvPr>
            <p:ph type="title"/>
          </p:nvPr>
        </p:nvSpPr>
        <p:spPr>
          <a:xfrm>
            <a:off x="425200" y="1001025"/>
            <a:ext cx="7556700" cy="845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Tối ưu hàm </a:t>
            </a:r>
            <a:r>
              <a:rPr lang="en-US"/>
              <a:t>mất mát (t.)</a:t>
            </a:r>
            <a:endParaRPr/>
          </a:p>
        </p:txBody>
      </p:sp>
      <p:sp>
        <p:nvSpPr>
          <p:cNvPr id="296" name="Google Shape;296;p30"/>
          <p:cNvSpPr txBox="1"/>
          <p:nvPr/>
        </p:nvSpPr>
        <p:spPr>
          <a:xfrm>
            <a:off x="762000" y="2340425"/>
            <a:ext cx="79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0"/>
          <p:cNvSpPr txBox="1"/>
          <p:nvPr>
            <p:ph idx="1" type="body"/>
          </p:nvPr>
        </p:nvSpPr>
        <p:spPr>
          <a:xfrm>
            <a:off x="362400" y="1941275"/>
            <a:ext cx="8709600" cy="468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t/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     </a:t>
            </a:r>
            <a:endParaRPr/>
          </a:p>
          <a:p>
            <a:pPr indent="0" lvl="0" marL="22860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indent="0" lvl="0" marL="22860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     ===&gt;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font&quot;:{&quot;color&quot;:&quot;#000000&quot;,&quot;family&quot;:&quot;Arial&quot;,&quot;size&quot;:18},&quot;type&quot;:&quot;lalign*&quot;,&quot;backgroundColor&quot;:&quot;#ffffff&quot;,&quot;backgroundColorModified&quot;:false,&quot;aid&quot;:null,&quot;code&quot;:&quot;\\begin{lalign*}\n&amp;{\\diff{J\\left(\\theta,x^{\\left(i\\right)},y^{\\left(i\\right)}\\right)}{\\theta_{j}}=\\left(h_{\\theta}\\left(x^{\\left(i\\right)}\\right)-y^{\\left(i\\right)}\\right).x_{j}^{\\left(i\\right)}}\t\n\\end{lalign*}&quot;,&quot;id&quot;:&quot;30&quot;,&quot;ts&quot;:1627885190524,&quot;cs&quot;:&quot;bDrNhfl7J8VzQXJsRNpGtg==&quot;,&quot;size&quot;:{&quot;width&quot;:476.3333333333333,&quot;height&quot;:75.99999999999993}}" id="298" name="Google Shape;29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8650" y="5787724"/>
            <a:ext cx="4537075" cy="723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descr="{&quot;font&quot;:{&quot;color&quot;:&quot;#000000&quot;,&quot;family&quot;:&quot;Arial&quot;,&quot;size&quot;:18},&quot;backgroundColor&quot;:&quot;#ffffff&quot;,&quot;backgroundColorModified&quot;:false,&quot;aid&quot;:null,&quot;code&quot;:&quot;\\begin{lalign*}\n&amp;{\\diff{J\\left(\\theta,x^{\\left(i\\right)},y^{\\left(i\\right)}\\right)}{\\theta_{j}}=\\,\\text{?}}\t\n\\end{lalign*}&quot;,&quot;type&quot;:&quot;lalign*&quot;,&quot;id&quot;:&quot;30&quot;,&quot;ts&quot;:1627884921525,&quot;cs&quot;:&quot;F0owTA7At25NlGhBqKDY6w==&quot;,&quot;size&quot;:{&quot;width&quot;:238.20000000000002,&quot;height&quot;:76}}" id="299" name="Google Shape;29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0027" y="2559458"/>
            <a:ext cx="226885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\\begin{lalign*}\n&amp;{\\text{.}\\;\\text{}\\diff{J\\left(\\theta,x^{\\left(i\\right)},y^{\\left(i\\right)}\\right)}{\\theta_{j}}=\\diff{J\\left(\\theta,x^{\\left(i\\right)},y^{\\left(i\\right)}\\right)}{h_{\\theta}}.\\diff{h_{\\theta}}{x^{\\left(i\\right)}}.\\diff{x^{\\left(i\\right)}}{\\theta_{j}}}\\\\\n&amp;{.\\text{}\\diff{J\\left(\\theta,x^{\\left(i\\right)},y^{\\left(i\\right)}\\right)}{h_{\\theta}}=-\\left(\\frac{y^{\\left(i\\right)}}{h_{\\theta}\\left(x^{\\left(i\\right)}\\right)}-\\frac{1-y^{\\left(i\\right)}}{1-h_{\\theta}\\left(x^{\\left(i\\right)}\\right)}\\right)=\\frac{h_{\\theta}\\left(x^{\\left(i\\right)}\\right)-y^{\\left(i\\right)}}{h_{\\theta}\\left(x^{\\left(i\\right)}\\right)\\left(1-h_{\\theta}\\left(x^{\\left(i\\right)}\\right)\\right)}}\\\\\n&amp;{\\text{.}\\;\\text{}\\diff{h_{\\theta}}{x^{\\left(i\\right)}}=h_{\\theta}\\left(x^{\\left(i\\right)}\\right)\\left(1-h_{\\theta}\\left(x^{\\left(i\\right)}\\right)\\right)}\\\\\n&amp;{\\text{.}\\;\\text{}\\diff{x^{\\left(i\\right)}}{\\theta_{j}}=x_{j}^{\\left(i\\right)}}\t\n\\end{lalign*}&quot;,&quot;font&quot;:{&quot;color&quot;:&quot;#000000&quot;,&quot;size&quot;:13.5,&quot;family&quot;:&quot;Arial&quot;},&quot;backgroundColorModified&quot;:false,&quot;backgroundColor&quot;:&quot;#ffffff&quot;,&quot;id&quot;:&quot;31&quot;,&quot;type&quot;:&quot;lalign*&quot;,&quot;aid&quot;:null,&quot;ts&quot;:1627885067911,&quot;cs&quot;:&quot;iz+nyvD9/FbZLliS0WojWQ==&quot;,&quot;size&quot;:{&quot;width&quot;:676,&quot;height&quot;:238}}" id="300" name="Google Shape;30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3829" y="3520775"/>
            <a:ext cx="643890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Modified&quot;:false,&quot;type&quot;:&quot;align*&quot;,&quot;code&quot;:&quot;\\begin{align*}\n{J\\left(\\theta,x^{\\left(i\\right)},y^{\\left(i\\right)}\\right)}&amp;={-\\left[y^{\\left(i\\right)}.\\log_{}\\left(h_{\\theta}\\left(x^{\\left(i\\right)}\\right)\\right)+\\left(1-y^{\\left(i\\right)}\\right).\\log_{}\\left(1-h_{\\theta}\\left(x^{\\left(i\\right)}\\right)\\right)\\right]}\t\n\\end{align*}&quot;,&quot;font&quot;:{&quot;color&quot;:&quot;#000000&quot;,&quot;family&quot;:&quot;Arial&quot;,&quot;size&quot;:18},&quot;backgroundColor&quot;:&quot;#ffffff&quot;,&quot;id&quot;:&quot;26&quot;,&quot;ts&quot;:1627885611497,&quot;cs&quot;:&quot;B8HQRh14xr+w846vl0xCjg==&quot;,&quot;size&quot;:{&quot;width&quot;:864,&quot;height&quot;:51}}" id="301" name="Google Shape;301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0013" y="1959901"/>
            <a:ext cx="8229600" cy="485775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1"/>
          <p:cNvSpPr txBox="1"/>
          <p:nvPr>
            <p:ph type="title"/>
          </p:nvPr>
        </p:nvSpPr>
        <p:spPr>
          <a:xfrm>
            <a:off x="425200" y="1001025"/>
            <a:ext cx="6977100" cy="72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</a:t>
            </a:r>
            <a:endParaRPr/>
          </a:p>
        </p:txBody>
      </p:sp>
      <p:sp>
        <p:nvSpPr>
          <p:cNvPr id="308" name="Google Shape;308;p31"/>
          <p:cNvSpPr txBox="1"/>
          <p:nvPr>
            <p:ph idx="1" type="body"/>
          </p:nvPr>
        </p:nvSpPr>
        <p:spPr>
          <a:xfrm>
            <a:off x="425200" y="1814275"/>
            <a:ext cx="8410500" cy="489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9B2393"/>
                </a:solidFill>
                <a:highlight>
                  <a:srgbClr val="FFFFFF"/>
                </a:highlight>
              </a:rPr>
              <a:t>def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logistic_sigmoid_regression(X, y, w_init, alpha, tol = </a:t>
            </a:r>
            <a:r>
              <a:rPr lang="en-US" sz="1300">
                <a:solidFill>
                  <a:srgbClr val="1C00CF"/>
                </a:solidFill>
                <a:highlight>
                  <a:srgbClr val="FFFFFF"/>
                </a:highlight>
              </a:rPr>
              <a:t>1e-4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, loop = </a:t>
            </a:r>
            <a:r>
              <a:rPr lang="en-US" sz="1300">
                <a:solidFill>
                  <a:srgbClr val="1C00CF"/>
                </a:solidFill>
                <a:highlight>
                  <a:srgbClr val="FFFFFF"/>
                </a:highlight>
              </a:rPr>
              <a:t>10000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):</a:t>
            </a:r>
            <a:endParaRPr sz="13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   w = [w_init]</a:t>
            </a:r>
            <a:endParaRPr sz="13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   N = X.shape[</a:t>
            </a:r>
            <a:r>
              <a:rPr lang="en-US" sz="1300">
                <a:solidFill>
                  <a:srgbClr val="1C00CF"/>
                </a:solidFill>
                <a:highlight>
                  <a:srgbClr val="FFFFFF"/>
                </a:highlight>
              </a:rPr>
              <a:t>1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]</a:t>
            </a:r>
            <a:endParaRPr sz="13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   d = X.shape[</a:t>
            </a:r>
            <a:r>
              <a:rPr lang="en-US" sz="1300">
                <a:solidFill>
                  <a:srgbClr val="1C00CF"/>
                </a:solidFill>
                <a:highlight>
                  <a:srgbClr val="FFFFFF"/>
                </a:highlight>
              </a:rPr>
              <a:t>0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]</a:t>
            </a:r>
            <a:endParaRPr sz="13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   count = </a:t>
            </a:r>
            <a:r>
              <a:rPr lang="en-US" sz="1300">
                <a:solidFill>
                  <a:srgbClr val="1C00CF"/>
                </a:solidFill>
                <a:highlight>
                  <a:srgbClr val="FFFFFF"/>
                </a:highlight>
              </a:rPr>
              <a:t>0</a:t>
            </a:r>
            <a:endParaRPr sz="1300">
              <a:solidFill>
                <a:srgbClr val="1C00C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   check_w = </a:t>
            </a:r>
            <a:r>
              <a:rPr lang="en-US" sz="1300">
                <a:solidFill>
                  <a:srgbClr val="1C00CF"/>
                </a:solidFill>
                <a:highlight>
                  <a:srgbClr val="FFFFFF"/>
                </a:highlight>
              </a:rPr>
              <a:t>20</a:t>
            </a:r>
            <a:endParaRPr sz="1300">
              <a:solidFill>
                <a:srgbClr val="1C00C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b="1" lang="en-US" sz="1300">
                <a:solidFill>
                  <a:srgbClr val="9B2393"/>
                </a:solidFill>
                <a:highlight>
                  <a:srgbClr val="FFFFFF"/>
                </a:highlight>
              </a:rPr>
              <a:t>while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count &lt; loop:</a:t>
            </a:r>
            <a:endParaRPr sz="13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i="1" lang="en-US" sz="1300">
                <a:solidFill>
                  <a:srgbClr val="536579"/>
                </a:solidFill>
                <a:highlight>
                  <a:srgbClr val="FFFFFF"/>
                </a:highlight>
              </a:rPr>
              <a:t># mix data</a:t>
            </a:r>
            <a:endParaRPr i="1" sz="1300">
              <a:solidFill>
                <a:srgbClr val="53657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       mix_id = np.random.permutation(N)</a:t>
            </a:r>
            <a:endParaRPr sz="13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b="1" lang="en-US" sz="1300">
                <a:solidFill>
                  <a:srgbClr val="9B2393"/>
                </a:solidFill>
                <a:highlight>
                  <a:srgbClr val="FFFFFF"/>
                </a:highlight>
              </a:rPr>
              <a:t>for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i </a:t>
            </a:r>
            <a:r>
              <a:rPr b="1" lang="en-US" sz="1300">
                <a:solidFill>
                  <a:srgbClr val="9B2393"/>
                </a:solidFill>
                <a:highlight>
                  <a:srgbClr val="FFFFFF"/>
                </a:highlight>
              </a:rPr>
              <a:t>in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mix_id:</a:t>
            </a:r>
            <a:endParaRPr sz="13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           xi = X[:, i].reshape(d, </a:t>
            </a:r>
            <a:r>
              <a:rPr lang="en-US" sz="1300">
                <a:solidFill>
                  <a:srgbClr val="1C00CF"/>
                </a:solidFill>
                <a:highlight>
                  <a:srgbClr val="FFFFFF"/>
                </a:highlight>
              </a:rPr>
              <a:t>1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)</a:t>
            </a:r>
            <a:endParaRPr sz="13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           yi = y[i]</a:t>
            </a:r>
            <a:endParaRPr sz="13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           zi = sigmoid(np.dot(w[</a:t>
            </a:r>
            <a:r>
              <a:rPr lang="en-US" sz="1300">
                <a:solidFill>
                  <a:srgbClr val="1C00CF"/>
                </a:solidFill>
                <a:highlight>
                  <a:srgbClr val="FFFFFF"/>
                </a:highlight>
              </a:rPr>
              <a:t>-1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].T, xi))</a:t>
            </a:r>
            <a:endParaRPr sz="13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           w_new = w[</a:t>
            </a:r>
            <a:r>
              <a:rPr lang="en-US" sz="1300">
                <a:solidFill>
                  <a:srgbClr val="1C00CF"/>
                </a:solidFill>
                <a:highlight>
                  <a:srgbClr val="FFFFFF"/>
                </a:highlight>
              </a:rPr>
              <a:t>-1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] + alpha*(yi - zi)*xi</a:t>
            </a:r>
            <a:endParaRPr sz="13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           count += </a:t>
            </a:r>
            <a:r>
              <a:rPr lang="en-US" sz="1300">
                <a:solidFill>
                  <a:srgbClr val="1C00CF"/>
                </a:solidFill>
                <a:highlight>
                  <a:srgbClr val="FFFFFF"/>
                </a:highlight>
              </a:rPr>
              <a:t>1</a:t>
            </a:r>
            <a:endParaRPr sz="1300">
              <a:solidFill>
                <a:srgbClr val="1C00C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           </a:t>
            </a:r>
            <a:r>
              <a:rPr i="1" lang="en-US" sz="1300">
                <a:solidFill>
                  <a:srgbClr val="536579"/>
                </a:solidFill>
                <a:highlight>
                  <a:srgbClr val="FFFFFF"/>
                </a:highlight>
              </a:rPr>
              <a:t># stopping criteria</a:t>
            </a:r>
            <a:endParaRPr i="1" sz="1300">
              <a:solidFill>
                <a:srgbClr val="53657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           </a:t>
            </a:r>
            <a:r>
              <a:rPr b="1" lang="en-US" sz="1300">
                <a:solidFill>
                  <a:srgbClr val="9B2393"/>
                </a:solidFill>
                <a:highlight>
                  <a:srgbClr val="FFFFFF"/>
                </a:highlight>
              </a:rPr>
              <a:t>if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count%check_w == </a:t>
            </a:r>
            <a:r>
              <a:rPr lang="en-US" sz="1300">
                <a:solidFill>
                  <a:srgbClr val="1C00CF"/>
                </a:solidFill>
                <a:highlight>
                  <a:srgbClr val="FFFFFF"/>
                </a:highlight>
              </a:rPr>
              <a:t>0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:</a:t>
            </a:r>
            <a:endParaRPr sz="13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               </a:t>
            </a:r>
            <a:r>
              <a:rPr b="1" lang="en-US" sz="1300">
                <a:solidFill>
                  <a:srgbClr val="9B2393"/>
                </a:solidFill>
                <a:highlight>
                  <a:srgbClr val="FFFFFF"/>
                </a:highlight>
              </a:rPr>
              <a:t>if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np.linalg.norm(w_new - w[-check_w]) &lt; tol:</a:t>
            </a:r>
            <a:endParaRPr sz="13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                   </a:t>
            </a:r>
            <a:r>
              <a:rPr b="1" lang="en-US" sz="1300">
                <a:solidFill>
                  <a:srgbClr val="9B2393"/>
                </a:solidFill>
                <a:highlight>
                  <a:srgbClr val="FFFFFF"/>
                </a:highlight>
              </a:rPr>
              <a:t>return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w</a:t>
            </a:r>
            <a:endParaRPr sz="13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           w.append(w_new)</a:t>
            </a:r>
            <a:endParaRPr sz="13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b="1" lang="en-US" sz="1300">
                <a:solidFill>
                  <a:srgbClr val="9B2393"/>
                </a:solidFill>
                <a:highlight>
                  <a:srgbClr val="FFFFFF"/>
                </a:highlight>
              </a:rPr>
              <a:t>return</a:t>
            </a:r>
            <a:r>
              <a:rPr lang="en-US" sz="1300">
                <a:solidFill>
                  <a:srgbClr val="000000"/>
                </a:solidFill>
                <a:highlight>
                  <a:srgbClr val="FFFFFF"/>
                </a:highlight>
              </a:rPr>
              <a:t> w</a:t>
            </a:r>
            <a:endParaRPr sz="1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2"/>
          <p:cNvSpPr txBox="1"/>
          <p:nvPr>
            <p:ph type="title"/>
          </p:nvPr>
        </p:nvSpPr>
        <p:spPr>
          <a:xfrm>
            <a:off x="425200" y="1001025"/>
            <a:ext cx="7556700" cy="845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 1</a:t>
            </a:r>
            <a:endParaRPr/>
          </a:p>
        </p:txBody>
      </p:sp>
      <p:sp>
        <p:nvSpPr>
          <p:cNvPr id="315" name="Google Shape;315;p32"/>
          <p:cNvSpPr txBox="1"/>
          <p:nvPr/>
        </p:nvSpPr>
        <p:spPr>
          <a:xfrm>
            <a:off x="762000" y="2340425"/>
            <a:ext cx="79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2"/>
          <p:cNvSpPr txBox="1"/>
          <p:nvPr>
            <p:ph idx="1" type="body"/>
          </p:nvPr>
        </p:nvSpPr>
        <p:spPr>
          <a:xfrm>
            <a:off x="362400" y="1941275"/>
            <a:ext cx="8709600" cy="468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Cài đặt </a:t>
            </a:r>
            <a:endParaRPr b="1"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Chọn một điểm bất kỳ 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Thực hiện liên tiếp các phép biến đổi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1" marL="914400" rtl="0" algn="l">
              <a:spcBef>
                <a:spcPts val="60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Thuật toán dừng khi           thay đổi rất nhỏ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HD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indent="0" lvl="0" marL="22860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     ===&gt;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backgroundColorModified&quot;:false,&quot;code&quot;:&quot;\\begin{lalign*}\n&amp;{\\diff{J\\left(\\theta\\right)}{\\theta_{j}}=\\frac{1}{m}\\sum_{i=1}^{m}\\left(h_{\\theta}\\left(x^{\\left(i\\right)}\\right)-y^{\\left(i\\right)}\\right).x_{j}^{\\left(i\\right)}}\t\n\\end{lalign*}&quot;,&quot;aid&quot;:null,&quot;font&quot;:{&quot;size&quot;:18,&quot;family&quot;:&quot;Arial&quot;,&quot;color&quot;:&quot;#000000&quot;},&quot;type&quot;:&quot;lalign*&quot;,&quot;id&quot;:&quot;30&quot;,&quot;backgroundColor&quot;:&quot;#ffffff&quot;,&quot;ts&quot;:1627205860734,&quot;cs&quot;:&quot;Nb1yC5anWvJa3zir8h/f3A==&quot;,&quot;size&quot;:{&quot;width&quot;:452.3333333333333,&quot;height&quot;:72.33333333333333}}" id="317" name="Google Shape;31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8763" y="5932888"/>
            <a:ext cx="4308475" cy="688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descr="{&quot;font&quot;:{&quot;family&quot;:&quot;Arial&quot;,&quot;size&quot;:14,&quot;color&quot;:&quot;#000000&quot;},&quot;type&quot;:&quot;lalign*&quot;,&quot;id&quot;:&quot;31&quot;,&quot;backgroundColor&quot;:&quot;#ffffff&quot;,&quot;aid&quot;:null,&quot;code&quot;:&quot;\\begin{lalign*}\n&amp;{\\text{.}\\;\\text{}\\diff{J\\left(\\theta\\right)}{\\theta_{j}}=\\diff{J}{h_{\\theta}}.\\diff{h_{\\theta}}{x^{\\left(i\\right)}}.\\diff{x^{\\left(i\\right)}}{\\theta_{j}}}\\\\\n&amp;{.\\text{}\\diff{J}{h_{\\theta}}=-\\frac{1}{m}\\sum_{i=1}^{m}\\left(\\frac{y^{\\left(i\\right)}}{h_{\\theta}\\left(x^{\\left(i\\right)}\\right)}-\\frac{1-y^{\\left(i\\right)}}{1-h_{\\theta}\\left(x^{\\left(i\\right)}\\right)}\\right)=\\frac{1}{m}\\sum_{i=1}^{m}\\frac{h_{\\theta}\\left(x^{\\left(i\\right)}\\right)-y^{\\left(i\\right)}}{h_{\\theta}\\left(x^{\\left(i\\right)}\\right)\\left(1-h_{\\theta}\\left(x^{\\left(i\\right)}\\right)\\right)}}\\\\\n&amp;{\\text{.}\\;\\text{}\\diff{h_{\\theta}}{x^{\\left(i\\right)}}=h_{\\theta}\\left(x^{\\left(i\\right)}\\right)\\left(1-h_{\\theta}\\left(x^{\\left(i\\right)}\\right)\\right)}\\\\\n&amp;{\\text{.}\\;\\text{}\\diff{x^{\\left(i\\right)}}{\\theta_{j}}=x_{j}^{\\left(i\\right)}}\t\n\\end{lalign*}&quot;,&quot;backgroundColorModified&quot;:false,&quot;ts&quot;:1627801635614,&quot;cs&quot;:&quot;xyhr9+9tL5hsTxXJ/jmgKQ==&quot;,&quot;size&quot;:{&quot;width&quot;:730,&quot;height&quot;:243.99999999999991}}" id="318" name="Google Shape;31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8754" y="4419600"/>
            <a:ext cx="4797301" cy="226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backgroundColor&quot;:&quot;#ffffff&quot;,&quot;type&quot;:&quot;$&quot;,&quot;id&quot;:&quot;24&quot;,&quot;aid&quot;:null,&quot;code&quot;:&quot;$\\theta=\\left(\\theta_{0},\\theta_{1},...,\\theta_{n}\\right)^{T}$&quot;,&quot;font&quot;:{&quot;family&quot;:&quot;Arial&quot;,&quot;color&quot;:&quot;#666666&quot;,&quot;size&quot;:18},&quot;ts&quot;:1627793633958,&quot;cs&quot;:&quot;hecZYrwzRCyxC8+CtBhLBQ==&quot;,&quot;size&quot;:{&quot;width&quot;:236.60000000000002,&quot;height&quot;:33.600000000000016}}" id="319" name="Google Shape;319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0032" y="2495694"/>
            <a:ext cx="2253615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666666&quot;,&quot;family&quot;:&quot;Arial&quot;,&quot;size&quot;:18},&quot;type&quot;:&quot;lalign*&quot;,&quot;code&quot;:&quot;\\begin{lalign*}\n&amp;{\\theta_{j}:=\\theta_{j}-\\alpha\\cdot\\diff{J\\left(\\theta\\right)}{\\theta_{j}}}\t\n\\end{lalign*}&quot;,&quot;id&quot;:&quot;29&quot;,&quot;aid&quot;:null,&quot;backgroundColor&quot;:&quot;#ffffff&quot;,&quot;backgroundColorModified&quot;:false,&quot;ts&quot;:1627885794700,&quot;cs&quot;:&quot;VjsHbIx9ElwwposMtc2CTQ==&quot;,&quot;size&quot;:{&quot;width&quot;:240.79999999999998,&quot;height&quot;:69}}" id="320" name="Google Shape;320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3509" y="3289052"/>
            <a:ext cx="229362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aid&quot;:null,&quot;id&quot;:&quot;27&quot;,&quot;font&quot;:{&quot;family&quot;:&quot;Arial&quot;,&quot;size&quot;:18,&quot;color&quot;:&quot;#666666&quot;},&quot;code&quot;:&quot;$J\\left(\\theta\\right)$&quot;,&quot;backgroundColorModified&quot;:false,&quot;type&quot;:&quot;$&quot;,&quot;ts&quot;:1627799631906,&quot;cs&quot;:&quot;u5v/SMbL2T7TAzNMS3VujA==&quot;,&quot;size&quot;:{&quot;width&quot;:48.666666666666664,&quot;height&quot;:28.666666666666668}}" id="321" name="Google Shape;321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85237" y="3946263"/>
            <a:ext cx="463550" cy="27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"/>
          <p:cNvSpPr txBox="1"/>
          <p:nvPr>
            <p:ph type="title"/>
          </p:nvPr>
        </p:nvSpPr>
        <p:spPr>
          <a:xfrm>
            <a:off x="425202" y="1001025"/>
            <a:ext cx="80295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 2</a:t>
            </a:r>
            <a:endParaRPr/>
          </a:p>
        </p:txBody>
      </p:sp>
      <p:sp>
        <p:nvSpPr>
          <p:cNvPr id="328" name="Google Shape;328;p33"/>
          <p:cNvSpPr txBox="1"/>
          <p:nvPr>
            <p:ph idx="1" type="body"/>
          </p:nvPr>
        </p:nvSpPr>
        <p:spPr>
          <a:xfrm>
            <a:off x="425202" y="2185425"/>
            <a:ext cx="83016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Thực nghiệm phân loại  hoa  </a:t>
            </a:r>
            <a:r>
              <a:rPr lang="en-US" sz="165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Iris setosa và Iris virginica</a:t>
            </a:r>
            <a:endParaRPr sz="165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50"/>
              <a:buFont typeface="Georgia"/>
              <a:buChar char="•"/>
            </a:pPr>
            <a:r>
              <a:rPr lang="en-US" sz="165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Dữ liệu mẫu </a:t>
            </a:r>
            <a:endParaRPr sz="165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29" name="Google Shape;32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738" y="3247550"/>
            <a:ext cx="6912424" cy="321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4"/>
          <p:cNvSpPr txBox="1"/>
          <p:nvPr>
            <p:ph type="title"/>
          </p:nvPr>
        </p:nvSpPr>
        <p:spPr>
          <a:xfrm>
            <a:off x="425202" y="1001025"/>
            <a:ext cx="80295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 2</a:t>
            </a:r>
            <a:endParaRPr/>
          </a:p>
        </p:txBody>
      </p:sp>
      <p:sp>
        <p:nvSpPr>
          <p:cNvPr id="336" name="Google Shape;336;p34"/>
          <p:cNvSpPr txBox="1"/>
          <p:nvPr>
            <p:ph idx="1" type="body"/>
          </p:nvPr>
        </p:nvSpPr>
        <p:spPr>
          <a:xfrm>
            <a:off x="425202" y="2185425"/>
            <a:ext cx="83016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Thực nghiệm phân loại  hoa  </a:t>
            </a:r>
            <a:r>
              <a:rPr lang="en-US" sz="165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Iris setosa và Iris virginica</a:t>
            </a:r>
            <a:endParaRPr sz="165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50"/>
              <a:buFont typeface="Georgia"/>
              <a:buChar char="•"/>
            </a:pPr>
            <a:r>
              <a:rPr lang="en-US" sz="165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Dữ liệu mẫu </a:t>
            </a:r>
            <a:endParaRPr sz="165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37" name="Google Shape;33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738" y="3247550"/>
            <a:ext cx="6912424" cy="321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5"/>
          <p:cNvSpPr txBox="1"/>
          <p:nvPr>
            <p:ph type="title"/>
          </p:nvPr>
        </p:nvSpPr>
        <p:spPr>
          <a:xfrm>
            <a:off x="425202" y="1095825"/>
            <a:ext cx="81564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Tài liệu tham khảo</a:t>
            </a:r>
            <a:endParaRPr/>
          </a:p>
        </p:txBody>
      </p:sp>
      <p:sp>
        <p:nvSpPr>
          <p:cNvPr id="344" name="Google Shape;344;p35"/>
          <p:cNvSpPr txBox="1"/>
          <p:nvPr>
            <p:ph idx="1" type="body"/>
          </p:nvPr>
        </p:nvSpPr>
        <p:spPr>
          <a:xfrm>
            <a:off x="425202" y="2185425"/>
            <a:ext cx="80655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8460" lvl="0" marL="457200" rtl="0" algn="l">
              <a:spcBef>
                <a:spcPts val="600"/>
              </a:spcBef>
              <a:spcAft>
                <a:spcPts val="0"/>
              </a:spcAft>
              <a:buSzPts val="2360"/>
              <a:buAutoNum type="arabicPeriod"/>
            </a:pPr>
            <a:r>
              <a:rPr lang="en-US" sz="2000" u="sng">
                <a:solidFill>
                  <a:schemeClr val="hlink"/>
                </a:solidFill>
                <a:hlinkClick r:id="rId3"/>
              </a:rPr>
              <a:t>https://realpython.com/logistic-regression-python/#single-variate-logistic-regression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Andrew Ng + Logistic Regression: </a:t>
            </a:r>
            <a:r>
              <a:rPr lang="en-US" sz="2000" u="sng">
                <a:solidFill>
                  <a:schemeClr val="hlink"/>
                </a:solidFill>
                <a:hlinkClick r:id="rId4"/>
              </a:rPr>
              <a:t>https://www.youtube.com/watch?v=-la3q9d7AKQ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