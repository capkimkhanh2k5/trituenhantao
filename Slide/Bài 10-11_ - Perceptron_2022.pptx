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A37373-4015-4F47-9E29-A4BE89ADF755}">
  <a:tblStyle styleId="{D5A37373-4015-4F47-9E29-A4BE89ADF7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4123eab73_0_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84123eab73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Học tăng cường: học có thưởng ---&lt; khích lệ khi học </a:t>
            </a:r>
            <a:endParaRPr/>
          </a:p>
        </p:txBody>
      </p:sp>
      <p:sp>
        <p:nvSpPr>
          <p:cNvPr id="147" name="Google Shape;147;g84123eab73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f205c99bd4_0_9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f205c99bd4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156" name="Google Shape;156;gf205c99bd4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f205c99bd4_0_2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f205c99bd4_0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f205c99bd4_0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f205c99bd4_0_2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f205c99bd4_0_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f205c99bd4_0_2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f205c99bd4_0_2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f205c99bd4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f205c99bd4_0_2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76fb5afeb_0_7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76fb5afeb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776fb5afeb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f205c99bd4_0_2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f205c99bd4_0_2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f205c99bd4_0_2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f205c99bd4_0_29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f205c99bd4_0_2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f205c99bd4_0_2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f205c99bd4_0_30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f205c99bd4_0_3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f205c99bd4_0_3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f205c99bd4_0_3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f205c99bd4_0_3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f205c99bd4_0_3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f205c99bd4_0_3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f205c99bd4_0_3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f205c99bd4_0_3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776fb5afeb_0_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776fb5afeb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776fb5afeb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776fb5afeb_0_8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776fb5afeb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776fb5afeb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776fb5afeb_0_10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776fb5afeb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776fb5afeb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776fb5afeb_0_1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776fb5afeb_0_1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776fb5afeb_0_1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76fb5afeb_0_1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76fb5afeb_0_1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776fb5afeb_0_1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776fb5afeb_0_14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776fb5afeb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776fb5afeb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776fb5afeb_0_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776fb5afeb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776fb5afeb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776fb5afeb_0_15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776fb5afeb_0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776fb5afeb_0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93776" y="3968497"/>
            <a:ext cx="4978908" cy="1650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493776" y="1239123"/>
            <a:ext cx="4978908" cy="2386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" name="Google Shape;20;p2"/>
          <p:cNvCxnSpPr/>
          <p:nvPr/>
        </p:nvCxnSpPr>
        <p:spPr>
          <a:xfrm>
            <a:off x="276359" y="2216727"/>
            <a:ext cx="0" cy="340215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5210286" cy="110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5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493776" y="3970337"/>
            <a:ext cx="4978908" cy="22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25196" y="1001018"/>
            <a:ext cx="521360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25196" y="2185417"/>
            <a:ext cx="521360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25196" y="2185416"/>
            <a:ext cx="3375279" cy="3948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057650" y="2185416"/>
            <a:ext cx="3374136" cy="395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25196" y="2185416"/>
            <a:ext cx="3854196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25197" y="2593340"/>
            <a:ext cx="3855386" cy="35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3" type="body"/>
          </p:nvPr>
        </p:nvSpPr>
        <p:spPr>
          <a:xfrm>
            <a:off x="4629150" y="2185416"/>
            <a:ext cx="3854196" cy="379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4" type="body"/>
          </p:nvPr>
        </p:nvSpPr>
        <p:spPr>
          <a:xfrm>
            <a:off x="4629150" y="2590800"/>
            <a:ext cx="3854196" cy="3538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hoto">
  <p:cSld name="Content and Phot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/>
          <p:nvPr>
            <p:ph idx="2" type="pic"/>
          </p:nvPr>
        </p:nvSpPr>
        <p:spPr>
          <a:xfrm>
            <a:off x="3823924" y="927100"/>
            <a:ext cx="5320076" cy="5930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425196" y="1499616"/>
            <a:ext cx="31866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25196" y="2185417"/>
            <a:ext cx="318668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Three Photos">
  <p:cSld name="Content and Three Photo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type="title"/>
          </p:nvPr>
        </p:nvSpPr>
        <p:spPr>
          <a:xfrm>
            <a:off x="425196" y="1499616"/>
            <a:ext cx="31866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425196" y="2185417"/>
            <a:ext cx="318668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/>
          <p:nvPr>
            <p:ph idx="2" type="pic"/>
          </p:nvPr>
        </p:nvSpPr>
        <p:spPr>
          <a:xfrm>
            <a:off x="3835974" y="934720"/>
            <a:ext cx="5308027" cy="3064678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8"/>
          <p:cNvSpPr/>
          <p:nvPr>
            <p:ph idx="3" type="pic"/>
          </p:nvPr>
        </p:nvSpPr>
        <p:spPr>
          <a:xfrm>
            <a:off x="3835973" y="3998296"/>
            <a:ext cx="2701892" cy="28575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8"/>
          <p:cNvSpPr/>
          <p:nvPr>
            <p:ph idx="4" type="pic"/>
          </p:nvPr>
        </p:nvSpPr>
        <p:spPr>
          <a:xfrm>
            <a:off x="6525817" y="3998296"/>
            <a:ext cx="2618184" cy="28575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Photo">
  <p:cSld name="Full Width Photo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/>
          <p:nvPr>
            <p:ph idx="2" type="pic"/>
          </p:nvPr>
        </p:nvSpPr>
        <p:spPr>
          <a:xfrm>
            <a:off x="0" y="927100"/>
            <a:ext cx="9144000" cy="59309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Graph">
  <p:cSld name="Content and Graph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25196" y="1499616"/>
            <a:ext cx="318668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425196" y="2185417"/>
            <a:ext cx="318668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10"/>
          <p:cNvSpPr/>
          <p:nvPr>
            <p:ph idx="2" type="chart"/>
          </p:nvPr>
        </p:nvSpPr>
        <p:spPr>
          <a:xfrm>
            <a:off x="3871451" y="1976285"/>
            <a:ext cx="4743864" cy="3967316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">
  <p:cSld name="Bulleted Lis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425196" y="1001018"/>
            <a:ext cx="521360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25196" y="2185417"/>
            <a:ext cx="5213604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493776" y="3968497"/>
            <a:ext cx="4978800" cy="16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i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type="ctrTitle"/>
          </p:nvPr>
        </p:nvSpPr>
        <p:spPr>
          <a:xfrm>
            <a:off x="493776" y="1239123"/>
            <a:ext cx="49788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7" name="Google Shape;77;p13"/>
          <p:cNvCxnSpPr/>
          <p:nvPr/>
        </p:nvCxnSpPr>
        <p:spPr>
          <a:xfrm>
            <a:off x="276359" y="2216727"/>
            <a:ext cx="0" cy="3402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78" name="Google Shape;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5210288" cy="110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rt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54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493776" y="3970337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425196" y="2185417"/>
            <a:ext cx="52137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25196" y="2185416"/>
            <a:ext cx="3375300" cy="3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2" type="body"/>
          </p:nvPr>
        </p:nvSpPr>
        <p:spPr>
          <a:xfrm>
            <a:off x="4057650" y="2185416"/>
            <a:ext cx="3374100" cy="3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25196" y="2185416"/>
            <a:ext cx="3854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4" name="Google Shape;94;p17"/>
          <p:cNvSpPr txBox="1"/>
          <p:nvPr>
            <p:ph idx="2" type="body"/>
          </p:nvPr>
        </p:nvSpPr>
        <p:spPr>
          <a:xfrm>
            <a:off x="425197" y="2593340"/>
            <a:ext cx="3855300" cy="3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/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3" type="body"/>
          </p:nvPr>
        </p:nvSpPr>
        <p:spPr>
          <a:xfrm>
            <a:off x="4629150" y="2185416"/>
            <a:ext cx="38541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 cap="none">
                <a:solidFill>
                  <a:schemeClr val="dk2"/>
                </a:solidFill>
              </a:defRPr>
            </a:lvl1pPr>
            <a:lvl2pPr indent="-22860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6" name="Google Shape;96;p17"/>
          <p:cNvSpPr txBox="1"/>
          <p:nvPr>
            <p:ph idx="4" type="body"/>
          </p:nvPr>
        </p:nvSpPr>
        <p:spPr>
          <a:xfrm>
            <a:off x="4629150" y="2590800"/>
            <a:ext cx="3854100" cy="3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/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Photo">
  <p:cSld name="Content and Photo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>
            <p:ph idx="2" type="pic"/>
          </p:nvPr>
        </p:nvSpPr>
        <p:spPr>
          <a:xfrm>
            <a:off x="3823924" y="927100"/>
            <a:ext cx="5320200" cy="5931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425196" y="1499616"/>
            <a:ext cx="3186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25196" y="2185417"/>
            <a:ext cx="31866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Three Photos">
  <p:cSld name="Content and Three Photo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25196" y="1499616"/>
            <a:ext cx="3186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25196" y="2185417"/>
            <a:ext cx="31866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9"/>
          <p:cNvSpPr/>
          <p:nvPr>
            <p:ph idx="2" type="pic"/>
          </p:nvPr>
        </p:nvSpPr>
        <p:spPr>
          <a:xfrm>
            <a:off x="3835974" y="934720"/>
            <a:ext cx="5307900" cy="30648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19"/>
          <p:cNvSpPr/>
          <p:nvPr>
            <p:ph idx="3" type="pic"/>
          </p:nvPr>
        </p:nvSpPr>
        <p:spPr>
          <a:xfrm>
            <a:off x="3835973" y="3998296"/>
            <a:ext cx="2701800" cy="28575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19"/>
          <p:cNvSpPr/>
          <p:nvPr>
            <p:ph idx="4" type="pic"/>
          </p:nvPr>
        </p:nvSpPr>
        <p:spPr>
          <a:xfrm>
            <a:off x="6525817" y="3998296"/>
            <a:ext cx="2618100" cy="28575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Width Photo">
  <p:cSld name="Full Width Photo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/>
          <p:nvPr>
            <p:ph idx="2" type="pic"/>
          </p:nvPr>
        </p:nvSpPr>
        <p:spPr>
          <a:xfrm>
            <a:off x="0" y="927100"/>
            <a:ext cx="9144000" cy="5931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92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360"/>
              <a:buFont typeface="NTR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NTR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TR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Graph">
  <p:cSld name="Content and Graph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425196" y="1499616"/>
            <a:ext cx="3186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425196" y="2185417"/>
            <a:ext cx="31866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1"/>
          <p:cNvSpPr/>
          <p:nvPr>
            <p:ph idx="2" type="chart"/>
          </p:nvPr>
        </p:nvSpPr>
        <p:spPr>
          <a:xfrm>
            <a:off x="3871451" y="1976285"/>
            <a:ext cx="4743900" cy="39672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21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ed List">
  <p:cSld name="Bulleted Lis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25196" y="2185417"/>
            <a:ext cx="52137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/>
            </a:lvl1pPr>
            <a:lvl2pPr indent="-365760" lvl="1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2pPr>
            <a:lvl3pPr indent="-365760" lvl="2" marL="13716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4pPr>
            <a:lvl5pPr indent="-365760" lvl="4" marL="22860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5.png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" Type="http://schemas.openxmlformats.org/officeDocument/2006/relationships/image" Target="../media/image5.png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5196" y="1499616"/>
            <a:ext cx="7886700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  <a:defRPr b="0" i="0" sz="36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25196" y="2185417"/>
            <a:ext cx="7886700" cy="3968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5542161" y="217021"/>
            <a:ext cx="2769394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311897" y="134971"/>
            <a:ext cx="645414" cy="59582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4323649" cy="92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425196" y="1499616"/>
            <a:ext cx="78867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  <a:defRPr b="0" i="0" sz="36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425196" y="2185417"/>
            <a:ext cx="78867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Font typeface="NTR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2"/>
          <p:cNvSpPr txBox="1"/>
          <p:nvPr>
            <p:ph idx="11" type="ftr"/>
          </p:nvPr>
        </p:nvSpPr>
        <p:spPr>
          <a:xfrm>
            <a:off x="5680710" y="63197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2"/>
          <p:cNvSpPr txBox="1"/>
          <p:nvPr/>
        </p:nvSpPr>
        <p:spPr>
          <a:xfrm>
            <a:off x="5542161" y="217021"/>
            <a:ext cx="2769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2"/>
          <p:cNvSpPr/>
          <p:nvPr/>
        </p:nvSpPr>
        <p:spPr>
          <a:xfrm>
            <a:off x="8311897" y="134971"/>
            <a:ext cx="645300" cy="59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4323646" cy="920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3" name="Google Shape;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40.png"/><Relationship Id="rId11" Type="http://schemas.openxmlformats.org/officeDocument/2006/relationships/image" Target="../media/image17.png"/><Relationship Id="rId22" Type="http://schemas.openxmlformats.org/officeDocument/2006/relationships/image" Target="../media/image34.png"/><Relationship Id="rId10" Type="http://schemas.openxmlformats.org/officeDocument/2006/relationships/image" Target="../media/image29.png"/><Relationship Id="rId21" Type="http://schemas.openxmlformats.org/officeDocument/2006/relationships/image" Target="../media/image28.png"/><Relationship Id="rId13" Type="http://schemas.openxmlformats.org/officeDocument/2006/relationships/image" Target="../media/image26.png"/><Relationship Id="rId24" Type="http://schemas.openxmlformats.org/officeDocument/2006/relationships/image" Target="../media/image35.png"/><Relationship Id="rId12" Type="http://schemas.openxmlformats.org/officeDocument/2006/relationships/image" Target="../media/image22.png"/><Relationship Id="rId23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30.png"/><Relationship Id="rId15" Type="http://schemas.openxmlformats.org/officeDocument/2006/relationships/image" Target="../media/image36.png"/><Relationship Id="rId14" Type="http://schemas.openxmlformats.org/officeDocument/2006/relationships/image" Target="../media/image16.png"/><Relationship Id="rId17" Type="http://schemas.openxmlformats.org/officeDocument/2006/relationships/image" Target="../media/image21.png"/><Relationship Id="rId16" Type="http://schemas.openxmlformats.org/officeDocument/2006/relationships/image" Target="../media/image25.png"/><Relationship Id="rId5" Type="http://schemas.openxmlformats.org/officeDocument/2006/relationships/image" Target="../media/image14.png"/><Relationship Id="rId19" Type="http://schemas.openxmlformats.org/officeDocument/2006/relationships/image" Target="../media/image27.png"/><Relationship Id="rId6" Type="http://schemas.openxmlformats.org/officeDocument/2006/relationships/image" Target="../media/image37.png"/><Relationship Id="rId18" Type="http://schemas.openxmlformats.org/officeDocument/2006/relationships/image" Target="../media/image20.png"/><Relationship Id="rId7" Type="http://schemas.openxmlformats.org/officeDocument/2006/relationships/image" Target="../media/image13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Relationship Id="rId5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Relationship Id="rId4" Type="http://schemas.openxmlformats.org/officeDocument/2006/relationships/image" Target="../media/image45.png"/><Relationship Id="rId5" Type="http://schemas.openxmlformats.org/officeDocument/2006/relationships/image" Target="../media/image41.png"/><Relationship Id="rId6" Type="http://schemas.openxmlformats.org/officeDocument/2006/relationships/image" Target="../media/image46.png"/><Relationship Id="rId7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49.png"/><Relationship Id="rId10" Type="http://schemas.openxmlformats.org/officeDocument/2006/relationships/image" Target="../media/image6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Relationship Id="rId4" Type="http://schemas.openxmlformats.org/officeDocument/2006/relationships/image" Target="../media/image41.png"/><Relationship Id="rId9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47.png"/><Relationship Id="rId8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0.png"/><Relationship Id="rId4" Type="http://schemas.openxmlformats.org/officeDocument/2006/relationships/image" Target="../media/image69.png"/><Relationship Id="rId5" Type="http://schemas.openxmlformats.org/officeDocument/2006/relationships/image" Target="../media/image55.png"/><Relationship Id="rId6" Type="http://schemas.openxmlformats.org/officeDocument/2006/relationships/image" Target="../media/image46.png"/><Relationship Id="rId7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Relationship Id="rId4" Type="http://schemas.openxmlformats.org/officeDocument/2006/relationships/image" Target="../media/image66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5" Type="http://schemas.openxmlformats.org/officeDocument/2006/relationships/image" Target="../media/image62.png"/><Relationship Id="rId6" Type="http://schemas.openxmlformats.org/officeDocument/2006/relationships/image" Target="../media/image72.png"/><Relationship Id="rId7" Type="http://schemas.openxmlformats.org/officeDocument/2006/relationships/image" Target="../media/image6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1.png"/><Relationship Id="rId4" Type="http://schemas.openxmlformats.org/officeDocument/2006/relationships/image" Target="../media/image61.png"/><Relationship Id="rId5" Type="http://schemas.openxmlformats.org/officeDocument/2006/relationships/image" Target="../media/image57.png"/><Relationship Id="rId6" Type="http://schemas.openxmlformats.org/officeDocument/2006/relationships/image" Target="../media/image68.png"/><Relationship Id="rId7" Type="http://schemas.openxmlformats.org/officeDocument/2006/relationships/image" Target="../media/image7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3.png"/><Relationship Id="rId4" Type="http://schemas.openxmlformats.org/officeDocument/2006/relationships/image" Target="../media/image8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9.png"/><Relationship Id="rId4" Type="http://schemas.openxmlformats.org/officeDocument/2006/relationships/image" Target="../media/image7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1.png"/><Relationship Id="rId4" Type="http://schemas.openxmlformats.org/officeDocument/2006/relationships/image" Target="../media/image7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4.png"/><Relationship Id="rId4" Type="http://schemas.openxmlformats.org/officeDocument/2006/relationships/image" Target="../media/image7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ctrTitle"/>
          </p:nvPr>
        </p:nvSpPr>
        <p:spPr>
          <a:xfrm>
            <a:off x="510473" y="1804112"/>
            <a:ext cx="5620003" cy="20204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/>
              <a:t>TRÍ TUỆ NHÂN TẠO</a:t>
            </a:r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1309143" y="4828745"/>
            <a:ext cx="4944078" cy="61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1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TS. Nguyễn Văn Hiệu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3"/>
          <p:cNvSpPr/>
          <p:nvPr/>
        </p:nvSpPr>
        <p:spPr>
          <a:xfrm>
            <a:off x="437871" y="4735071"/>
            <a:ext cx="797773" cy="797773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64" y="4764626"/>
            <a:ext cx="743275" cy="72841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ctrTitle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20714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lang="en-US" sz="2800"/>
              <a:t>TRÍ TUỆ NHÂN TẠO</a:t>
            </a:r>
            <a:endParaRPr/>
          </a:p>
        </p:txBody>
      </p:sp>
      <p:sp>
        <p:nvSpPr>
          <p:cNvPr id="136" name="Google Shape;136;p24"/>
          <p:cNvSpPr txBox="1"/>
          <p:nvPr>
            <p:ph idx="1" type="subTitle"/>
          </p:nvPr>
        </p:nvSpPr>
        <p:spPr>
          <a:xfrm>
            <a:off x="106575" y="3745975"/>
            <a:ext cx="5266800" cy="11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</a:pPr>
            <a:r>
              <a:rPr lang="en-US"/>
              <a:t>Chương 6: </a:t>
            </a:r>
            <a:r>
              <a:rPr lang="en-US"/>
              <a:t>Thuật toán </a:t>
            </a:r>
            <a:r>
              <a:rPr lang="en-US"/>
              <a:t>P</a:t>
            </a:r>
            <a:r>
              <a:rPr lang="en-US"/>
              <a:t>erceptron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425196" y="1499616"/>
            <a:ext cx="52136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Georgia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425200" y="2185425"/>
            <a:ext cx="8504400" cy="3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Giới thiệu</a:t>
            </a:r>
            <a:endParaRPr sz="2400"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Thuật toán perceptron</a:t>
            </a:r>
            <a:endParaRPr sz="2400"/>
          </a:p>
          <a:p>
            <a:pPr indent="-3810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Cách phân lớp</a:t>
            </a:r>
            <a:endParaRPr sz="2400"/>
          </a:p>
          <a:p>
            <a:pPr indent="-3810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Xây dựng hàm mất mát</a:t>
            </a:r>
            <a:endParaRPr sz="2400"/>
          </a:p>
          <a:p>
            <a:pPr indent="-3810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Tối ưu hàm mất mát</a:t>
            </a:r>
            <a:endParaRPr sz="2400"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Demo</a:t>
            </a:r>
            <a:endParaRPr sz="2400"/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Trao đổi</a:t>
            </a:r>
            <a:endParaRPr sz="2400"/>
          </a:p>
        </p:txBody>
      </p:sp>
      <p:sp>
        <p:nvSpPr>
          <p:cNvPr id="143" name="Google Shape;143;p25"/>
          <p:cNvSpPr txBox="1"/>
          <p:nvPr>
            <p:ph idx="11" type="ftr"/>
          </p:nvPr>
        </p:nvSpPr>
        <p:spPr>
          <a:xfrm>
            <a:off x="5680710" y="6319775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425202" y="1001025"/>
            <a:ext cx="80190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425200" y="2185425"/>
            <a:ext cx="8115300" cy="44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9144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</p:txBody>
      </p:sp>
      <p:pic>
        <p:nvPicPr>
          <p:cNvPr id="151" name="Google Shape;1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200" y="1998125"/>
            <a:ext cx="8392226" cy="443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 txBox="1"/>
          <p:nvPr/>
        </p:nvSpPr>
        <p:spPr>
          <a:xfrm>
            <a:off x="431100" y="5434425"/>
            <a:ext cx="1640100" cy="1046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425202" y="1001025"/>
            <a:ext cx="7556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425200" y="2185425"/>
            <a:ext cx="8227500" cy="45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Cho n dữ liệu để huấn luyện, toàn bộ dữ liệu thứ i chứa  input        và output         -</a:t>
            </a:r>
            <a:r>
              <a:rPr lang="en-US"/>
              <a:t>rời rạc ,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b="1" lang="en-US">
                <a:solidFill>
                  <a:srgbClr val="FF00FF"/>
                </a:solidFill>
              </a:rPr>
              <a:t>Tác vụ:</a:t>
            </a:r>
            <a:r>
              <a:rPr lang="en-US"/>
              <a:t>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⇒  tìm  vectơ                                     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Tìm tham số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code&quot;:&quot;$\\theta=\\left(\\theta_{0},\\theta_{1},...,\\theta_{d}\\right)^{T}$&quot;,&quot;font&quot;:{&quot;family&quot;:&quot;Arial&quot;,&quot;size&quot;:18,&quot;color&quot;:&quot;#666666&quot;},&quot;type&quot;:&quot;$&quot;,&quot;backgroundColor&quot;:&quot;#ffffff&quot;,&quot;backgroundColorModified&quot;:false,&quot;id&quot;:&quot;24&quot;,&quot;aid&quot;:null,&quot;ts&quot;:1633857388907,&quot;cs&quot;:&quot;4J2aEE8lRr6iHSGjESi9lw==&quot;,&quot;size&quot;:{&quot;width&quot;:234.79999999999998,&quot;height&quot;:34}}"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7993" y="6214994"/>
            <a:ext cx="223647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code&quot;:&quot;$$x^{\\left(i\\right)}$$&quot;,&quot;id&quot;:&quot;34&quot;,&quot;font&quot;:{&quot;color&quot;:&quot;#666666&quot;,&quot;size&quot;:18,&quot;family&quot;:&quot;Arial&quot;},&quot;backgroundColorModified&quot;:null,&quot;backgroundColor&quot;:&quot;#ffffff&quot;,&quot;ts&quot;:1627792852253,&quot;cs&quot;:&quot;sCodj7GM67vG/6Kuthw0FA==&quot;,&quot;size&quot;:{&quot;width&quot;:35.833333333333336,&quot;height&quot;:27}}" id="161" name="Google Shape;16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8200" y="2309100"/>
            <a:ext cx="341313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4&quot;,&quot;backgroundColor&quot;:&quot;#ffffff&quot;,&quot;font&quot;:{&quot;color&quot;:&quot;#666666&quot;,&quot;family&quot;:&quot;Arial&quot;,&quot;size&quot;:18},&quot;type&quot;:&quot;$$&quot;,&quot;aid&quot;:null,&quot;code&quot;:&quot;$$y^{\\left(i\\right)}$$&quot;,&quot;backgroundColorModified&quot;:false,&quot;ts&quot;:1627792934826,&quot;cs&quot;:&quot;UXXpfJCj/GB0ncCV71eqAA==&quot;,&quot;size&quot;:{&quot;width&quot;:34.166666666666664,&quot;height&quot;:32.333333333333336}}" id="162" name="Google Shape;16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7788" y="2686104"/>
            <a:ext cx="325438" cy="30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35&quot;,&quot;code&quot;:&quot;$$y^{\\left(i\\right)}\\in\\left\\{-1,1\\right\\}$$&quot;,&quot;backgroundColor&quot;:&quot;#ffffff&quot;,&quot;font&quot;:{&quot;size&quot;:18,&quot;family&quot;:&quot;Arial&quot;,&quot;color&quot;:&quot;#666666&quot;},&quot;backgroundColorModified&quot;:false,&quot;type&quot;:&quot;$$&quot;,&quot;ts&quot;:1633857050393,&quot;cs&quot;:&quot;oOUGq7NmIGvw4dx/3L7o1A==&quot;,&quot;size&quot;:{&quot;width&quot;:160.33333333333337,&quot;height&quot;:33.666666666666664}}" id="163" name="Google Shape;16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31532" y="2659628"/>
            <a:ext cx="1527175" cy="320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p27"/>
          <p:cNvGraphicFramePr/>
          <p:nvPr/>
        </p:nvGraphicFramePr>
        <p:xfrm>
          <a:off x="952500" y="342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{D5A37373-4015-4F47-9E29-A4BE89ADF755}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00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00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FF00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FFF00"/>
                          </a:solidFill>
                          <a:highlight>
                            <a:srgbClr val="FF0000"/>
                          </a:highlight>
                        </a:rPr>
                        <a:t> ?????</a:t>
                      </a:r>
                      <a:endParaRPr>
                        <a:solidFill>
                          <a:srgbClr val="FFFF00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B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{&quot;font&quot;:{&quot;family&quot;:&quot;Arial&quot;,&quot;size&quot;:14,&quot;color&quot;:&quot;#000000&quot;},&quot;code&quot;:&quot;$$x_{1}^{\\left(1\\right)}$$&quot;,&quot;backgroundColor&quot;:&quot;#ffffff&quot;,&quot;id&quot;:&quot;37&quot;,&quot;backgroundColorModified&quot;:null,&quot;type&quot;:&quot;$$&quot;,&quot;aid&quot;:null,&quot;ts&quot;:1627794982570,&quot;cs&quot;:&quot;7hdpmRP87MVJNcp25jeCmg==&quot;,&quot;size&quot;:{&quot;width&quot;:29.833333333333332,&quot;height&quot;:30}}" id="165" name="Google Shape;165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48425" y="3423150"/>
            <a:ext cx="28416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37&quot;,&quot;aid&quot;:null,&quot;backgroundColor&quot;:&quot;#ffffff&quot;,&quot;backgroundColorModified&quot;:false,&quot;code&quot;:&quot;$$\\cdots$$&quot;,&quot;font&quot;:{&quot;family&quot;:&quot;Arial&quot;,&quot;color&quot;:&quot;#000000&quot;,&quot;size&quot;:14},&quot;ts&quot;:1627795169250,&quot;cs&quot;:&quot;4ZZxeGwEqcW9M8+mzL++bQ==&quot;,&quot;size&quot;:{&quot;width&quot;:22.666666666666668,&quot;height&quot;:2.6666666666666665}}" id="166" name="Google Shape;166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96863" y="3549309"/>
            <a:ext cx="2159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14,&quot;family&quot;:&quot;Arial&quot;},&quot;id&quot;:&quot;37&quot;,&quot;backgroundColor&quot;:&quot;#ffffff&quot;,&quot;aid&quot;:null,&quot;type&quot;:&quot;$$&quot;,&quot;code&quot;:&quot;$$y^{\\left(1\\right)}$$&quot;,&quot;backgroundColorModified&quot;:false,&quot;ts&quot;:1627796666861,&quot;cs&quot;:&quot;L8h5bTipXofuGts0gS2q5A==&quot;,&quot;size&quot;:{&quot;width&quot;:29,&quot;height&quot;:25}}" id="167" name="Google Shape;167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32777" y="3443541"/>
            <a:ext cx="2762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code&quot;:&quot;$$x_{1}^{\\left(2\\right)}$$&quot;,&quot;type&quot;:&quot;$$&quot;,&quot;font&quot;:{&quot;color&quot;:&quot;#000000&quot;,&quot;size&quot;:14,&quot;family&quot;:&quot;Arial&quot;},&quot;backgroundColor&quot;:&quot;#ffffff&quot;,&quot;id&quot;:&quot;37&quot;,&quot;ts&quot;:1627795067223,&quot;cs&quot;:&quot;WSoCANkf5I7f+lY1yfWWGw==&quot;,&quot;size&quot;:{&quot;width&quot;:29.833333333333332,&quot;height&quot;:30}}" id="168" name="Google Shape;168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48425" y="3819350"/>
            <a:ext cx="28416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cdots$$&quot;,&quot;backgroundColorModified&quot;:false,&quot;backgroundColor&quot;:&quot;#ffffff&quot;,&quot;font&quot;:{&quot;family&quot;:&quot;Arial&quot;,&quot;size&quot;:14,&quot;color&quot;:&quot;#000000&quot;},&quot;aid&quot;:null,&quot;type&quot;:&quot;$$&quot;,&quot;id&quot;:&quot;37&quot;,&quot;ts&quot;:1627795189203,&quot;cs&quot;:&quot;d9Ne2zwzdek1Y4526viGEw==&quot;,&quot;size&quot;:{&quot;width&quot;:22.666666666666668,&quot;height&quot;:2.6666666666666665}}" id="169" name="Google Shape;169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96863" y="3945509"/>
            <a:ext cx="2159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7&quot;,&quot;code&quot;:&quot;$$y^{\\left(2\\right)}$$&quot;,&quot;backgroundColorModified&quot;:false,&quot;aid&quot;:null,&quot;type&quot;:&quot;$$&quot;,&quot;backgroundColor&quot;:&quot;#ffffff&quot;,&quot;font&quot;:{&quot;size&quot;:14,&quot;family&quot;:&quot;Arial&quot;,&quot;color&quot;:&quot;#000000&quot;},&quot;ts&quot;:1627796714657,&quot;cs&quot;:&quot;HWEaodoJDxX00eqBVJ86Tg==&quot;,&quot;size&quot;:{&quot;width&quot;:29,&quot;height&quot;:25}}" id="170" name="Google Shape;170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99988" y="3839741"/>
            <a:ext cx="2762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7&quot;,&quot;aid&quot;:null,&quot;type&quot;:&quot;$$&quot;,&quot;code&quot;:&quot;$$x_{1}^{\\left(n\\right)}$$&quot;,&quot;backgroundColor&quot;:&quot;#ffffff&quot;,&quot;backgroundColorModified&quot;:false,&quot;font&quot;:{&quot;color&quot;:&quot;#000000&quot;,&quot;size&quot;:14,&quot;family&quot;:&quot;Arial&quot;},&quot;ts&quot;:1633857105227,&quot;cs&quot;:&quot;kwcXZFMmkN/54OeWvrC20Q==&quot;,&quot;size&quot;:{&quot;width&quot;:31.833333333333332,&quot;height&quot;:29.833333333333332}}" id="171" name="Google Shape;171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28317" y="4605273"/>
            <a:ext cx="303213" cy="284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&quot;:&quot;#ffffff&quot;,&quot;font&quot;:{&quot;size&quot;:14,&quot;color&quot;:&quot;#000000&quot;,&quot;family&quot;:&quot;Arial&quot;},&quot;id&quot;:&quot;37&quot;,&quot;aid&quot;:null,&quot;code&quot;:&quot;$$\\dots$$&quot;,&quot;backgroundColorModified&quot;:false,&quot;ts&quot;:1627795215782,&quot;cs&quot;:&quot;vE5s3P7GigSZTkyMWFW1SA==&quot;,&quot;size&quot;:{&quot;width&quot;:22.666666666666668,&quot;height&quot;:2.8333333333333335}}" id="172" name="Google Shape;172;p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396863" y="4718927"/>
            <a:ext cx="215900" cy="26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font&quot;:{&quot;color&quot;:&quot;#000000&quot;,&quot;family&quot;:&quot;Arial&quot;,&quot;size&quot;:14},&quot;type&quot;:&quot;$$&quot;,&quot;aid&quot;:null,&quot;code&quot;:&quot;$$x_{d}^{\\left(n\\right)}$$&quot;,&quot;id&quot;:&quot;37&quot;,&quot;backgroundColorModified&quot;:false,&quot;ts&quot;:1633857141239,&quot;cs&quot;:&quot;xCvXZdeoY9UodUIa76+gXQ==&quot;,&quot;size&quot;:{&quot;width&quot;:31.833333333333332,&quot;height&quot;:30.333333333333332}}" id="173" name="Google Shape;173;p2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729639" y="4630953"/>
            <a:ext cx="303213" cy="28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y^{\\left(m\\right)}$$&quot;,&quot;backgroundColorModified&quot;:false,&quot;id&quot;:&quot;37&quot;,&quot;font&quot;:{&quot;color&quot;:&quot;#000000&quot;,&quot;size&quot;:14,&quot;family&quot;:&quot;Arial&quot;},&quot;aid&quot;:null,&quot;backgroundColor&quot;:&quot;#ffffff&quot;,&quot;type&quot;:&quot;$$&quot;,&quot;ts&quot;:1627796764777,&quot;cs&quot;:&quot;AnZAkWxg/aSke+Y87CElQQ==&quot;,&quot;size&quot;:{&quot;width&quot;:34.166666666666664,&quot;height&quot;:25}}" id="174" name="Google Shape;174;p27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096491" y="4637709"/>
            <a:ext cx="325438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vdots $$&quot;,&quot;id&quot;:&quot;37&quot;,&quot;font&quot;:{&quot;family&quot;:&quot;Arial&quot;,&quot;color&quot;:&quot;#000000&quot;,&quot;size&quot;:14},&quot;backgroundColorModified&quot;:false,&quot;type&quot;:&quot;$$&quot;,&quot;aid&quot;:null,&quot;ts&quot;:1627795245015,&quot;cs&quot;:&quot;tinpOOPX+9fyuNT/vGeDiA==&quot;,&quot;size&quot;:{&quot;width&quot;:2.8333333333333335,&quot;height&quot;:20.5}}" id="175" name="Google Shape;175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970759" y="4254779"/>
            <a:ext cx="26988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vdots $$&quot;,&quot;id&quot;:&quot;37&quot;,&quot;font&quot;:{&quot;family&quot;:&quot;Arial&quot;,&quot;color&quot;:&quot;#000000&quot;,&quot;size&quot;:14},&quot;backgroundColorModified&quot;:false,&quot;type&quot;:&quot;$$&quot;,&quot;aid&quot;:null,&quot;ts&quot;:1627795245015,&quot;cs&quot;:&quot;tinpOOPX+9fyuNT/vGeDiA==&quot;,&quot;size&quot;:{&quot;width&quot;:2.8333333333333335,&quot;height&quot;:20.5}}" id="176" name="Google Shape;176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808302" y="4316464"/>
            <a:ext cx="26988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vdots $$&quot;,&quot;id&quot;:&quot;37&quot;,&quot;font&quot;:{&quot;family&quot;:&quot;Arial&quot;,&quot;color&quot;:&quot;#000000&quot;,&quot;size&quot;:14},&quot;backgroundColorModified&quot;:false,&quot;type&quot;:&quot;$$&quot;,&quot;aid&quot;:null,&quot;ts&quot;:1627795245015,&quot;cs&quot;:&quot;tinpOOPX+9fyuNT/vGeDiA==&quot;,&quot;size&quot;:{&quot;width&quot;:2.8333333333333335,&quot;height&quot;:20.5}}" id="177" name="Google Shape;177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176274" y="4323721"/>
            <a:ext cx="26988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x^{\\left(1\\right)}\\to$$&quot;,&quot;backgroundColorModified&quot;:true,&quot;font&quot;:{&quot;color&quot;:&quot;#666666&quot;,&quot;size&quot;:18,&quot;family&quot;:&quot;Arial&quot;},&quot;id&quot;:&quot;34&quot;,&quot;aid&quot;:null,&quot;backgroundColor&quot;:&quot;#ffffff&quot;,&quot;ts&quot;:1627796532308,&quot;cs&quot;:&quot;KFpJ+/dTZvZwO+lLynfS5Q==&quot;,&quot;size&quot;:{&quot;width&quot;:76.5,&quot;height&quot;:27}}" id="178" name="Google Shape;178;p27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222825" y="3455581"/>
            <a:ext cx="728663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4&quot;,&quot;type&quot;:&quot;$$&quot;,&quot;backgroundColorModified&quot;:true,&quot;font&quot;:{&quot;family&quot;:&quot;Arial&quot;,&quot;size&quot;:18,&quot;color&quot;:&quot;#666666&quot;},&quot;aid&quot;:null,&quot;backgroundColor&quot;:&quot;#ffffff&quot;,&quot;code&quot;:&quot;$$x^{\\left(2\\right)}\\to$$&quot;,&quot;ts&quot;:1627796574588,&quot;cs&quot;:&quot;hdEOf+FQ8Ay124Ubb5MoMw==&quot;,&quot;size&quot;:{&quot;width&quot;:76.49999999999999,&quot;height&quot;:27}}" id="179" name="Google Shape;179;p27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1199118" y="3909220"/>
            <a:ext cx="728663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font&quot;:{&quot;color&quot;:&quot;#666666&quot;,&quot;family&quot;:&quot;Arial&quot;,&quot;size&quot;:18},&quot;code&quot;:&quot;$$x^{\\left(n\\right)}\\to$$&quot;,&quot;type&quot;:&quot;$$&quot;,&quot;id&quot;:&quot;34&quot;,&quot;aid&quot;:null,&quot;backgroundColorModified&quot;:true,&quot;ts&quot;:1633857078744,&quot;cs&quot;:&quot;+Vdkwm13ni/DozZX41RRdg==&quot;,&quot;size&quot;:{&quot;width&quot;:78.49999999999999,&quot;height&quot;:27}}" id="180" name="Google Shape;180;p27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1205581" y="4622229"/>
            <a:ext cx="747713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vdots $$&quot;,&quot;id&quot;:&quot;37&quot;,&quot;font&quot;:{&quot;family&quot;:&quot;Arial&quot;,&quot;color&quot;:&quot;#000000&quot;,&quot;size&quot;:14},&quot;backgroundColorModified&quot;:false,&quot;type&quot;:&quot;$$&quot;,&quot;aid&quot;:null,&quot;ts&quot;:1627795245015,&quot;cs&quot;:&quot;tinpOOPX+9fyuNT/vGeDiA==&quot;,&quot;size&quot;:{&quot;width&quot;:2.8333333333333335,&quot;height&quot;:20.5}}" id="181" name="Google Shape;181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54445" y="4298321"/>
            <a:ext cx="26988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font&quot;:{&quot;size&quot;:18,&quot;color&quot;:&quot;#666666&quot;,&quot;family&quot;:&quot;Arial&quot;},&quot;type&quot;:&quot;$&quot;,&quot;code&quot;:&quot;$h_{\\theta}:R^{d+1}\\to\\,Y$&quot;,&quot;id&quot;:&quot;20&quot;,&quot;aid&quot;:null,&quot;ts&quot;:1633857319208,&quot;cs&quot;:&quot;8JP8UWBOUVe2YQQPm8DvKg==&quot;,&quot;size&quot;:{&quot;width&quot;:177.66666666666663,&quot;height&quot;:28.5}}" id="182" name="Google Shape;182;p27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273136" y="5784775"/>
            <a:ext cx="1692275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lalign*&quot;,&quot;backgroundColor&quot;:&quot;#ffffff&quot;,&quot;id&quot;:&quot;18&quot;,&quot;aid&quot;:null,&quot;font&quot;:{&quot;size&quot;:18,&quot;color&quot;:&quot;#666666&quot;,&quot;family&quot;:&quot;Arial&quot;},&quot;code&quot;:&quot;\\begin{lalign*}\n&amp;{h_{\\theta}\\left(\\bar{x}\\right)=g\\left(\\theta^{T}\\bar{x}\\right)}\\\\\n\\end{lalign*}&quot;,&quot;ts&quot;:1633857359456,&quot;cs&quot;:&quot;PFAyqEx3OdtFkvZ1MPe9Rg==&quot;,&quot;size&quot;:{&quot;width&quot;:181,&quot;height&quot;:35}}" id="183" name="Google Shape;183;p27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354911" y="5721288"/>
            <a:ext cx="172402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x^{\\left(new\\right)}\\to$$&quot;,&quot;aid&quot;:null,&quot;backgroundColor&quot;:&quot;#ffffff&quot;,&quot;font&quot;:{&quot;family&quot;:&quot;Arial&quot;,&quot;size&quot;:18,&quot;color&quot;:&quot;#666666&quot;},&quot;backgroundColorModified&quot;:true,&quot;id&quot;:&quot;34&quot;,&quot;ts&quot;:1627797295770,&quot;cs&quot;:&quot;DCHU2nRDp3yXKaOXV2+Gsg==&quot;,&quot;size&quot;:{&quot;width&quot;:101.66666666666664,&quot;height&quot;:27}}" id="184" name="Google Shape;184;p27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12500" y="5101921"/>
            <a:ext cx="9683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&quot;:&quot;#ffffff&quot;,&quot;backgroundColorModified&quot;:false,&quot;font&quot;:{&quot;color&quot;:&quot;#000000&quot;,&quot;family&quot;:&quot;Arial&quot;,&quot;size&quot;:14},&quot;code&quot;:&quot;$$x_{d}^{\\left(2\\right)}$$&quot;,&quot;id&quot;:&quot;37&quot;,&quot;aid&quot;:null,&quot;ts&quot;:1633857202346,&quot;cs&quot;:&quot;rSQ8M0xi3/0ol8LR7tLGKA==&quot;,&quot;size&quot;:{&quot;width&quot;:30.166666666666668,&quot;height&quot;:30.333333333333332}}" id="185" name="Google Shape;185;p27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712714" y="3869365"/>
            <a:ext cx="287338" cy="28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font&quot;:{&quot;size&quot;:14,&quot;family&quot;:&quot;Arial&quot;,&quot;color&quot;:&quot;#000000&quot;},&quot;id&quot;:&quot;37&quot;,&quot;type&quot;:&quot;$$&quot;,&quot;backgroundColor&quot;:&quot;#ffffff&quot;,&quot;code&quot;:&quot;$$x_{d}^{\\left(1\\right)}$$&quot;,&quot;ts&quot;:1633857182063,&quot;cs&quot;:&quot;0x2qPhepiTmRiQCUuW97Xw==&quot;,&quot;size&quot;:{&quot;width&quot;:30.166666666666668,&quot;height&quot;:30.333333333333332}}" id="186" name="Google Shape;186;p27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729101" y="3422278"/>
            <a:ext cx="287338" cy="2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425202" y="2185425"/>
            <a:ext cx="82533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>
                <a:solidFill>
                  <a:srgbClr val="FF00FF"/>
                </a:solidFill>
              </a:rPr>
              <a:t>Phân lớp tuyến tính</a:t>
            </a:r>
            <a:r>
              <a:rPr lang="en-US"/>
              <a:t> ( linear </a:t>
            </a:r>
            <a:r>
              <a:rPr lang="en-US"/>
              <a:t>classification</a:t>
            </a:r>
            <a:r>
              <a:rPr lang="en-US"/>
              <a:t>) nếu hàm      tuyến tính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Phân loại phi tuyến ( no-linear classification) nếu  hàm       phi tuyến</a:t>
            </a:r>
            <a:r>
              <a:rPr lang="en-US"/>
              <a:t>    </a:t>
            </a:r>
            <a:endParaRPr/>
          </a:p>
          <a:p>
            <a:pPr indent="-3657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Ví dụ bài toán phân lớp </a:t>
            </a:r>
            <a:endParaRPr/>
          </a:p>
          <a:p>
            <a:pPr indent="-365760" lvl="0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Email Spam/Not Spam: Thư nào nên bỏ vào thùng rác?</a:t>
            </a:r>
            <a:endParaRPr/>
          </a:p>
          <a:p>
            <a:pPr indent="-365760" lvl="0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Tumor benign/malignant: Ung thư lành tính hay ác tính?</a:t>
            </a:r>
            <a:endParaRPr/>
          </a:p>
          <a:p>
            <a:pPr indent="-365760" lvl="0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Online Transactions: Giao dịch lừa đảo hay không ?</a:t>
            </a:r>
            <a:endParaRPr/>
          </a:p>
          <a:p>
            <a:pPr indent="-3657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Phân lớp tuyến tính</a:t>
            </a:r>
            <a:endParaRPr/>
          </a:p>
          <a:p>
            <a:pPr indent="-365760" lvl="0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-1|1 - Phân lớp nhị phân.</a:t>
            </a:r>
            <a:endParaRPr/>
          </a:p>
          <a:p>
            <a:pPr indent="-365760" lvl="0" marL="13716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</a:t>
            </a:r>
            <a:endParaRPr/>
          </a:p>
          <a:p>
            <a:pPr indent="0" lvl="0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                                    </a:t>
            </a:r>
            <a:r>
              <a:rPr lang="en-US"/>
              <a:t>                     </a:t>
            </a:r>
            <a:endParaRPr/>
          </a:p>
        </p:txBody>
      </p:sp>
      <p:pic>
        <p:nvPicPr>
          <p:cNvPr descr="{&quot;backgroundColor&quot;:&quot;#ffffff&quot;,&quot;backgroundColorModified&quot;:false,&quot;font&quot;:{&quot;size&quot;:18,&quot;color&quot;:&quot;#666666&quot;,&quot;family&quot;:&quot;Arial&quot;},&quot;type&quot;:&quot;$&quot;,&quot;code&quot;:&quot;$h_{\\theta}:R^{d+1}\\to\\,Y$&quot;,&quot;id&quot;:&quot;20&quot;,&quot;aid&quot;:null,&quot;ts&quot;:1633857319208,&quot;cs&quot;:&quot;8JP8UWBOUVe2YQQPm8DvKg==&quot;,&quot;size&quot;:{&quot;width&quot;:177.66666666666663,&quot;height&quot;:28.5}}" id="194" name="Google Shape;1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5873" y="2240875"/>
            <a:ext cx="1692275" cy="271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type&quot;:&quot;$&quot;,&quot;code&quot;:&quot;$h_{\\theta}$&quot;,&quot;backgroundColorModified&quot;:false,&quot;id&quot;:&quot;20&quot;,&quot;font&quot;:{&quot;family&quot;:&quot;Arial&quot;,&quot;size&quot;:18,&quot;color&quot;:&quot;#666666&quot;},&quot;ts&quot;:1633858065590,&quot;cs&quot;:&quot;ksIEcMUuQCHiLcCikK6pBQ==&quot;,&quot;size&quot;:{&quot;width&quot;:24.166666666666668,&quot;height&quot;:24}}" id="195" name="Google Shape;19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312" y="2797750"/>
            <a:ext cx="230188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type&quot;:&quot;$&quot;,&quot;code&quot;:&quot;$h_{\\theta}$&quot;,&quot;backgroundColorModified&quot;:false,&quot;id&quot;:&quot;20&quot;,&quot;font&quot;:{&quot;family&quot;:&quot;Arial&quot;,&quot;size&quot;:18,&quot;color&quot;:&quot;#666666&quot;},&quot;ts&quot;:1633858065590,&quot;cs&quot;:&quot;ksIEcMUuQCHiLcCikK6pBQ==&quot;,&quot;size&quot;:{&quot;width&quot;:24.166666666666668,&quot;height&quot;:24}}" id="196" name="Google Shape;19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0337" y="3244350"/>
            <a:ext cx="230188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y\\,\\in\\left\\{0,\\,1,2,3,4,...\\right\\}$&quot;,&quot;backgroundColor&quot;:&quot;#ffffff&quot;,&quot;type&quot;:&quot;$&quot;,&quot;font&quot;:{&quot;color&quot;:&quot;#666666&quot;,&quot;family&quot;:&quot;Arial&quot;,&quot;size&quot;:18},&quot;backgroundColorModified&quot;:false,&quot;id&quot;:&quot;17&quot;,&quot;aid&quot;:null,&quot;ts&quot;:1627113043345,&quot;cs&quot;:&quot;DyiBiGpRTqcZAoCSXVoQyQ==&quot;,&quot;size&quot;:{&quot;width&quot;:253.59999999999994,&quot;height&quot;:28.600000000000012}}" id="197" name="Google Shape;19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5145" y="6150954"/>
            <a:ext cx="2415540" cy="272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425202" y="1001025"/>
            <a:ext cx="80670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397600" y="2090625"/>
            <a:ext cx="8122200" cy="4269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Thuật toán perceptron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Thuật toán phân lớp đơn giản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Thiết kế cho bài toán phân lớp nhị phân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Nền tảng cho neural networks và deep learning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NN phổ biến những năm 1990, nhưng sau đó không còn phổ biến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Bây giờ </a:t>
            </a:r>
            <a:r>
              <a:rPr lang="en-US"/>
              <a:t>Neural</a:t>
            </a:r>
            <a:r>
              <a:rPr lang="en-US"/>
              <a:t> Network</a:t>
            </a:r>
            <a:r>
              <a:rPr lang="en-US"/>
              <a:t> quay trở lại: biến thể D</a:t>
            </a:r>
            <a:r>
              <a:rPr lang="en-US"/>
              <a:t>eep learning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Thuật toán perceptron 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Tìm hàm      tuyến tính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Tìm một ranh giới </a:t>
            </a:r>
            <a:r>
              <a:rPr lang="en-US">
                <a:solidFill>
                  <a:srgbClr val="FF00FF"/>
                </a:solidFill>
              </a:rPr>
              <a:t>siêu phẳng</a:t>
            </a:r>
            <a:r>
              <a:rPr lang="en-US"/>
              <a:t> cho bài toán phân lớp nhị phân</a:t>
            </a:r>
            <a:endParaRPr/>
          </a:p>
        </p:txBody>
      </p:sp>
      <p:pic>
        <p:nvPicPr>
          <p:cNvPr descr="{&quot;aid&quot;:null,&quot;backgroundColor&quot;:&quot;#ffffff&quot;,&quot;type&quot;:&quot;$&quot;,&quot;code&quot;:&quot;$h_{\\theta}$&quot;,&quot;backgroundColorModified&quot;:false,&quot;id&quot;:&quot;20&quot;,&quot;font&quot;:{&quot;family&quot;:&quot;Arial&quot;,&quot;size&quot;:18,&quot;color&quot;:&quot;#666666&quot;},&quot;ts&quot;:1633858065590,&quot;cs&quot;:&quot;ksIEcMUuQCHiLcCikK6pBQ==&quot;,&quot;size&quot;:{&quot;width&quot;:24.166666666666668,&quot;height&quot;:24}}"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6587" y="5246750"/>
            <a:ext cx="230188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</a:t>
            </a:r>
            <a:endParaRPr/>
          </a:p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425202" y="2185425"/>
            <a:ext cx="80853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Dữ liệu cho Perceptron</a:t>
            </a:r>
            <a:endParaRPr/>
          </a:p>
          <a:p>
            <a:pPr indent="-365760" lvl="1" marL="914400" rtl="0" algn="l">
              <a:spcBef>
                <a:spcPts val="0"/>
              </a:spcBef>
              <a:spcAft>
                <a:spcPts val="0"/>
              </a:spcAft>
              <a:buSzPts val="2160"/>
              <a:buChar char="-"/>
            </a:pPr>
            <a:r>
              <a:rPr lang="en-US"/>
              <a:t>Cần “</a:t>
            </a:r>
            <a:r>
              <a:rPr lang="en-US">
                <a:solidFill>
                  <a:srgbClr val="FF00FF"/>
                </a:solidFill>
              </a:rPr>
              <a:t>linearly separable</a:t>
            </a:r>
            <a:r>
              <a:rPr lang="en-US"/>
              <a:t>”- dữ liệu hai lớp phân chia hoàn toàn bằng một siêu phẳng.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250" y="3926200"/>
            <a:ext cx="3369750" cy="17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4250" y="3926212"/>
            <a:ext cx="3098350" cy="171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675" y="5908775"/>
            <a:ext cx="670199" cy="53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25063" y="5826100"/>
            <a:ext cx="738124" cy="6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1"/>
          <p:cNvSpPr txBox="1"/>
          <p:nvPr>
            <p:ph type="title"/>
          </p:nvPr>
        </p:nvSpPr>
        <p:spPr>
          <a:xfrm>
            <a:off x="425200" y="1001025"/>
            <a:ext cx="5213700" cy="741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 </a:t>
            </a:r>
            <a:endParaRPr/>
          </a:p>
        </p:txBody>
      </p:sp>
      <p:sp>
        <p:nvSpPr>
          <p:cNvPr id="223" name="Google Shape;223;p31"/>
          <p:cNvSpPr txBox="1"/>
          <p:nvPr>
            <p:ph idx="1" type="body"/>
          </p:nvPr>
        </p:nvSpPr>
        <p:spPr>
          <a:xfrm>
            <a:off x="458250" y="1851925"/>
            <a:ext cx="8227500" cy="478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Trường hợp đặc biệt khi d = 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Tham số và dữ liệu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Hàm giả thuyết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24" name="Google Shape;22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125" y="2427900"/>
            <a:ext cx="3369750" cy="176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\\theta=\\,\\begin{pmatrix}\n{\\theta_{0}}\\\\\n{\\theta_{1}}\\\\\n{\\theta_{2}}\\\\\n\\end{pmatrix}$&quot;,&quot;aid&quot;:null,&quot;type&quot;:&quot;$&quot;,&quot;font&quot;:{&quot;color&quot;:&quot;#666666&quot;,&quot;family&quot;:&quot;Arial&quot;,&quot;size&quot;:18},&quot;backgroundColorModified&quot;:false,&quot;id&quot;:&quot;24&quot;,&quot;ts&quot;:1633862673737,&quot;cs&quot;:&quot;QdUHjJReTWcckl8j+bRZmw==&quot;,&quot;size&quot;:{&quot;width&quot;:120.16666666666667,&quot;height&quot;:107}}" id="225" name="Google Shape;22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5477" y="4580794"/>
            <a:ext cx="1144588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backgroundColor&quot;:&quot;#ffffff&quot;,&quot;code&quot;:&quot;$\\bar{x}=\\,\\begin{pmatrix}\n{1}\\\\\n{x_{1}}\\\\\n{x_{2}}\\\\\n\\end{pmatrix}$&quot;,&quot;font&quot;:{&quot;size&quot;:18,&quot;family&quot;:&quot;Arial&quot;,&quot;color&quot;:&quot;#666666&quot;},&quot;id&quot;:&quot;24&quot;,&quot;type&quot;:&quot;$&quot;,&quot;ts&quot;:1633862784061,&quot;cs&quot;:&quot;A51pvCJKMCqwkGLFm+KmGA==&quot;,&quot;size&quot;:{&quot;width&quot;:126,&quot;height&quot;:107}}" id="226" name="Google Shape;226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1002" y="4580811"/>
            <a:ext cx="120015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size&quot;:18,&quot;color&quot;:&quot;#666666&quot;},&quot;backgroundColorModified&quot;:false,&quot;backgroundColor&quot;:&quot;#ffffff&quot;,&quot;id&quot;:&quot;24&quot;,&quot;aid&quot;:null,&quot;type&quot;:&quot;$&quot;,&quot;code&quot;:&quot;$\\alpha\\,$&quot;,&quot;ts&quot;:1633863308988,&quot;cs&quot;:&quot;kViE2Op20Z04SVpDdR2Wiw==&quot;,&quot;size&quot;:{&quot;width&quot;:16.166666666666668,&quot;height&quot;:12.833333333333334}}" id="227" name="Google Shape;227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71402" y="5029274"/>
            <a:ext cx="153988" cy="122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666666&quot;,&quot;size&quot;:18},&quot;id&quot;:&quot;18&quot;,&quot;backgroundColorModified&quot;:false,&quot;backgroundColor&quot;:&quot;#ffffff&quot;,&quot;aid&quot;:null,&quot;type&quot;:&quot;lalign*&quot;,&quot;code&quot;:&quot;\\begin{lalign*}\n&amp;{h_{\\theta}\\left(\\bar{x}\\right)=\\theta_{0}+\\theta_{1}x_{1}+\\theta_{2}x_{2}=\\theta^{T}\\bar{x}=\\begin{cases}\n{\\geqslant0}&amp;{\\times}\\\\\n{&lt;0}&amp;{o}\\\\\n\\end{cases}}\\\\\n\\end{lalign*}&quot;,&quot;ts&quot;:1633865265371,&quot;cs&quot;:&quot;YM9dpgxr5Fao4CvnT2xgfw==&quot;,&quot;size&quot;:{&quot;width&quot;:530,&quot;height&quot;:67.5}}" id="228" name="Google Shape;228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66645" y="5855386"/>
            <a:ext cx="5048250" cy="642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425200" y="1001025"/>
            <a:ext cx="5213700" cy="58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 </a:t>
            </a:r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458250" y="1851925"/>
            <a:ext cx="8227500" cy="478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Clr>
                <a:srgbClr val="FF00FF"/>
              </a:buClr>
              <a:buSzPts val="2160"/>
              <a:buChar char="•"/>
            </a:pPr>
            <a:r>
              <a:rPr lang="en-US">
                <a:solidFill>
                  <a:srgbClr val="FF00FF"/>
                </a:solidFill>
              </a:rPr>
              <a:t>Cập nhật tham số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Mỗi điểm sai thực hiện cập nhật (                )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descr="{&quot;type&quot;:&quot;$&quot;,&quot;aid&quot;:null,&quot;backgroundColorModified&quot;:false,&quot;id&quot;:&quot;24&quot;,&quot;code&quot;:&quot;$\\theta=\\,\\begin{pmatrix}\n{0}\\\\\n{1}\\\\\n{0.5}\\\\\n\\end{pmatrix}$&quot;,&quot;font&quot;:{&quot;family&quot;:&quot;Arial&quot;,&quot;color&quot;:&quot;#666666&quot;,&quot;size&quot;:18},&quot;backgroundColor&quot;:&quot;#ffffff&quot;,&quot;ts&quot;:1633867430542,&quot;cs&quot;:&quot;EL+xGV5TFcnTsiit+ysOfw==&quot;,&quot;size&quot;:{&quot;width&quot;:131.66666666666666,&quot;height&quot;:107}}" id="236" name="Google Shape;23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6552" y="1988227"/>
            <a:ext cx="125412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backgroundColor&quot;:&quot;#ffffff&quot;,&quot;code&quot;:&quot;$\\bar{x}=\\,\\begin{pmatrix}\n{1}\\\\\n{x_{1}}\\\\\n{x_{2}}\\\\\n\\end{pmatrix}$&quot;,&quot;font&quot;:{&quot;size&quot;:18,&quot;family&quot;:&quot;Arial&quot;,&quot;color&quot;:&quot;#666666&quot;},&quot;id&quot;:&quot;24&quot;,&quot;type&quot;:&quot;$&quot;,&quot;ts&quot;:1633862784061,&quot;cs&quot;:&quot;A51pvCJKMCqwkGLFm+KmGA==&quot;,&quot;size&quot;:{&quot;width&quot;:126,&quot;height&quot;:107}}" id="237" name="Google Shape;23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3877" y="1988236"/>
            <a:ext cx="120015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4450" y="1943725"/>
            <a:ext cx="3587875" cy="218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type&quot;:&quot;lalign*&quot;,&quot;backgroundColorModified&quot;:false,&quot;code&quot;:&quot;\\begin{lalign*}\n&amp;{h_{\\theta}\\left(\\bar{x}\\right)=1.x_{1}+0.5x_{2}}\\\\\n&amp;{x_{2}\\geqslant -2x_{1}}\\\\\n\\end{lalign*}&quot;,&quot;id&quot;:&quot;18&quot;,&quot;font&quot;:{&quot;size&quot;:18,&quot;family&quot;:&quot;Arial&quot;,&quot;color&quot;:&quot;#666666&quot;},&quot;ts&quot;:1633867582855,&quot;cs&quot;:&quot;OXnDOM5fiJLohtPhdCZ0jQ==&quot;,&quot;size&quot;:{&quot;width&quot;:246.59999999999994,&quot;height&quot;:62}}" id="239" name="Google Shape;23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9929" y="3410211"/>
            <a:ext cx="234886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\\begin{lalign*}\n&amp;{\\theta_{i}=\\theta_{i}+\\alpha.d.x_{i}}\\\\\n\\end{lalign*}&quot;,&quot;type&quot;:&quot;lalign*&quot;,&quot;id&quot;:&quot;18&quot;,&quot;aid&quot;:null,&quot;backgroundColorModified&quot;:false,&quot;font&quot;:{&quot;family&quot;:&quot;Arial&quot;,&quot;size&quot;:18,&quot;color&quot;:&quot;#666666&quot;},&quot;ts&quot;:1633867756192,&quot;cs&quot;:&quot;hxiUxeB2XRlMoXefuRmjgQ==&quot;,&quot;size&quot;:{&quot;width&quot;:193.6666666666667,&quot;height&quot;:24.333333333333332}}" id="240" name="Google Shape;24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8304" y="4701849"/>
            <a:ext cx="1844675" cy="2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2"/>
          <p:cNvSpPr txBox="1"/>
          <p:nvPr/>
        </p:nvSpPr>
        <p:spPr>
          <a:xfrm>
            <a:off x="3954775" y="3545475"/>
            <a:ext cx="6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 = -1</a:t>
            </a:r>
            <a:endParaRPr/>
          </a:p>
        </p:txBody>
      </p:sp>
      <p:pic>
        <p:nvPicPr>
          <p:cNvPr descr="{&quot;type&quot;:&quot;lalign*&quot;,&quot;font&quot;:{&quot;color&quot;:&quot;#666666&quot;,&quot;family&quot;:&quot;Arial&quot;,&quot;size&quot;:18},&quot;aid&quot;:null,&quot;backgroundColor&quot;:&quot;#ffffff&quot;,&quot;backgroundColorModified&quot;:false,&quot;id&quot;:&quot;18&quot;,&quot;code&quot;:&quot;\\begin{lalign*}\n&amp;{\\theta_{0}=\\theta_{0}+\\alpha.d.x_{0}}\\\\\n&amp;{\\theta_{1}=\\theta_{1}+\\alpha.d.x_{1}}\\\\\n&amp;{\\theta_{2}=\\theta_{2}+\\alpha.d.x_{2}}\\\\\n\\end{lalign*}&quot;,&quot;ts&quot;:1633867970971,&quot;cs&quot;:&quot;eeAq7DQZhcSvwXPapdDKpw==&quot;,&quot;size&quot;:{&quot;width&quot;:203.16666666666663,&quot;height&quot;:97.50000000000007}}" id="242" name="Google Shape;242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47810" y="5625424"/>
            <a:ext cx="1935163" cy="9286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aid&quot;:null,&quot;type&quot;:&quot;$$&quot;,&quot;backgroundColorModified&quot;:null,&quot;id&quot;:&quot;6&quot;,&quot;code&quot;:&quot;$$\\alpha\\,=0.2$$&quot;,&quot;font&quot;:{&quot;family&quot;:&quot;Arial&quot;,&quot;size&quot;:18,&quot;color&quot;:&quot;#666666&quot;},&quot;ts&quot;:1633868012655,&quot;cs&quot;:&quot;5lrmlajBnvVwEqizAOLECQ==&quot;,&quot;size&quot;:{&quot;width&quot;:93.83333333333333,&quot;height&quot;:19.5}}" id="243" name="Google Shape;243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21956" y="5219244"/>
            <a:ext cx="893763" cy="185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family&quot;:&quot;Arial&quot;,&quot;color&quot;:&quot;#666666&quot;,&quot;size&quot;:18},&quot;backgroundColor&quot;:&quot;#ffffff&quot;,&quot;type&quot;:&quot;$&quot;,&quot;id&quot;:&quot;24&quot;,&quot;aid&quot;:null,&quot;code&quot;:&quot;$\\theta=\\,\\begin{pmatrix}\n{-0.2}\\\\\n{0.6}\\\\\n{0.9}\\\\\n\\end{pmatrix}$&quot;,&quot;ts&quot;:1633868248271,&quot;cs&quot;:&quot;m5ySg3ApwSsL9Tx2UiuTuQ==&quot;,&quot;size&quot;:{&quot;width&quot;:153.5,&quot;height&quot;:107.00000000000007}}" id="244" name="Google Shape;244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12415" y="5640509"/>
            <a:ext cx="1462088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18&quot;,&quot;font&quot;:{&quot;size&quot;:18,&quot;color&quot;:&quot;#666666&quot;,&quot;family&quot;:&quot;Arial&quot;},&quot;backgroundColorModified&quot;:false,&quot;aid&quot;:null,&quot;type&quot;:&quot;lalign*&quot;,&quot;code&quot;:&quot;\\begin{lalign*}\n&amp;{h_{\\theta}\\left(\\bar{x}\\right)=-0.2+0.6x_{1}+0.9x_{2}}\\\\\n&amp;{x_{2}\\geqslant \\,-\\frac{2}{3}x_{1}+\\frac{2}{9}}\\\\\n\\end{lalign*}&quot;,&quot;ts&quot;:1633868389815,&quot;cs&quot;:&quot;zTgevuPTvumE7AjPLvkF1w==&quot;,&quot;size&quot;:{&quot;width&quot;:353,&quot;height&quot;:94.33333333333341}}" id="245" name="Google Shape;245;p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03953" y="5700824"/>
            <a:ext cx="3362325" cy="8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425200" y="1001025"/>
            <a:ext cx="5213700" cy="741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 </a:t>
            </a:r>
            <a:endParaRPr/>
          </a:p>
        </p:txBody>
      </p:sp>
      <p:sp>
        <p:nvSpPr>
          <p:cNvPr id="252" name="Google Shape;252;p33"/>
          <p:cNvSpPr txBox="1"/>
          <p:nvPr>
            <p:ph idx="1" type="body"/>
          </p:nvPr>
        </p:nvSpPr>
        <p:spPr>
          <a:xfrm>
            <a:off x="458250" y="1851925"/>
            <a:ext cx="8227500" cy="478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Trường hợp </a:t>
            </a:r>
            <a:r>
              <a:rPr lang="en-US"/>
              <a:t>tổng quát</a:t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Các tham số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Hàm giả thuyết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descr="{&quot;type&quot;:&quot;$$&quot;,&quot;aid&quot;:null,&quot;backgroundColorModified&quot;:false,&quot;code&quot;:&quot;$$\\left(x^{\\left(i\\right)},y^{\\left(i\\right)}\\right),\\,x^{\\left(i\\right)}=\\left(x_{1}^{\\left(i\\right)},....,x_{d}^{\\left(i\\right)}\\right)\\in R^{d},y^{\\left(i\\right)}=\\left\\{-1,1\\right\\}$$&quot;,&quot;backgroundColor&quot;:&quot;#ffffff&quot;,&quot;id&quot;:&quot;34&quot;,&quot;font&quot;:{&quot;family&quot;:&quot;Arial&quot;,&quot;size&quot;:18,&quot;color&quot;:&quot;#666666&quot;},&quot;ts&quot;:1633869111687,&quot;cs&quot;:&quot;Z3UyldtionI/yHgVNubeuw==&quot;,&quot;size&quot;:{&quot;width&quot;:646,&quot;height&quot;:51}}" id="253" name="Google Shape;25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425" y="2536690"/>
            <a:ext cx="61531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\\theta=\\,\\begin{pmatrix}\n{\\theta_{0}}\\\\\n{\\theta_{1}}\\\\\n{\\vdots}\\\\\n{\\theta_{d}}\\\\\n\\end{pmatrix}$&quot;,&quot;backgroundColorModified&quot;:false,&quot;backgroundColor&quot;:&quot;#ffffff&quot;,&quot;font&quot;:{&quot;size&quot;:18,&quot;color&quot;:&quot;#666666&quot;,&quot;family&quot;:&quot;Arial&quot;},&quot;id&quot;:&quot;24&quot;,&quot;aid&quot;:null,&quot;type&quot;:&quot;$&quot;,&quot;ts&quot;:1633869298908,&quot;cs&quot;:&quot;gMogF8MQkg468JyLwOc1LA==&quot;,&quot;size&quot;:{&quot;width&quot;:120.5,&quot;height&quot;:162}}" id="254" name="Google Shape;25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3231" y="3498244"/>
            <a:ext cx="1147763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code&quot;:&quot;$\\bar{x}=\\,\\begin{pmatrix}\n{1}\\\\\n{x_{1}}\\\\\n{\\vdots}\\\\\n{x_{d}}\\\\\n\\end{pmatrix}$&quot;,&quot;backgroundColor&quot;:&quot;#ffffff&quot;,&quot;type&quot;:&quot;$&quot;,&quot;font&quot;:{&quot;family&quot;:&quot;Arial&quot;,&quot;color&quot;:&quot;#666666&quot;,&quot;size&quot;:18},&quot;id&quot;:&quot;24&quot;,&quot;aid&quot;:null,&quot;ts&quot;:1633869334431,&quot;cs&quot;:&quot;zWe9nO7D/Gqv/Wn8l3kWRg==&quot;,&quot;size&quot;:{&quot;width&quot;:126.33333333333333,&quot;height&quot;:162}}" id="255" name="Google Shape;25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59008" y="3472448"/>
            <a:ext cx="120332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size&quot;:18,&quot;color&quot;:&quot;#666666&quot;},&quot;backgroundColorModified&quot;:false,&quot;backgroundColor&quot;:&quot;#ffffff&quot;,&quot;id&quot;:&quot;24&quot;,&quot;aid&quot;:null,&quot;type&quot;:&quot;$&quot;,&quot;code&quot;:&quot;$\\alpha\\,$&quot;,&quot;ts&quot;:1633863308988,&quot;cs&quot;:&quot;kViE2Op20Z04SVpDdR2Wiw==&quot;,&quot;size&quot;:{&quot;width&quot;:16.166666666666668,&quot;height&quot;:12.833333333333334}}" id="256" name="Google Shape;256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50952" y="4182861"/>
            <a:ext cx="153988" cy="122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family&quot;:&quot;Arial&quot;,&quot;size&quot;:18},&quot;id&quot;:&quot;7&quot;,&quot;aid&quot;:null,&quot;backgroundColor&quot;:&quot;#ffffff&quot;,&quot;backgroundColorModified&quot;:false,&quot;type&quot;:&quot;lalign*&quot;,&quot;code&quot;:&quot;\\begin{lalign*}\n&amp;{h_{\\theta}\\left(\\bar{x}\\right)=\\theta_{0}+\\theta_{1}x_{1}+...+\\theta_{d}x_{d}=\\theta^{T}\\bar{x}\\,=sign\\left(\\theta^{T}\\bar{x}\\,\\right)}\\\\\n\\end{lalign*}&quot;,&quot;ts&quot;:1633879403218,&quot;cs&quot;:&quot;uZNuyn0G3Sc49mMBu7ThZg==&quot;,&quot;size&quot;:{&quot;width&quot;:595.5,&quot;height&quot;:35}}" id="257" name="Google Shape;257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38163" y="5849414"/>
            <a:ext cx="5672138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type="title"/>
          </p:nvPr>
        </p:nvSpPr>
        <p:spPr>
          <a:xfrm>
            <a:off x="425200" y="1001025"/>
            <a:ext cx="5213700" cy="741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 </a:t>
            </a:r>
            <a:endParaRPr/>
          </a:p>
        </p:txBody>
      </p:sp>
      <p:pic>
        <p:nvPicPr>
          <p:cNvPr id="264" name="Google Shape;2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200" y="2260175"/>
            <a:ext cx="8047598" cy="41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4"/>
          <p:cNvSpPr txBox="1"/>
          <p:nvPr/>
        </p:nvSpPr>
        <p:spPr>
          <a:xfrm>
            <a:off x="548200" y="1780350"/>
            <a:ext cx="6325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60"/>
              <a:buChar char="•"/>
            </a:pPr>
            <a:r>
              <a:rPr lang="en-US" sz="1800">
                <a:solidFill>
                  <a:schemeClr val="dk1"/>
                </a:solidFill>
              </a:rPr>
              <a:t>Tương quan mạng nơron sinh học và perceptron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 </a:t>
            </a:r>
            <a:endParaRPr/>
          </a:p>
        </p:txBody>
      </p:sp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425202" y="2185425"/>
            <a:ext cx="82479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Điểm bất kỳ         nếu phân loại lỗi thì 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Hàm đếm số lượng điểm phân loại lỗi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3060" lvl="0" marL="914400" rtl="0" algn="l">
              <a:spcBef>
                <a:spcPts val="600"/>
              </a:spcBef>
              <a:spcAft>
                <a:spcPts val="0"/>
              </a:spcAft>
              <a:buSzPts val="1960"/>
              <a:buChar char="•"/>
            </a:pPr>
            <a:r>
              <a:rPr lang="en-US" sz="1600"/>
              <a:t>Mong muốn </a:t>
            </a:r>
            <a:endParaRPr sz="1600"/>
          </a:p>
          <a:p>
            <a:pPr indent="-353060" lvl="0" marL="914400" rtl="0" algn="l">
              <a:spcBef>
                <a:spcPts val="0"/>
              </a:spcBef>
              <a:spcAft>
                <a:spcPts val="0"/>
              </a:spcAft>
              <a:buSzPts val="1960"/>
              <a:buChar char="•"/>
            </a:pPr>
            <a:r>
              <a:rPr lang="en-US" sz="1600"/>
              <a:t>Hàm rời rạc ⇒ khó tối ưu</a:t>
            </a:r>
            <a:endParaRPr sz="1600"/>
          </a:p>
          <a:p>
            <a:pPr indent="-3657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2160"/>
              <a:buChar char="•"/>
            </a:pPr>
            <a:r>
              <a:rPr lang="en-US" sz="1600">
                <a:solidFill>
                  <a:srgbClr val="FF00FF"/>
                </a:solidFill>
              </a:rPr>
              <a:t>Hàm mất mát mới </a:t>
            </a:r>
            <a:endParaRPr sz="1600">
              <a:solidFill>
                <a:srgbClr val="FF00FF"/>
              </a:solidFill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600"/>
              <a:t> </a:t>
            </a:r>
            <a:endParaRPr/>
          </a:p>
          <a:p>
            <a:pPr indent="-353060" lvl="0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60"/>
              <a:buChar char="•"/>
            </a:pPr>
            <a:r>
              <a:rPr lang="en-US"/>
              <a:t> </a:t>
            </a:r>
            <a:r>
              <a:rPr lang="en-US" sz="1600"/>
              <a:t>Hàm tốt hơn ví trừng phạt nặng hơn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code&quot;:&quot;$$x^{\\left(i\\right)}$$&quot;,&quot;backgroundColor&quot;:&quot;#ffffff&quot;,&quot;type&quot;:&quot;$$&quot;,&quot;aid&quot;:null,&quot;font&quot;:{&quot;size&quot;:18,&quot;color&quot;:&quot;#666666&quot;,&quot;family&quot;:&quot;Arial&quot;},&quot;backgroundColorModified&quot;:false,&quot;id&quot;:&quot;34&quot;,&quot;ts&quot;:1633870957411,&quot;cs&quot;:&quot;cnODJIYOS7tf+q6HcJzz1g==&quot;,&quot;size&quot;:{&quot;width&quot;:35.666666666666664,&quot;height&quot;:27}}" id="273" name="Google Shape;2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048" y="2355902"/>
            <a:ext cx="3397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lalign*&quot;,&quot;id&quot;:&quot;7&quot;,&quot;aid&quot;:null,&quot;backgroundColorModified&quot;:false,&quot;font&quot;:{&quot;family&quot;:&quot;Arial&quot;,&quot;color&quot;:&quot;#000000&quot;,&quot;size&quot;:18},&quot;backgroundColor&quot;:&quot;#ffffff&quot;,&quot;code&quot;:&quot;\\begin{lalign*}\n&amp;{sign\\left(\\theta^{T}\\bar{x}\\,\\right)\\neq y^{\\left(i\\right)}}\\\\\n\\end{lalign*}&quot;,&quot;ts&quot;:1633879553066,&quot;cs&quot;:&quot;jeb6meVZtNDbRV+exU9yvA==&quot;,&quot;size&quot;:{&quot;width&quot;:198.83333333333334,&quot;height&quot;:36.5}}" id="274" name="Google Shape;27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1780" y="2319106"/>
            <a:ext cx="1893888" cy="347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align*&quot;,&quot;code&quot;:&quot;\\begin{align*}\n{J_{1}\\left(\\theta\\right)\\,}&amp;={\\,\\sum_{x^{\\left(i\\right)}\\in M}^{}\\left(-y^{\\left(i\\right)}sign(\\theta^{T}\\bar{x\\,}^{\\left(i\\right)})\\right)}\t\n\\end{align*}&quot;,&quot;backgroundColor&quot;:&quot;#ffffff&quot;,&quot;aid&quot;:null,&quot;font&quot;:{&quot;size&quot;:16,&quot;family&quot;:&quot;Arial&quot;,&quot;color&quot;:null},&quot;id&quot;:&quot;3&quot;,&quot;backgroundColorModified&quot;:false,&quot;ts&quot;:1633879572303,&quot;cs&quot;:&quot;jZou1l0PK8mXSzXh8jD5zQ==&quot;,&quot;size&quot;:{&quot;width&quot;:365.3333333333333,&quot;height&quot;:59.666666666666664}}" id="275" name="Google Shape;27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94325" y="3048459"/>
            <a:ext cx="3479800" cy="56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code&quot;:&quot;\\begin{align*}\n{J_{1}\\left(\\theta\\right)\\,}&amp;={\\,0}\t\n\\end{align*}&quot;,&quot;backgroundColor&quot;:&quot;#ffffff&quot;,&quot;font&quot;:{&quot;color&quot;:null,&quot;size&quot;:16,&quot;family&quot;:&quot;Arial&quot;},&quot;id&quot;:&quot;3&quot;,&quot;type&quot;:&quot;align*&quot;,&quot;ts&quot;:1633871630729,&quot;cs&quot;:&quot;FkeC522hccWXYdqfKuWdFw==&quot;,&quot;size&quot;:{&quot;width&quot;:107,&quot;height&quot;:25.166666666666668}}" id="276" name="Google Shape;276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9764" y="3719618"/>
            <a:ext cx="1019175" cy="239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id&quot;:&quot;3&quot;,&quot;font&quot;:{&quot;family&quot;:&quot;Arial&quot;,&quot;color&quot;:null,&quot;size&quot;:16},&quot;backgroundColor&quot;:&quot;#ffffff&quot;,&quot;type&quot;:&quot;align*&quot;,&quot;code&quot;:&quot;\\begin{align*}\n{J\\left(\\theta\\right)\\,}&amp;={\\,\\sum_{x^{\\left(i\\right)}\\in M}^{}\\left(-y^{\\left(i\\right)}\\theta^{T}\\bar{x\\,}^{\\left(i\\right)}\\right)}\t\n\\end{align*}&quot;,&quot;ts&quot;:1633871750626,&quot;cs&quot;:&quot;7XoLG5uLUs86BmVC8i1xUw==&quot;,&quot;size&quot;:{&quot;width&quot;:290.5,&quot;height&quot;:59.5}}" id="277" name="Google Shape;277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88343" y="4728293"/>
            <a:ext cx="2767013" cy="566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 </a:t>
            </a:r>
            <a:endParaRPr/>
          </a:p>
        </p:txBody>
      </p:sp>
      <p:sp>
        <p:nvSpPr>
          <p:cNvPr id="284" name="Google Shape;284;p36"/>
          <p:cNvSpPr txBox="1"/>
          <p:nvPr>
            <p:ph idx="1" type="body"/>
          </p:nvPr>
        </p:nvSpPr>
        <p:spPr>
          <a:xfrm>
            <a:off x="425202" y="2185425"/>
            <a:ext cx="82479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Tối ưu hàm mất mát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>
                <a:solidFill>
                  <a:srgbClr val="FF00FF"/>
                </a:solidFill>
              </a:rPr>
              <a:t>SGD</a:t>
            </a:r>
            <a:r>
              <a:rPr lang="en-US"/>
              <a:t>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5760" lvl="0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Cập nhật </a:t>
            </a:r>
            <a:endParaRPr/>
          </a:p>
          <a:p>
            <a:pPr indent="-36576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>
                <a:solidFill>
                  <a:srgbClr val="FF00FF"/>
                </a:solidFill>
              </a:rPr>
              <a:t>Perceptron chọn</a:t>
            </a:r>
            <a:r>
              <a:rPr lang="en-US"/>
              <a:t> 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backgroundColorModified&quot;:false,&quot;id&quot;:&quot;3&quot;,&quot;font&quot;:{&quot;family&quot;:&quot;Arial&quot;,&quot;color&quot;:null,&quot;size&quot;:16},&quot;backgroundColor&quot;:&quot;#ffffff&quot;,&quot;type&quot;:&quot;align*&quot;,&quot;code&quot;:&quot;\\begin{align*}\n{J\\left(\\theta\\right)\\,}&amp;={\\,\\sum_{x^{\\left(i\\right)}\\in M}^{}\\left(-y^{\\left(i\\right)}\\theta^{T}\\bar{x\\,}^{\\left(i\\right)}\\right)}\t\n\\end{align*}&quot;,&quot;ts&quot;:1633871750626,&quot;cs&quot;:&quot;7XoLG5uLUs86BmVC8i1xUw==&quot;,&quot;size&quot;:{&quot;width&quot;:290.5,&quot;height&quot;:59.5}}" id="285" name="Google Shape;2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9643" y="2746693"/>
            <a:ext cx="2767013" cy="566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size&quot;:16,&quot;color&quot;:null,&quot;family&quot;:&quot;Arial&quot;},&quot;code&quot;:&quot;\\begin{align*}\n{J\\left(\\theta,x_{\\,}^{\\left(i\\right)},y^{\\left(i\\right)}\\right)}&amp;={-y^{\\left(i\\right)}\\theta^{T}\\bar{x}^{\\left(i\\right)}}\\\\\n{\\diff{J\\left(\\theta,x_{\\,}^{\\left(i\\right)},y^{\\left(i\\right)}\\right)}{\\theta_{j}}}&amp;={\\,-y^{\\left(i\\right)}\\bar{x}_{j}^{\\left(i\\right)}}\t\n\\end{align*}&quot;,&quot;backgroundColor&quot;:&quot;#ffffff&quot;,&quot;id&quot;:&quot;5&quot;,&quot;type&quot;:&quot;align*&quot;,&quot;backgroundColorModified&quot;:false,&quot;ts&quot;:1633872734138,&quot;cs&quot;:&quot;3hb/TdCXgY/KrDFliJ3x6Q==&quot;,&quot;size&quot;:{&quot;width&quot;:308.00000000000006,&quot;height&quot;:119.75}}" id="286" name="Google Shape;28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1287" y="3705925"/>
            <a:ext cx="2933700" cy="11406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\\begin{lalign*}\n&amp;{\\theta_{j}=\\theta_{j}+\\alpha.y^{\\left(i\\right)}x_{j}^{\\left(i\\right)}}\\\\\n\\end{lalign*}&quot;,&quot;type&quot;:&quot;lalign*&quot;,&quot;backgroundColorModified&quot;:false,&quot;backgroundColor&quot;:&quot;#ffffff&quot;,&quot;aid&quot;:null,&quot;id&quot;:&quot;18&quot;,&quot;font&quot;:{&quot;size&quot;:18,&quot;family&quot;:&quot;Arial&quot;,&quot;color&quot;:&quot;#666666&quot;},&quot;ts&quot;:1633873022594,&quot;cs&quot;:&quot;3ysUDz+aFGzMlwFzuCu66w==&quot;,&quot;size&quot;:{&quot;width&quot;:221.39999999999998,&quot;height&quot;:42.20000000000003}}" id="287" name="Google Shape;28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3707" y="5019874"/>
            <a:ext cx="2108835" cy="401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18,&quot;family&quot;:&quot;Arial&quot;,&quot;color&quot;:&quot;#666666&quot;},&quot;backgroundColorModified&quot;:null,&quot;code&quot;:&quot;$$\\alpha \\,=\\,1$$&quot;,&quot;type&quot;:&quot;$$&quot;,&quot;backgroundColor&quot;:&quot;#ffffff&quot;,&quot;aid&quot;:null,&quot;id&quot;:&quot;8&quot;,&quot;ts&quot;:1633873141511,&quot;cs&quot;:&quot;tte7julpDHfolr9ABgPv0w==&quot;,&quot;size&quot;:{&quot;width&quot;:76.16666666666667,&quot;height&quot;:19.166666666666668}}" id="288" name="Google Shape;288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18550" y="5502075"/>
            <a:ext cx="725488" cy="182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18&quot;,&quot;backgroundColorModified&quot;:false,&quot;font&quot;:{&quot;color&quot;:&quot;#666666&quot;,&quot;size&quot;:18,&quot;family&quot;:&quot;Arial&quot;},&quot;aid&quot;:null,&quot;code&quot;:&quot;\\begin{lalign*}\n&amp;{\\theta_{j}=\\theta_{j}+y^{\\left(i\\right)}x_{j}^{\\left(i\\right)}}\\\\\n\\end{lalign*}&quot;,&quot;type&quot;:&quot;lalign*&quot;,&quot;ts&quot;:1633873199166,&quot;cs&quot;:&quot;lTbCkOBdrdi2a3mtaXL8Aw==&quot;,&quot;size&quot;:{&quot;width&quot;:190.66666666666666,&quot;height&quot;:42.166666666666664}}" id="289" name="Google Shape;289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66081" y="5857149"/>
            <a:ext cx="1816100" cy="401638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 </a:t>
            </a:r>
            <a:endParaRPr/>
          </a:p>
        </p:txBody>
      </p:sp>
      <p:sp>
        <p:nvSpPr>
          <p:cNvPr id="296" name="Google Shape;296;p37"/>
          <p:cNvSpPr txBox="1"/>
          <p:nvPr>
            <p:ph idx="1" type="body"/>
          </p:nvPr>
        </p:nvSpPr>
        <p:spPr>
          <a:xfrm>
            <a:off x="710250" y="2185425"/>
            <a:ext cx="8207100" cy="407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>
                <a:solidFill>
                  <a:srgbClr val="FF00FF"/>
                </a:solidFill>
              </a:rPr>
              <a:t>Input</a:t>
            </a:r>
            <a:r>
              <a:rPr lang="en-US"/>
              <a:t>: các cặp dữ liệu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>
                <a:solidFill>
                  <a:srgbClr val="FF00FF"/>
                </a:solidFill>
              </a:rPr>
              <a:t>Output:</a:t>
            </a:r>
            <a:r>
              <a:rPr lang="en-US"/>
              <a:t> Hệ số của phương trình siêu phẳng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Bước 1: tại điểm t = 0, chọn ngẫu nhiên một </a:t>
            </a:r>
            <a:r>
              <a:rPr lang="en-US"/>
              <a:t>vectơ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Bước 2: tại điểm t nếu không có điểm nào phân lớp bị lỗi thì dừng thuật toán </a:t>
            </a:r>
            <a:endParaRPr/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Bước 3: giả sử         là một điểm phân lớp bị lỗi thì (                                )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endParaRPr/>
          </a:p>
          <a:p>
            <a:pPr indent="-365760" lvl="0" marL="457200" rtl="0" algn="l"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 Bước 4, thay đổi t = t +1 rồi quay lại bước 2</a:t>
            </a:r>
            <a:endParaRPr/>
          </a:p>
        </p:txBody>
      </p:sp>
      <p:pic>
        <p:nvPicPr>
          <p:cNvPr descr="{&quot;type&quot;:&quot;$$&quot;,&quot;aid&quot;:null,&quot;code&quot;:&quot;$$\\left(x^{\\left(1\\right)},y^{\\left(1\\right)}\\right),....,\\left(x^{\\left(n\\right)},y^{\\left(n\\right)}\\right)$$&quot;,&quot;backgroundColor&quot;:&quot;#ffffff&quot;,&quot;backgroundColorModified&quot;:false,&quot;id&quot;:&quot;34&quot;,&quot;font&quot;:{&quot;family&quot;:&quot;Arial&quot;,&quot;size&quot;:18,&quot;color&quot;:&quot;#666666&quot;},&quot;ts&quot;:1633873639152,&quot;cs&quot;:&quot;W5J71pkd37uaqIXYeEHwSw==&quot;,&quot;size&quot;:{&quot;width&quot;:328.5,&quot;height&quot;:50.75}}" id="297" name="Google Shape;29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4212" y="2271865"/>
            <a:ext cx="3128963" cy="483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left(\\theta_{0},\\theta_{1},...,\\theta_{d}\\right)$$&quot;,&quot;font&quot;:{&quot;size&quot;:18,&quot;family&quot;:&quot;Arial&quot;,&quot;color&quot;:&quot;#666666&quot;},&quot;aid&quot;:null,&quot;backgroundColor&quot;:&quot;#ffffff&quot;,&quot;id&quot;:&quot;34&quot;,&quot;backgroundColorModified&quot;:false,&quot;type&quot;:&quot;$$&quot;,&quot;ts&quot;:1633873738090,&quot;cs&quot;:&quot;zSlndIE00kPhDbWh7PFGkQ==&quot;,&quot;size&quot;:{&quot;width&quot;:165.83333333333334,&quot;height&quot;:28.333333333333332}}" id="298" name="Google Shape;29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2455" y="2800902"/>
            <a:ext cx="1579563" cy="26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left(\\theta_{0},\\theta_{1},...,\\theta_{d}\\right)$$&quot;,&quot;font&quot;:{&quot;size&quot;:18,&quot;family&quot;:&quot;Arial&quot;,&quot;color&quot;:&quot;#666666&quot;},&quot;aid&quot;:null,&quot;backgroundColor&quot;:&quot;#ffffff&quot;,&quot;id&quot;:&quot;34&quot;,&quot;backgroundColorModified&quot;:false,&quot;type&quot;:&quot;$$&quot;,&quot;ts&quot;:1633873738090,&quot;cs&quot;:&quot;zSlndIE00kPhDbWh7PFGkQ==&quot;,&quot;size&quot;:{&quot;width&quot;:165.83333333333334,&quot;height&quot;:28.333333333333332}}" id="299" name="Google Shape;29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7980" y="3209002"/>
            <a:ext cx="1579563" cy="26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9&quot;,&quot;backgroundColorModified&quot;:null,&quot;code&quot;:&quot;$$x^{\\left(i\\right)}$$&quot;,&quot;type&quot;:&quot;$$&quot;,&quot;backgroundColor&quot;:&quot;#ffffff&quot;,&quot;aid&quot;:null,&quot;font&quot;:{&quot;size&quot;:18,&quot;family&quot;:&quot;Arial&quot;,&quot;color&quot;:&quot;#666666&quot;},&quot;ts&quot;:1633873939157,&quot;cs&quot;:&quot;JXkvBNDAKHc+V+97xoMqrw==&quot;,&quot;size&quot;:{&quot;width&quot;:35.666666666666664,&quot;height&quot;:27}}" id="300" name="Google Shape;300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8275" y="4378700"/>
            <a:ext cx="3397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18&quot;,&quot;backgroundColorModified&quot;:false,&quot;font&quot;:{&quot;color&quot;:&quot;#666666&quot;,&quot;size&quot;:18,&quot;family&quot;:&quot;Arial&quot;},&quot;aid&quot;:null,&quot;code&quot;:&quot;\\begin{lalign*}\n&amp;{\\theta_{j}=\\theta_{j}+y^{\\left(i\\right)}x_{j}^{\\left(i\\right)}}\\\\\n\\end{lalign*}&quot;,&quot;type&quot;:&quot;lalign*&quot;,&quot;ts&quot;:1633873199166,&quot;cs&quot;:&quot;lTbCkOBdrdi2a3mtaXL8Aw==&quot;,&quot;size&quot;:{&quot;width&quot;:190.66666666666666,&quot;height&quot;:42.166666666666664}}" id="301" name="Google Shape;301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30481" y="4861299"/>
            <a:ext cx="1816100" cy="401638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descr="{&quot;code&quot;:&quot;\\begin{lalign*}\n&amp;{y^{\\left(i\\right)}h_{\\theta}\\left(\\bar{x}\\,^{\\left(i\\right)}\\right)\\,\\leqslant0}\\\\\n\\end{lalign*}&quot;,&quot;id&quot;:&quot;18&quot;,&quot;font&quot;:{&quot;family&quot;:&quot;Arial&quot;,&quot;color&quot;:&quot;#666666&quot;,&quot;size&quot;:18},&quot;type&quot;:&quot;lalign*&quot;,&quot;backgroundColor&quot;:&quot;#ffffff&quot;,&quot;backgroundColorModified&quot;:false,&quot;aid&quot;:null,&quot;ts&quot;:1633874362306,&quot;cs&quot;:&quot;wccGNiT57/V1Ny2t0x6Xsg==&quot;,&quot;size&quot;:{&quot;width&quot;:197.5,&quot;height&quot;:50.666666666666664}}" id="302" name="Google Shape;302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88839" y="4378699"/>
            <a:ext cx="1881188" cy="482600"/>
          </a:xfrm>
          <a:prstGeom prst="rect">
            <a:avLst/>
          </a:prstGeom>
          <a:noFill/>
          <a:ln cap="flat" cmpd="sng" w="9525">
            <a:solidFill>
              <a:srgbClr val="FF00FF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Perceptron: </a:t>
            </a:r>
            <a:r>
              <a:rPr lang="en-US"/>
              <a:t>ví dụ (1)</a:t>
            </a:r>
            <a:endParaRPr/>
          </a:p>
        </p:txBody>
      </p:sp>
      <p:sp>
        <p:nvSpPr>
          <p:cNvPr id="309" name="Google Shape;309;p38"/>
          <p:cNvSpPr txBox="1"/>
          <p:nvPr>
            <p:ph idx="1" type="body"/>
          </p:nvPr>
        </p:nvSpPr>
        <p:spPr>
          <a:xfrm>
            <a:off x="425200" y="2185425"/>
            <a:ext cx="8227500" cy="43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2150" y="2862477"/>
            <a:ext cx="4120976" cy="358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200" y="2742750"/>
            <a:ext cx="3512949" cy="34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Perceptron: </a:t>
            </a:r>
            <a:r>
              <a:rPr lang="en-US"/>
              <a:t>ví dụ (2)</a:t>
            </a:r>
            <a:r>
              <a:rPr lang="en-US"/>
              <a:t> </a:t>
            </a:r>
            <a:endParaRPr/>
          </a:p>
        </p:txBody>
      </p:sp>
      <p:sp>
        <p:nvSpPr>
          <p:cNvPr id="318" name="Google Shape;318;p39"/>
          <p:cNvSpPr txBox="1"/>
          <p:nvPr>
            <p:ph idx="1" type="body"/>
          </p:nvPr>
        </p:nvSpPr>
        <p:spPr>
          <a:xfrm>
            <a:off x="425200" y="2185425"/>
            <a:ext cx="8227500" cy="43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275" y="2417975"/>
            <a:ext cx="3668476" cy="386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6250" y="2287575"/>
            <a:ext cx="4007874" cy="410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Perceptron: </a:t>
            </a:r>
            <a:r>
              <a:rPr lang="en-US"/>
              <a:t>ví dụ (3)</a:t>
            </a:r>
            <a:endParaRPr/>
          </a:p>
        </p:txBody>
      </p:sp>
      <p:sp>
        <p:nvSpPr>
          <p:cNvPr id="327" name="Google Shape;327;p40"/>
          <p:cNvSpPr txBox="1"/>
          <p:nvPr>
            <p:ph idx="1" type="body"/>
          </p:nvPr>
        </p:nvSpPr>
        <p:spPr>
          <a:xfrm>
            <a:off x="425200" y="2185425"/>
            <a:ext cx="8227500" cy="43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650" y="2474525"/>
            <a:ext cx="3583650" cy="396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7575" y="2372425"/>
            <a:ext cx="4290700" cy="39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1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Perceptron: </a:t>
            </a:r>
            <a:r>
              <a:rPr lang="en-US"/>
              <a:t>ví dụ (4)</a:t>
            </a:r>
            <a:endParaRPr/>
          </a:p>
        </p:txBody>
      </p:sp>
      <p:sp>
        <p:nvSpPr>
          <p:cNvPr id="336" name="Google Shape;336;p41"/>
          <p:cNvSpPr txBox="1"/>
          <p:nvPr>
            <p:ph idx="1" type="body"/>
          </p:nvPr>
        </p:nvSpPr>
        <p:spPr>
          <a:xfrm>
            <a:off x="425200" y="2185425"/>
            <a:ext cx="8227500" cy="43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225" y="2367325"/>
            <a:ext cx="3719875" cy="373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3150" y="2488700"/>
            <a:ext cx="3542224" cy="361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Perceptron: </a:t>
            </a:r>
            <a:r>
              <a:rPr lang="en-US"/>
              <a:t>ví dụ (5)</a:t>
            </a:r>
            <a:endParaRPr/>
          </a:p>
        </p:txBody>
      </p:sp>
      <p:sp>
        <p:nvSpPr>
          <p:cNvPr id="345" name="Google Shape;345;p42"/>
          <p:cNvSpPr txBox="1"/>
          <p:nvPr>
            <p:ph idx="1" type="body"/>
          </p:nvPr>
        </p:nvSpPr>
        <p:spPr>
          <a:xfrm>
            <a:off x="425200" y="2185425"/>
            <a:ext cx="8227500" cy="43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6" name="Google Shape;34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825" y="2287575"/>
            <a:ext cx="3740875" cy="38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6275" y="2185425"/>
            <a:ext cx="3579375" cy="399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>
            <p:ph type="title"/>
          </p:nvPr>
        </p:nvSpPr>
        <p:spPr>
          <a:xfrm>
            <a:off x="425196" y="1001018"/>
            <a:ext cx="5213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</a:t>
            </a:r>
            <a:endParaRPr/>
          </a:p>
        </p:txBody>
      </p:sp>
      <p:sp>
        <p:nvSpPr>
          <p:cNvPr id="354" name="Google Shape;354;p43"/>
          <p:cNvSpPr txBox="1"/>
          <p:nvPr>
            <p:ph idx="1" type="body"/>
          </p:nvPr>
        </p:nvSpPr>
        <p:spPr>
          <a:xfrm>
            <a:off x="425196" y="2185417"/>
            <a:ext cx="5213700" cy="396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25" y="2185425"/>
            <a:ext cx="3802350" cy="407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4175" y="2831500"/>
            <a:ext cx="4487224" cy="34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 txBox="1"/>
          <p:nvPr>
            <p:ph type="title"/>
          </p:nvPr>
        </p:nvSpPr>
        <p:spPr>
          <a:xfrm>
            <a:off x="425201" y="1001025"/>
            <a:ext cx="7040700" cy="108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 	 	 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		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363" name="Google Shape;363;p44"/>
          <p:cNvSpPr txBox="1"/>
          <p:nvPr>
            <p:ph idx="1" type="body"/>
          </p:nvPr>
        </p:nvSpPr>
        <p:spPr>
          <a:xfrm>
            <a:off x="425200" y="2185425"/>
            <a:ext cx="8227500" cy="438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175" y="2308100"/>
            <a:ext cx="7644474" cy="402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